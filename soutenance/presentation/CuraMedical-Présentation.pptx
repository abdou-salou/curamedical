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2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-logo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306502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0" y="502920"/>
            <a:ext cx="47823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 dirty="0">
                <a:solidFill>
                  <a:srgbClr val="64748B"/>
                </a:solidFill>
                <a:latin typeface="Segoe UI"/>
              </a:rPr>
              <a:t>PROJET EN SYSTÈMES INFORMATIQUES — 2026</a:t>
            </a:r>
          </a:p>
          <a:p>
            <a:pPr algn="r"/>
            <a:r>
              <a:rPr sz="1100" b="0" dirty="0">
                <a:solidFill>
                  <a:srgbClr val="94A3B8"/>
                </a:solidFill>
                <a:latin typeface="Segoe UI"/>
              </a:rPr>
              <a:t>ISGA </a:t>
            </a:r>
            <a:r>
              <a:rPr lang="fr-FR" sz="1100" dirty="0">
                <a:solidFill>
                  <a:srgbClr val="94A3B8"/>
                </a:solidFill>
                <a:latin typeface="Segoe UI"/>
              </a:rPr>
              <a:t>- </a:t>
            </a:r>
            <a:r>
              <a:rPr sz="1100" b="0" dirty="0">
                <a:solidFill>
                  <a:srgbClr val="94A3B8"/>
                </a:solidFill>
                <a:latin typeface="Segoe UI"/>
              </a:rPr>
              <a:t>2CI-ISI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50" b="1" dirty="0">
                <a:solidFill>
                  <a:srgbClr val="2A9B69"/>
                </a:solidFill>
                <a:latin typeface="Segoe UI"/>
              </a:rPr>
              <a:t>SANTÉ NUMÉRIQUE </a:t>
            </a:r>
            <a:r>
              <a:rPr lang="fr-FR" sz="1250" b="1" dirty="0">
                <a:solidFill>
                  <a:srgbClr val="2A9B69"/>
                </a:solidFill>
                <a:latin typeface="Segoe UI"/>
              </a:rPr>
              <a:t>-</a:t>
            </a:r>
            <a:r>
              <a:rPr sz="1250" b="1" dirty="0">
                <a:solidFill>
                  <a:srgbClr val="2A9B69"/>
                </a:solidFill>
                <a:latin typeface="Segoe UI"/>
              </a:rPr>
              <a:t> AIDE AU DIAGNOSTIC PAR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7057" y="2339625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200" b="1" dirty="0" err="1">
                <a:solidFill>
                  <a:srgbClr val="0F172A"/>
                </a:solidFill>
                <a:latin typeface="Segoe UI"/>
              </a:rPr>
              <a:t>Cura</a:t>
            </a:r>
            <a:r>
              <a:rPr sz="7200" b="1" dirty="0" err="1">
                <a:solidFill>
                  <a:srgbClr val="2A9B69"/>
                </a:solidFill>
                <a:latin typeface="Segoe UI"/>
              </a:rPr>
              <a:t>Medical</a:t>
            </a:r>
            <a:endParaRPr sz="7200" b="1" dirty="0">
              <a:solidFill>
                <a:srgbClr val="2A9B69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1314" y="383343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dirty="0">
                <a:solidFill>
                  <a:srgbClr val="64748B"/>
                </a:solidFill>
                <a:latin typeface="Segoe UI"/>
              </a:rPr>
              <a:t>Gestion </a:t>
            </a:r>
            <a:r>
              <a:rPr sz="1800" b="0" dirty="0" err="1">
                <a:solidFill>
                  <a:srgbClr val="64748B"/>
                </a:solidFill>
                <a:latin typeface="Segoe UI"/>
              </a:rPr>
              <a:t>intelligente</a:t>
            </a:r>
            <a:r>
              <a:rPr sz="1800" b="0" dirty="0">
                <a:solidFill>
                  <a:srgbClr val="64748B"/>
                </a:solidFill>
                <a:latin typeface="Segoe UI"/>
              </a:rPr>
              <a:t> de cabinet </a:t>
            </a:r>
            <a:r>
              <a:rPr sz="1800" b="0" dirty="0" err="1">
                <a:solidFill>
                  <a:srgbClr val="64748B"/>
                </a:solidFill>
                <a:latin typeface="Segoe UI"/>
              </a:rPr>
              <a:t>médical</a:t>
            </a:r>
            <a:r>
              <a:rPr sz="1800" b="0" dirty="0">
                <a:solidFill>
                  <a:srgbClr val="64748B"/>
                </a:solidFill>
                <a:latin typeface="Segoe UI"/>
              </a:rPr>
              <a:t> : aide au diagnostic par IA, </a:t>
            </a:r>
            <a:r>
              <a:rPr sz="1800" b="0" dirty="0" err="1">
                <a:solidFill>
                  <a:srgbClr val="64748B"/>
                </a:solidFill>
                <a:latin typeface="Segoe UI"/>
              </a:rPr>
              <a:t>téléconsultation</a:t>
            </a:r>
            <a:r>
              <a:rPr sz="1800" b="0" dirty="0">
                <a:solidFill>
                  <a:srgbClr val="64748B"/>
                </a:solidFill>
                <a:latin typeface="Segoe UI"/>
              </a:rPr>
              <a:t> et </a:t>
            </a:r>
            <a:r>
              <a:rPr sz="1800" b="0" dirty="0" err="1">
                <a:solidFill>
                  <a:srgbClr val="64748B"/>
                </a:solidFill>
                <a:latin typeface="Segoe UI"/>
              </a:rPr>
              <a:t>automatisation</a:t>
            </a:r>
            <a:r>
              <a:rPr sz="1800" b="0" dirty="0">
                <a:solidFill>
                  <a:srgbClr val="64748B"/>
                </a:solidFill>
                <a:latin typeface="Segoe UI"/>
              </a:rPr>
              <a:t> du </a:t>
            </a:r>
            <a:r>
              <a:rPr sz="1800" b="0" dirty="0" err="1">
                <a:solidFill>
                  <a:srgbClr val="64748B"/>
                </a:solidFill>
                <a:latin typeface="Segoe UI"/>
              </a:rPr>
              <a:t>parcours</a:t>
            </a:r>
            <a:r>
              <a:rPr sz="1800" b="0" dirty="0">
                <a:solidFill>
                  <a:srgbClr val="64748B"/>
                </a:solidFill>
                <a:latin typeface="Segoe UI"/>
              </a:rPr>
              <a:t> de </a:t>
            </a:r>
            <a:r>
              <a:rPr sz="1800" b="0" dirty="0" err="1">
                <a:solidFill>
                  <a:srgbClr val="64748B"/>
                </a:solidFill>
                <a:latin typeface="Segoe UI"/>
              </a:rPr>
              <a:t>soins</a:t>
            </a:r>
            <a:r>
              <a:rPr sz="1800" b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92040"/>
            <a:ext cx="11091672" cy="1651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5879" y="5143500"/>
            <a:ext cx="274320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fr-FR" sz="1200" b="1" dirty="0">
                <a:solidFill>
                  <a:srgbClr val="2A9B69"/>
                </a:solidFill>
                <a:latin typeface="Segoe UI"/>
              </a:rPr>
              <a:t>PRÉSENTÉ PAR :</a:t>
            </a:r>
          </a:p>
          <a:p>
            <a:pPr algn="l"/>
            <a:r>
              <a:rPr sz="1400" b="1" dirty="0">
                <a:solidFill>
                  <a:srgbClr val="0F172A"/>
                </a:solidFill>
                <a:latin typeface="Segoe UI"/>
              </a:rPr>
              <a:t>Abdou SALOU ABDOU</a:t>
            </a:r>
            <a:endParaRPr lang="fr-FR" sz="1400" b="1" dirty="0">
              <a:solidFill>
                <a:srgbClr val="0F172A"/>
              </a:solidFill>
              <a:latin typeface="Segoe UI"/>
            </a:endParaRPr>
          </a:p>
          <a:p>
            <a:pPr algn="l"/>
            <a:endParaRPr lang="fr-FR" sz="1400" b="1" dirty="0">
              <a:solidFill>
                <a:srgbClr val="0F172A"/>
              </a:solidFill>
              <a:latin typeface="Segoe UI"/>
            </a:endParaRPr>
          </a:p>
          <a:p>
            <a:r>
              <a:rPr lang="fr-FR" sz="1400" b="1" dirty="0">
                <a:solidFill>
                  <a:srgbClr val="0F172A"/>
                </a:solidFill>
                <a:latin typeface="Segoe UI"/>
              </a:rPr>
              <a:t>Nourdine SAWADOGO</a:t>
            </a:r>
          </a:p>
          <a:p>
            <a:endParaRPr lang="fr-FR" sz="1400" b="1" dirty="0">
              <a:solidFill>
                <a:srgbClr val="0F172A"/>
              </a:solidFill>
              <a:latin typeface="Segoe UI"/>
            </a:endParaRPr>
          </a:p>
          <a:p>
            <a:r>
              <a:rPr lang="fr-FR" sz="1400" b="1" dirty="0">
                <a:solidFill>
                  <a:srgbClr val="0F172A"/>
                </a:solidFill>
                <a:latin typeface="Segoe UI"/>
              </a:rPr>
              <a:t>Kamara MACIRE</a:t>
            </a:r>
          </a:p>
          <a:p>
            <a:pPr>
              <a:spcAft>
                <a:spcPts val="300"/>
              </a:spcAft>
            </a:pPr>
            <a:endParaRPr lang="fr-FR" sz="1400" dirty="0"/>
          </a:p>
          <a:p>
            <a:pPr algn="l"/>
            <a:endParaRPr sz="14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3280" y="5015537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endParaRPr sz="14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2160" y="5015537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endParaRPr sz="14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97377" y="5151755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2A9B69"/>
                </a:solidFill>
                <a:latin typeface="Segoe UI"/>
              </a:rPr>
              <a:t>ENCADRÉ PAR</a:t>
            </a:r>
            <a:r>
              <a:rPr lang="fr-FR" sz="1200" b="1" dirty="0">
                <a:solidFill>
                  <a:srgbClr val="2A9B69"/>
                </a:solidFill>
                <a:latin typeface="Segoe UI"/>
              </a:rPr>
              <a:t> :</a:t>
            </a:r>
            <a:endParaRPr sz="1200" b="1" dirty="0">
              <a:solidFill>
                <a:srgbClr val="2A9B69"/>
              </a:solidFill>
              <a:latin typeface="Segoe UI"/>
            </a:endParaRPr>
          </a:p>
          <a:p>
            <a:pPr algn="l"/>
            <a:r>
              <a:rPr sz="1400" b="1" dirty="0">
                <a:solidFill>
                  <a:srgbClr val="0F172A"/>
                </a:solidFill>
                <a:latin typeface="Segoe UI"/>
              </a:rPr>
              <a:t>Dr Soumia CHOKRI</a:t>
            </a:r>
          </a:p>
        </p:txBody>
      </p:sp>
      <p:pic>
        <p:nvPicPr>
          <p:cNvPr id="12" name="Picture 11" descr="00-logo-is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956" y="609014"/>
            <a:ext cx="1632568" cy="15130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6126480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200"/>
              </a:spcAft>
            </a:pPr>
            <a:endParaRPr sz="1000" b="1" dirty="0">
              <a:solidFill>
                <a:srgbClr val="94A3B8"/>
              </a:solidFill>
              <a:latin typeface="Segoe UI"/>
            </a:endParaRPr>
          </a:p>
          <a:p>
            <a:pPr algn="r"/>
            <a:r>
              <a:rPr sz="1300" b="1" dirty="0">
                <a:solidFill>
                  <a:srgbClr val="0F172A"/>
                </a:solidFill>
                <a:latin typeface="Segoe UI"/>
              </a:rPr>
              <a:t>Juin 2026 </a:t>
            </a:r>
            <a:r>
              <a:rPr lang="fr-FR" sz="1300" b="1" dirty="0">
                <a:solidFill>
                  <a:srgbClr val="0F172A"/>
                </a:solidFill>
                <a:latin typeface="Segoe UI"/>
              </a:rPr>
              <a:t>,</a:t>
            </a:r>
            <a:r>
              <a:rPr sz="1300" b="1" dirty="0">
                <a:solidFill>
                  <a:srgbClr val="0F172A"/>
                </a:solidFill>
                <a:latin typeface="Segoe UI"/>
              </a:rPr>
              <a:t> Casablanca, Maroc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B27ED45-B1E6-412A-BEB5-5EE33A9CB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720" y="4769835"/>
            <a:ext cx="2584890" cy="1723260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BFD83211-9287-AA02-74D4-06021C2C2F70}"/>
              </a:ext>
            </a:extLst>
          </p:cNvPr>
          <p:cNvSpPr txBox="1"/>
          <p:nvPr/>
        </p:nvSpPr>
        <p:spPr>
          <a:xfrm>
            <a:off x="6337554" y="5136450"/>
            <a:ext cx="274320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fr-FR" sz="12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JURY </a:t>
            </a:r>
            <a:r>
              <a:rPr lang="fr-F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fr-FR" sz="1200" b="1" dirty="0">
              <a:solidFill>
                <a:srgbClr val="2A9B6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b="1" i="1" dirty="0">
                <a:latin typeface="Segoe UI" panose="020B0502040204020203" pitchFamily="34" charset="0"/>
                <a:cs typeface="Segoe UI" panose="020B0502040204020203" pitchFamily="34" charset="0"/>
              </a:rPr>
              <a:t>Dr Said HARCHI</a:t>
            </a:r>
            <a:endParaRPr lang="fr-FR" sz="1400" b="1" i="1" dirty="0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400" b="1" dirty="0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b="1" i="1" dirty="0">
                <a:latin typeface="Segoe UI" panose="020B0502040204020203" pitchFamily="34" charset="0"/>
                <a:cs typeface="Segoe UI" panose="020B0502040204020203" pitchFamily="34" charset="0"/>
              </a:rPr>
              <a:t>Dr Adama SAMAKE </a:t>
            </a:r>
            <a:endParaRPr lang="fr-FR" sz="1400" b="1" dirty="0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400" b="1" dirty="0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b="1" i="1" dirty="0">
                <a:latin typeface="Segoe UI" panose="020B0502040204020203" pitchFamily="34" charset="0"/>
                <a:cs typeface="Segoe UI" panose="020B0502040204020203" pitchFamily="34" charset="0"/>
              </a:rPr>
              <a:t>Dr </a:t>
            </a:r>
            <a:r>
              <a:rPr lang="en-US" sz="1400" b="1" i="1" dirty="0" err="1">
                <a:latin typeface="Segoe UI" panose="020B0502040204020203" pitchFamily="34" charset="0"/>
                <a:cs typeface="Segoe UI" panose="020B0502040204020203" pitchFamily="34" charset="0"/>
              </a:rPr>
              <a:t>Abdelwhed</a:t>
            </a:r>
            <a:r>
              <a:rPr lang="en-US" sz="1400" b="1" i="1" dirty="0">
                <a:latin typeface="Segoe UI" panose="020B0502040204020203" pitchFamily="34" charset="0"/>
                <a:cs typeface="Segoe UI" panose="020B0502040204020203" pitchFamily="34" charset="0"/>
              </a:rPr>
              <a:t> TRICHA</a:t>
            </a:r>
            <a:endParaRPr lang="fr-FR" sz="1400" b="1" dirty="0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300"/>
              </a:spcAft>
            </a:pPr>
            <a:endParaRPr lang="fr-FR" sz="1400" dirty="0"/>
          </a:p>
          <a:p>
            <a:pPr algn="l"/>
            <a:endParaRPr sz="1400" b="1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832" y="1101852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 dirty="0">
                <a:solidFill>
                  <a:srgbClr val="0F172A"/>
                </a:solidFill>
                <a:latin typeface="Segoe UI"/>
              </a:rPr>
              <a:t>Plan de la </a:t>
            </a:r>
            <a:r>
              <a:rPr sz="3800" b="1" dirty="0" err="1">
                <a:solidFill>
                  <a:srgbClr val="0F172A"/>
                </a:solidFill>
                <a:latin typeface="Segoe UI"/>
              </a:rPr>
              <a:t>présentation</a:t>
            </a:r>
            <a:endParaRPr sz="38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endParaRPr sz="17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505456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/>
              <a:t>Contexte &amp; objectifs</a:t>
            </a:r>
          </a:p>
          <a:p>
            <a:pPr algn="l">
              <a:lnSpc>
                <a:spcPct val="103000"/>
              </a:lnSpc>
            </a:pPr>
            <a:r>
              <a:rPr sz="1150" b="0"/>
              <a:t>Le constat et les objectifs du projet.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2860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2" y="228600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/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2505456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/>
              <a:t>Architecture &amp; conception</a:t>
            </a:r>
          </a:p>
          <a:p>
            <a:pPr algn="l">
              <a:lnSpc>
                <a:spcPct val="103000"/>
              </a:lnSpc>
            </a:pPr>
            <a:r>
              <a:rPr sz="1150" b="0"/>
              <a:t>Stack technique, cas d'usage, modèle de données.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65760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/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877056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 dirty="0" err="1"/>
              <a:t>L'application</a:t>
            </a:r>
            <a:r>
              <a:rPr sz="1600" b="1" dirty="0"/>
              <a:t> par </a:t>
            </a:r>
            <a:r>
              <a:rPr sz="1600" b="1" dirty="0" err="1"/>
              <a:t>rôle</a:t>
            </a:r>
            <a:endParaRPr sz="1600" b="1" dirty="0"/>
          </a:p>
          <a:p>
            <a:pPr algn="l">
              <a:lnSpc>
                <a:spcPct val="103000"/>
              </a:lnSpc>
            </a:pPr>
            <a:r>
              <a:rPr sz="1150" b="0" dirty="0" err="1"/>
              <a:t>Sécurité</a:t>
            </a:r>
            <a:r>
              <a:rPr sz="1150" b="0" dirty="0"/>
              <a:t>, </a:t>
            </a:r>
            <a:r>
              <a:rPr sz="1150" b="0" dirty="0" err="1"/>
              <a:t>secrétaire</a:t>
            </a:r>
            <a:r>
              <a:rPr sz="1150" b="0" dirty="0"/>
              <a:t>, </a:t>
            </a:r>
            <a:r>
              <a:rPr sz="1150" b="0" dirty="0" err="1"/>
              <a:t>médecin</a:t>
            </a:r>
            <a:r>
              <a:rPr sz="1150" b="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6576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365760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/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877056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/>
              <a:t>L'intelligence artificielle</a:t>
            </a:r>
          </a:p>
          <a:p>
            <a:pPr algn="l">
              <a:lnSpc>
                <a:spcPct val="103000"/>
              </a:lnSpc>
            </a:pPr>
            <a:r>
              <a:rPr sz="1150" b="0"/>
              <a:t>Aide au diagnostic et performances du modèle.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502920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/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248656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/>
              <a:t>Services &amp; automatisation</a:t>
            </a:r>
          </a:p>
          <a:p>
            <a:pPr algn="l">
              <a:lnSpc>
                <a:spcPct val="103000"/>
              </a:lnSpc>
            </a:pPr>
            <a:r>
              <a:rPr sz="1150" b="0"/>
              <a:t>Ordonnances, téléconsultation, chatbot, WhatsApp.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50292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502920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/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5248656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/>
              <a:t>Espace patient &amp; conclusion</a:t>
            </a:r>
          </a:p>
          <a:p>
            <a:pPr algn="l">
              <a:lnSpc>
                <a:spcPct val="103000"/>
              </a:lnSpc>
            </a:pPr>
            <a:r>
              <a:rPr sz="1150" b="0"/>
              <a:t>Portail patient, bilan et perspectives.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8680" y="65196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01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SOMMAIRE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E24A7656-575A-4F88-B2E6-CAD743DB9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CONTEXTE ·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La gestion d'un cabinet médical reste freinée par des outils éparpillés et l'absence d'aide à la décision.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48640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Le temps administratif </a:t>
            </a:r>
            <a:r>
              <a:rPr sz="1600" b="0">
                <a:solidFill>
                  <a:srgbClr val="64748B"/>
                </a:solidFill>
                <a:latin typeface="Segoe UI"/>
              </a:rPr>
              <a:t>empiète sur le temps médical.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Risques d'erreurs et d'oublis : </a:t>
            </a:r>
            <a:r>
              <a:rPr sz="1600" b="0">
                <a:solidFill>
                  <a:srgbClr val="64748B"/>
                </a:solidFill>
                <a:latin typeface="Segoe UI"/>
              </a:rPr>
              <a:t>diagnostics, suivis, rendez-vous.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Aucun outil d'aide à la décision </a:t>
            </a:r>
            <a:r>
              <a:rPr sz="1600" b="0">
                <a:solidFill>
                  <a:srgbClr val="64748B"/>
                </a:solidFill>
                <a:latin typeface="Segoe UI"/>
              </a:rPr>
              <a:t>diagnostique au quotidien.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Communication patient limitée : </a:t>
            </a:r>
            <a:r>
              <a:rPr sz="1600" b="0">
                <a:solidFill>
                  <a:srgbClr val="64748B"/>
                </a:solidFill>
                <a:latin typeface="Segoe UI"/>
              </a:rPr>
              <a:t>rappels, transmission des documents.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02 / 18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E01FF4E-1919-4AD6-9BDC-29D938680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1 · CONTEXTE &amp; OBJECTIFS</a:t>
            </a:r>
          </a:p>
        </p:txBody>
      </p:sp>
      <p:sp>
        <p:nvSpPr>
          <p:cNvPr id="16" name="Oval 15"/>
          <p:cNvSpPr/>
          <p:nvPr/>
        </p:nvSpPr>
        <p:spPr>
          <a:xfrm>
            <a:off x="7297200" y="2113200"/>
            <a:ext cx="3981600" cy="3981600"/>
          </a:xfrm>
          <a:prstGeom prst="ellipse">
            <a:avLst/>
          </a:prstGeom>
          <a:solidFill>
            <a:srgbClr val="D9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3-constat-illustration.png"/>
          <p:cNvPicPr>
            <a:picLocks noChangeAspect="1"/>
          </p:cNvPicPr>
          <p:nvPr/>
        </p:nvPicPr>
        <p:blipFill>
          <a:blip r:embed="rId3"/>
          <a:srcRect l="21875" r="21875"/>
          <a:stretch>
            <a:fillRect/>
          </a:stretch>
        </p:blipFill>
        <p:spPr>
          <a:xfrm>
            <a:off x="7380000" y="2196000"/>
            <a:ext cx="3816000" cy="3816000"/>
          </a:xfrm>
          <a:prstGeom prst="ellipse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OBJECTIFS · 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Notre réponse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Une seule plateforme pour réunir gestion, diagnostic assisté, sécurité et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1129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305409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9B69"/>
                </a:solidFill>
                <a:latin typeface="Segoe UI"/>
              </a:rPr>
              <a:t>Centraliser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Toute la gestion réunie sur une seule plateforme web.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5" y="2286000"/>
            <a:ext cx="351129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5" y="2487168"/>
            <a:ext cx="305409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9B69"/>
                </a:solidFill>
                <a:latin typeface="Segoe UI"/>
              </a:rPr>
              <a:t>Assister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Aide au diagnostic par intelligence artificielle.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1" y="2286000"/>
            <a:ext cx="351129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1" y="2487168"/>
            <a:ext cx="305409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9B69"/>
                </a:solidFill>
                <a:latin typeface="Segoe UI"/>
              </a:rPr>
              <a:t>Sécuriser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Accès cloisonné selon 4 rôles distincts.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79392"/>
            <a:ext cx="351129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480559"/>
            <a:ext cx="305409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9B69"/>
                </a:solidFill>
                <a:latin typeface="Segoe UI"/>
              </a:rPr>
              <a:t>Digitaliser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Ordonnances et comptes-rendus PDF automatiques.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5" y="4279392"/>
            <a:ext cx="351129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5" y="4480559"/>
            <a:ext cx="305409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9B69"/>
                </a:solidFill>
                <a:latin typeface="Segoe UI"/>
              </a:rPr>
              <a:t>Faciliter l'accès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Téléconsultation et espace patient en ligne.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4279392"/>
            <a:ext cx="351129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1" y="4480559"/>
            <a:ext cx="305409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9B69"/>
                </a:solidFill>
                <a:latin typeface="Segoe UI"/>
              </a:rPr>
              <a:t>Automatiser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Rappels et envois via WhatsApp et e-mail.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00-icone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03 / 18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E130F57-57DD-4E42-84AC-128D56B8C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1 · CONTEXTE &amp; OBJECTIFS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CONCEPTION ·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Une architecture hybride et conteneurisée : un backend Django modulaire, un microservice IA Flask et des services d’automatisation.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Frontend </a:t>
            </a:r>
            <a:r>
              <a:rPr sz="1600" b="0">
                <a:solidFill>
                  <a:srgbClr val="64748B"/>
                </a:solidFill>
                <a:latin typeface="Segoe UI"/>
              </a:rPr>
              <a:t>React + Vite + Tailwind CSS.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API </a:t>
            </a:r>
            <a:r>
              <a:rPr sz="1600" b="0">
                <a:solidFill>
                  <a:srgbClr val="64748B"/>
                </a:solidFill>
                <a:latin typeface="Segoe UI"/>
              </a:rPr>
              <a:t>Django + Django REST Framework (REST sécurisée par JWT).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Microservice IA </a:t>
            </a:r>
            <a:r>
              <a:rPr sz="1600" b="0">
                <a:solidFill>
                  <a:srgbClr val="64748B"/>
                </a:solidFill>
                <a:latin typeface="Segoe UI"/>
              </a:rPr>
              <a:t>Flask + Scikit-learn.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Base de données </a:t>
            </a:r>
            <a:r>
              <a:rPr sz="1600" b="0">
                <a:solidFill>
                  <a:srgbClr val="64748B"/>
                </a:solidFill>
                <a:latin typeface="Segoe UI"/>
              </a:rPr>
              <a:t>PostgreSQL.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Orchestration </a:t>
            </a:r>
            <a:r>
              <a:rPr sz="1600" b="0">
                <a:solidFill>
                  <a:srgbClr val="64748B"/>
                </a:solidFill>
                <a:latin typeface="Segoe UI"/>
              </a:rPr>
              <a:t>Docker / Docker Compose.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Intégrations </a:t>
            </a:r>
            <a:r>
              <a:rPr sz="1600" b="0">
                <a:solidFill>
                  <a:srgbClr val="64748B"/>
                </a:solidFill>
                <a:latin typeface="Segoe UI"/>
              </a:rPr>
              <a:t>n8n, Twilio/WhatsApp, Jitsi, Groq (LLM).</a:t>
            </a:r>
          </a:p>
        </p:txBody>
      </p:sp>
      <p:pic>
        <p:nvPicPr>
          <p:cNvPr id="7" name="Picture 6" descr="04-architecture-glob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882203"/>
            <a:ext cx="6150023" cy="4449001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04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6542754-2F77-4160-A65B-48FC5D041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2 · ARCHITECTURE &amp; 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CONCEPTION · ACTEURS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Cas d'utilisation &amp; 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Quatre rôles, des droits strictement cloisonnés.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Administrateur </a:t>
            </a:r>
            <a:r>
              <a:rPr sz="1600" b="0">
                <a:solidFill>
                  <a:srgbClr val="64748B"/>
                </a:solidFill>
                <a:latin typeface="Segoe UI"/>
              </a:rPr>
              <a:t>configuration, utilisateurs, audit.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Secrétaire </a:t>
            </a:r>
            <a:r>
              <a:rPr sz="1600" b="0">
                <a:solidFill>
                  <a:srgbClr val="64748B"/>
                </a:solidFill>
                <a:latin typeface="Segoe UI"/>
              </a:rPr>
              <a:t>patients, rendez-vous, planning.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Médecin </a:t>
            </a:r>
            <a:r>
              <a:rPr sz="1600" b="0">
                <a:solidFill>
                  <a:srgbClr val="64748B"/>
                </a:solidFill>
                <a:latin typeface="Segoe UI"/>
              </a:rPr>
              <a:t>consultations, ordonnances, assistance IA.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Patient </a:t>
            </a:r>
            <a:r>
              <a:rPr sz="1600" b="0">
                <a:solidFill>
                  <a:srgbClr val="64748B"/>
                </a:solidFill>
                <a:latin typeface="Segoe UI"/>
              </a:rPr>
              <a:t>espace personnel, rendez-vous, documents.</a:t>
            </a:r>
          </a:p>
        </p:txBody>
      </p:sp>
      <p:pic>
        <p:nvPicPr>
          <p:cNvPr id="7" name="Picture 6" descr="05-cas-util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466" y="1724660"/>
            <a:ext cx="4782670" cy="4069080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05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DEE9B6C-E45D-4265-8E99-2F1168024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2 · ARCHITECTURE &amp; CONCEPTION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CONCEPTION ·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Modèle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Un modèle de données clair et relationnel.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Entités clés : </a:t>
            </a:r>
            <a:r>
              <a:rPr sz="1600" b="0">
                <a:solidFill>
                  <a:srgbClr val="64748B"/>
                </a:solidFill>
                <a:latin typeface="Segoe UI"/>
              </a:rPr>
              <a:t>Utilisateur, Patient, Rendez-vous, Consultation, Ordonnance.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Un patient </a:t>
            </a:r>
            <a:r>
              <a:rPr sz="1600" b="0">
                <a:solidFill>
                  <a:srgbClr val="64748B"/>
                </a:solidFill>
                <a:latin typeface="Segoe UI"/>
              </a:rPr>
              <a:t>a plusieurs rendez-vous et consultations.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Une consultation </a:t>
            </a:r>
            <a:r>
              <a:rPr sz="1600" b="0">
                <a:solidFill>
                  <a:srgbClr val="64748B"/>
                </a:solidFill>
                <a:latin typeface="Segoe UI"/>
              </a:rPr>
              <a:t>génère une ordonnance et un compte-rendu.</a:t>
            </a:r>
          </a:p>
        </p:txBody>
      </p:sp>
      <p:pic>
        <p:nvPicPr>
          <p:cNvPr id="7" name="Picture 6" descr="06-diagramme-cla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450957"/>
            <a:ext cx="6153912" cy="3956086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06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ACA58B5-00E8-4461-8555-DE5A9D5A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2 · ARCHITECTURE &amp; CONCEPTION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SÉCURITÉ · ACCÈS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Sécurité &amp; contrôle d'accès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Chaque rôle ne voit que ce qui le concerne.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Authentification par JWT </a:t>
            </a:r>
            <a:r>
              <a:rPr sz="1600" b="0">
                <a:solidFill>
                  <a:srgbClr val="64748B"/>
                </a:solidFill>
                <a:latin typeface="Segoe UI"/>
              </a:rPr>
              <a:t>(SimpleJWT).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Permissions par rôle </a:t>
            </a:r>
            <a:r>
              <a:rPr sz="1600" b="0">
                <a:solidFill>
                  <a:srgbClr val="64748B"/>
                </a:solidFill>
                <a:latin typeface="Segoe UI"/>
              </a:rPr>
              <a:t>au niveau de l'API (DRF).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Cloisonnement strict </a:t>
            </a:r>
            <a:r>
              <a:rPr sz="1600" b="0">
                <a:solidFill>
                  <a:srgbClr val="64748B"/>
                </a:solidFill>
                <a:latin typeface="Segoe UI"/>
              </a:rPr>
              <a:t>des données, selon les permissions propres à chaque rôle.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Corbeille et traçabilité </a:t>
            </a:r>
            <a:r>
              <a:rPr sz="1600" b="0">
                <a:solidFill>
                  <a:srgbClr val="64748B"/>
                </a:solidFill>
                <a:latin typeface="Segoe UI"/>
              </a:rPr>
              <a:t>des 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07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CE61D86-40BF-40A2-957A-B32DF0D3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3 · L'APPLICATION PAR RÔLE</a:t>
            </a:r>
          </a:p>
        </p:txBody>
      </p:sp>
      <p:pic>
        <p:nvPicPr>
          <p:cNvPr id="14" name="Picture 13" descr="07-securite-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2971800" cy="199373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6" name="Picture 15" descr="08-connexion-securis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19" y="2056764"/>
            <a:ext cx="6158011" cy="3463881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5779008" y="5577840"/>
            <a:ext cx="585216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1">
                <a:solidFill>
                  <a:srgbClr val="2A9B69"/>
                </a:solidFill>
                <a:latin typeface="Segoe UI"/>
              </a:rPr>
              <a:t>Porte d’entrée sécurisée  </a:t>
            </a:r>
            <a:r>
              <a:rPr sz="1200">
                <a:solidFill>
                  <a:srgbClr val="64748B"/>
                </a:solidFill>
                <a:latin typeface="Segoe UI"/>
              </a:rPr>
              <a:t>— accès réservé aux professionnels ; les données médicales sensibles sont journalisées.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RÔLE · SECRÉTAIRE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Gestion patients &amp; rendez-vous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Le quotidien de l'accueil, centralisé et fluide.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Dossiers patients </a:t>
            </a:r>
            <a:r>
              <a:rPr sz="1600" b="0">
                <a:solidFill>
                  <a:srgbClr val="64748B"/>
                </a:solidFill>
                <a:latin typeface="Segoe UI"/>
              </a:rPr>
              <a:t>complets, recherche rapide.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Création et suivi </a:t>
            </a:r>
            <a:r>
              <a:rPr sz="1600" b="0">
                <a:solidFill>
                  <a:srgbClr val="64748B"/>
                </a:solidFill>
                <a:latin typeface="Segoe UI"/>
              </a:rPr>
              <a:t>des rendez-vous.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Planning </a:t>
            </a:r>
            <a:r>
              <a:rPr sz="1600" b="0">
                <a:solidFill>
                  <a:srgbClr val="64748B"/>
                </a:solidFill>
                <a:latin typeface="Segoe UI"/>
              </a:rPr>
              <a:t>par jour et par médecin.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Statuts &amp; corbeille </a:t>
            </a:r>
            <a:r>
              <a:rPr sz="1600" b="0">
                <a:solidFill>
                  <a:srgbClr val="64748B"/>
                </a:solidFill>
                <a:latin typeface="Segoe UI"/>
              </a:rPr>
              <a:t>de récupération.</a:t>
            </a:r>
          </a:p>
        </p:txBody>
      </p:sp>
      <p:pic>
        <p:nvPicPr>
          <p:cNvPr id="7" name="Picture 6" descr="08a-secretaire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43669"/>
            <a:ext cx="4292867" cy="2414738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pic>
        <p:nvPicPr>
          <p:cNvPr id="9" name="Picture 8" descr="08b-secretaire-planning-rd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967774"/>
            <a:ext cx="4292867" cy="2414738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0-icone-curamed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08 / 18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D6D1171-FEF4-4095-B904-BBB001465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3 · L'APPLICATION PAR RÔLE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RÔLE · MÉDECIN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Consultations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Une fiche patient complète, au service de la décision clinique.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Fiche patient 360° </a:t>
            </a:r>
            <a:r>
              <a:rPr sz="1600" b="0">
                <a:solidFill>
                  <a:srgbClr val="64748B"/>
                </a:solidFill>
                <a:latin typeface="Segoe UI"/>
              </a:rPr>
              <a:t>: informations, antécédents, historique.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Saisie structurée </a:t>
            </a:r>
            <a:r>
              <a:rPr sz="1600" b="0">
                <a:solidFill>
                  <a:srgbClr val="64748B"/>
                </a:solidFill>
                <a:latin typeface="Segoe UI"/>
              </a:rPr>
              <a:t>de la consultation.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Lien direct </a:t>
            </a:r>
            <a:r>
              <a:rPr sz="1600" b="0">
                <a:solidFill>
                  <a:srgbClr val="64748B"/>
                </a:solidFill>
                <a:latin typeface="Segoe UI"/>
              </a:rPr>
              <a:t>vers l'ordonnance et le compte-rendu.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Suivi de l'évolution </a:t>
            </a:r>
            <a:r>
              <a:rPr sz="1600" b="0">
                <a:solidFill>
                  <a:srgbClr val="64748B"/>
                </a:solidFill>
                <a:latin typeface="Segoe UI"/>
              </a:rPr>
              <a:t>du patient dans le temps.</a:t>
            </a:r>
          </a:p>
        </p:txBody>
      </p:sp>
      <p:pic>
        <p:nvPicPr>
          <p:cNvPr id="7" name="Picture 6" descr="09-medecin-fiche-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223706"/>
            <a:ext cx="5650992" cy="3178683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09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5C0B710-BD80-4F8A-8127-F2FCDB8D5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3 · L'APPLICATION PAR RÔLE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8900FF"/>
                </a:solidFill>
                <a:latin typeface="Segoe UI"/>
              </a:rPr>
              <a:t>INTELLIGENCE ARTIFICIELLE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Segoe UI"/>
              </a:rPr>
              <a:t>Assistance au diagnostic par </a:t>
            </a:r>
            <a:r>
              <a:rPr sz="3800" b="1">
                <a:solidFill>
                  <a:srgbClr val="8900FF"/>
                </a:solidFill>
                <a:latin typeface="Segoe UI"/>
              </a:rPr>
              <a:t>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Segoe UI"/>
              </a:rPr>
              <a:t>Le cœur de CuraMedical : aider le médecin à décider.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7744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8900FF"/>
                </a:solidFill>
                <a:latin typeface="Segoe UI"/>
              </a:rPr>
              <a:t>›  </a:t>
            </a:r>
            <a:r>
              <a:rPr sz="1600" b="1">
                <a:solidFill>
                  <a:srgbClr val="FFFFFF"/>
                </a:solidFill>
                <a:latin typeface="Segoe UI"/>
              </a:rPr>
              <a:t>Le médecin </a:t>
            </a:r>
            <a:r>
              <a:rPr sz="1600" b="0">
                <a:solidFill>
                  <a:srgbClr val="94A3B8"/>
                </a:solidFill>
                <a:latin typeface="Segoe UI"/>
              </a:rPr>
              <a:t>sélectionne les symptômes observés.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8900FF"/>
                </a:solidFill>
                <a:latin typeface="Segoe UI"/>
              </a:rPr>
              <a:t>›  </a:t>
            </a:r>
            <a:r>
              <a:rPr sz="1600" b="1">
                <a:solidFill>
                  <a:srgbClr val="FFFFFF"/>
                </a:solidFill>
                <a:latin typeface="Segoe UI"/>
              </a:rPr>
              <a:t>L'IA propose instantanément </a:t>
            </a:r>
            <a:r>
              <a:rPr sz="1600" b="0">
                <a:solidFill>
                  <a:srgbClr val="94A3B8"/>
                </a:solidFill>
                <a:latin typeface="Segoe UI"/>
              </a:rPr>
              <a:t>les maladies les plus probables.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8900FF"/>
                </a:solidFill>
                <a:latin typeface="Segoe UI"/>
              </a:rPr>
              <a:t>›  </a:t>
            </a:r>
            <a:r>
              <a:rPr sz="1600" b="1">
                <a:solidFill>
                  <a:srgbClr val="FFFFFF"/>
                </a:solidFill>
                <a:latin typeface="Segoe UI"/>
              </a:rPr>
              <a:t>Un appui à la décision </a:t>
            </a:r>
            <a:r>
              <a:rPr sz="1600" b="0">
                <a:solidFill>
                  <a:srgbClr val="94A3B8"/>
                </a:solidFill>
                <a:latin typeface="Segoe UI"/>
              </a:rPr>
              <a:t>: le médecin garde toujours le dernier mot.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24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Segoe UI"/>
              </a:rPr>
              <a:t>10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8B9563D-EA78-4BDE-846A-C0F81762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94A3B8"/>
                </a:solidFill>
                <a:latin typeface="Segoe UI"/>
              </a:rPr>
              <a:t>PARTIE 4 · INTELLIGENCE ARTIFICIELLE</a:t>
            </a:r>
          </a:p>
        </p:txBody>
      </p:sp>
      <p:pic>
        <p:nvPicPr>
          <p:cNvPr id="14" name="Picture 13" descr="10-ia-brain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368248"/>
            <a:ext cx="6227064" cy="49078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8900FF"/>
                </a:solidFill>
                <a:latin typeface="Segoe UI"/>
              </a:rPr>
              <a:t>INTELLIGENCE ARTIFICIELLE · 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Performances du modèle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600" b="1">
                <a:solidFill>
                  <a:srgbClr val="8900FF"/>
                </a:solidFill>
                <a:latin typeface="Segoe UI"/>
              </a:rPr>
              <a:t>77,3</a:t>
            </a:r>
            <a:r>
              <a:rPr sz="4400" b="1">
                <a:solidFill>
                  <a:srgbClr val="8900FF"/>
                </a:solidFill>
                <a:latin typeface="Segoe UI"/>
              </a:rPr>
              <a:t>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5204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de précision sur 1 500 cas de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82880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60" y="2029968"/>
            <a:ext cx="23317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15 000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cas cliniques (entraînement)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82880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2029968"/>
            <a:ext cx="23317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377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symptômes en entrée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47472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3675887"/>
            <a:ext cx="23317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655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maladies possibles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47472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3675887"/>
            <a:ext cx="23317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0F172A"/>
                </a:solidFill>
                <a:latin typeface="Segoe UI"/>
              </a:rPr>
              <a:t>Random Forest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Scikit-learn · 30 arbres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74920"/>
            <a:ext cx="11091672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230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900FF"/>
                </a:solidFill>
                <a:latin typeface="Segoe UI"/>
              </a:rPr>
              <a:t>Mise en perspective : </a:t>
            </a:r>
            <a:r>
              <a:rPr sz="1400" b="0">
                <a:solidFill>
                  <a:srgbClr val="0F172A"/>
                </a:solidFill>
                <a:latin typeface="Segoe UI"/>
              </a:rPr>
              <a:t>655 classes possibles (baseline aléatoire ≈ 0,15 %). Une aide à la décision, jamais un diagnostic automatique.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00-icone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11 / 18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6C8D1D0-0601-478D-ADBD-70929CB40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4 · INTELLIGENCE ARTIFICIELLE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DOCUMENTS MÉDICAUX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Ordonnances &amp;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De la saisie au document professionnel, en un clic.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Saisie structurée </a:t>
            </a:r>
            <a:r>
              <a:rPr sz="1600" b="0">
                <a:solidFill>
                  <a:srgbClr val="64748B"/>
                </a:solidFill>
                <a:latin typeface="Segoe UI"/>
              </a:rPr>
              <a:t>des médicaments et posologies.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Ordonnance PDF </a:t>
            </a:r>
            <a:r>
              <a:rPr sz="1600" b="0">
                <a:solidFill>
                  <a:srgbClr val="64748B"/>
                </a:solidFill>
                <a:latin typeface="Segoe UI"/>
              </a:rPr>
              <a:t>générée automatiquement.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Cachet et signature </a:t>
            </a:r>
            <a:r>
              <a:rPr sz="1600" b="0">
                <a:solidFill>
                  <a:srgbClr val="64748B"/>
                </a:solidFill>
                <a:latin typeface="Segoe UI"/>
              </a:rPr>
              <a:t>du médecin intégrés.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Comptes-rendus </a:t>
            </a:r>
            <a:r>
              <a:rPr sz="1600" b="0">
                <a:solidFill>
                  <a:srgbClr val="64748B"/>
                </a:solidFill>
                <a:latin typeface="Segoe UI"/>
              </a:rPr>
              <a:t>également exportés en PDF.</a:t>
            </a:r>
          </a:p>
        </p:txBody>
      </p:sp>
      <p:pic>
        <p:nvPicPr>
          <p:cNvPr id="7" name="Picture 6" descr="12a-saisie-ordon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861" y="1453896"/>
            <a:ext cx="4576064" cy="2574036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pic>
        <p:nvPicPr>
          <p:cNvPr id="9" name="Picture 8" descr="12b-ordonnance-pdf-gen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383" y="3756005"/>
            <a:ext cx="1821292" cy="2575199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0-icone-curamed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12 / 18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39844E4-B5F5-4A4D-958A-07BD2E2E2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5 · SERVICES &amp; AUTOMATISATION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SERVICES AVANCÉS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Téléconsultation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L'accès aux soins à distance, en visioconférence sécurisée.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Visioconférence intégrée </a:t>
            </a:r>
            <a:r>
              <a:rPr sz="1600" b="0">
                <a:solidFill>
                  <a:srgbClr val="64748B"/>
                </a:solidFill>
                <a:latin typeface="Segoe UI"/>
              </a:rPr>
              <a:t>(Jitsi).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Salle dédiée </a:t>
            </a:r>
            <a:r>
              <a:rPr sz="1600" b="0">
                <a:solidFill>
                  <a:srgbClr val="64748B"/>
                </a:solidFill>
                <a:latin typeface="Segoe UI"/>
              </a:rPr>
              <a:t>par rendez-vous.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Prise de notes en direct </a:t>
            </a:r>
            <a:r>
              <a:rPr sz="1600" b="0">
                <a:solidFill>
                  <a:srgbClr val="64748B"/>
                </a:solidFill>
                <a:latin typeface="Segoe UI"/>
              </a:rPr>
              <a:t>par le médecin.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Accès aux soins à distance </a:t>
            </a:r>
            <a:r>
              <a:rPr sz="1600" b="0">
                <a:solidFill>
                  <a:srgbClr val="64748B"/>
                </a:solidFill>
                <a:latin typeface="Segoe UI"/>
              </a:rPr>
              <a:t>pour le patient.</a:t>
            </a:r>
          </a:p>
        </p:txBody>
      </p:sp>
      <p:pic>
        <p:nvPicPr>
          <p:cNvPr id="7" name="Picture 6" descr="13-teleconsul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16" y="2152396"/>
            <a:ext cx="6314212" cy="3551744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13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B0F4F7D-B05C-48F8-B83C-7E62D4DDE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5 · SERVICES &amp; AUTOMATISATION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SERVICES AVANCÉS ·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Chatbot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Interroger le cabinet en langage naturel.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Questions en français courant </a:t>
            </a:r>
            <a:r>
              <a:rPr sz="1600" b="0">
                <a:solidFill>
                  <a:srgbClr val="64748B"/>
                </a:solidFill>
                <a:latin typeface="Segoe UI"/>
              </a:rPr>
              <a:t>: statistiques, patients, rendez-vous.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Réponses instantanées </a:t>
            </a:r>
            <a:r>
              <a:rPr sz="1600" b="0">
                <a:solidFill>
                  <a:srgbClr val="64748B"/>
                </a:solidFill>
                <a:latin typeface="Segoe UI"/>
              </a:rPr>
              <a:t>: nombre de patients, RDV du jour…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Propulsé par un LLM </a:t>
            </a:r>
            <a:r>
              <a:rPr sz="1600" b="0">
                <a:solidFill>
                  <a:srgbClr val="64748B"/>
                </a:solidFill>
                <a:latin typeface="Segoe UI"/>
              </a:rPr>
              <a:t>(Groq).</a:t>
            </a:r>
          </a:p>
        </p:txBody>
      </p:sp>
      <p:pic>
        <p:nvPicPr>
          <p:cNvPr id="7" name="Picture 6" descr="14-chatbot-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496313"/>
            <a:ext cx="5650992" cy="3178683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14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DD0516E-A55A-409C-BABC-7C7BBED8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5 · SERVICES &amp; AUTOMATISATION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AUTOMATISATION ·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Notifications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Rejoindre le patient là où il est, automatiquement.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 dirty="0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Rappels de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rendez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-vous </a:t>
            </a:r>
            <a:r>
              <a:rPr sz="1600" b="0" dirty="0" err="1">
                <a:solidFill>
                  <a:srgbClr val="64748B"/>
                </a:solidFill>
                <a:latin typeface="Segoe UI"/>
              </a:rPr>
              <a:t>automatiques</a:t>
            </a:r>
            <a:r>
              <a:rPr sz="1600" b="0" dirty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 dirty="0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Envoi des ordonnances </a:t>
            </a:r>
            <a:r>
              <a:rPr sz="1600" b="0" dirty="0" err="1">
                <a:solidFill>
                  <a:srgbClr val="64748B"/>
                </a:solidFill>
                <a:latin typeface="Segoe UI"/>
              </a:rPr>
              <a:t>directement</a:t>
            </a:r>
            <a:r>
              <a:rPr sz="1600" b="0" dirty="0">
                <a:solidFill>
                  <a:srgbClr val="64748B"/>
                </a:solidFill>
                <a:latin typeface="Segoe UI"/>
              </a:rPr>
              <a:t> au patient.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 dirty="0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Orchestration </a:t>
            </a:r>
            <a:r>
              <a:rPr sz="1600" b="0" dirty="0">
                <a:solidFill>
                  <a:srgbClr val="64748B"/>
                </a:solidFill>
                <a:latin typeface="Segoe UI"/>
              </a:rPr>
              <a:t>via workflow n8n + Twilio.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 dirty="0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Moins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d'absences</a:t>
            </a:r>
            <a:r>
              <a:rPr sz="1600" b="0" dirty="0">
                <a:solidFill>
                  <a:srgbClr val="64748B"/>
                </a:solidFill>
                <a:latin typeface="Segoe UI"/>
              </a:rPr>
              <a:t>, Meilleur relation patient.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15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F935D47-6885-40EE-9611-2811B6AEF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5 · SERVICES &amp; AUTOMATISATION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51478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Segoe UI"/>
              </a:rPr>
              <a:t>Workflow n8n réel · rappels &amp; documents envoyés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848" y="1543686"/>
            <a:ext cx="2019905" cy="3902752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10BDDC8-6DE3-4221-87D2-D3251EB14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34" y="1562459"/>
            <a:ext cx="4091014" cy="38839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RÔLE ·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Espace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Le patient, acteur de son propre parcours de soins.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50749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Inscription en ligne </a:t>
            </a:r>
            <a:r>
              <a:rPr sz="1600" b="0">
                <a:solidFill>
                  <a:srgbClr val="64748B"/>
                </a:solidFill>
                <a:latin typeface="Segoe UI"/>
              </a:rPr>
              <a:t>du patient.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Consultation de ses rendez-vous</a:t>
            </a:r>
            <a:r>
              <a:rPr sz="1600" b="0">
                <a:solidFill>
                  <a:srgbClr val="64748B"/>
                </a:solidFill>
                <a:latin typeface="Segoe U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Accès à ses consultations </a:t>
            </a:r>
            <a:r>
              <a:rPr sz="1600" b="0">
                <a:solidFill>
                  <a:srgbClr val="64748B"/>
                </a:solidFill>
                <a:latin typeface="Segoe UI"/>
              </a:rPr>
              <a:t>et ordonnances.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2A9B69"/>
                </a:solidFill>
                <a:latin typeface="Segoe UI"/>
              </a:rPr>
              <a:t>›  </a:t>
            </a:r>
            <a:r>
              <a:rPr sz="1600" b="1">
                <a:solidFill>
                  <a:srgbClr val="0F172A"/>
                </a:solidFill>
                <a:latin typeface="Segoe UI"/>
              </a:rPr>
              <a:t>Gestion de son profil </a:t>
            </a:r>
            <a:r>
              <a:rPr sz="1600" b="0">
                <a:solidFill>
                  <a:srgbClr val="64748B"/>
                </a:solidFill>
                <a:latin typeface="Segoe UI"/>
              </a:rPr>
              <a:t>personnel.</a:t>
            </a:r>
          </a:p>
        </p:txBody>
      </p:sp>
      <p:pic>
        <p:nvPicPr>
          <p:cNvPr id="7" name="Picture 6" descr="16-patient-espace-perso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997855"/>
            <a:ext cx="6199632" cy="3487293"/>
          </a:xfrm>
          <a:prstGeom prst="rect">
            <a:avLst/>
          </a:prstGeom>
          <a:ln w="9525">
            <a:solidFill>
              <a:srgbClr val="E2E8F0"/>
            </a:solidFill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0-icone-cura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16 / 18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B35CD1E-6BA5-42FF-B360-5A2D4BFE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6 · ESPACE PATIENT &amp; CONCLUSION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RETOUR D'EXPÉRIENCE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 dirty="0" err="1">
                <a:solidFill>
                  <a:srgbClr val="0F172A"/>
                </a:solidFill>
                <a:latin typeface="Segoe UI"/>
              </a:rPr>
              <a:t>Difficultés</a:t>
            </a:r>
            <a:r>
              <a:rPr sz="3800" b="1" dirty="0">
                <a:solidFill>
                  <a:srgbClr val="0F172A"/>
                </a:solidFill>
                <a:latin typeface="Segoe UI"/>
              </a:rPr>
              <a:t> techniques </a:t>
            </a:r>
            <a:r>
              <a:rPr sz="3800" b="1" dirty="0" err="1">
                <a:solidFill>
                  <a:srgbClr val="0F172A"/>
                </a:solidFill>
                <a:latin typeface="Segoe UI"/>
              </a:rPr>
              <a:t>rencontrées</a:t>
            </a:r>
            <a:endParaRPr sz="38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Des défis concrets, analysés et résolus.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17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6 · ESPACE PATIENT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200" y="2412000"/>
            <a:ext cx="2736000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7200" y="2520000"/>
            <a:ext cx="237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A9B69"/>
                </a:solidFill>
                <a:latin typeface="Segoe UI"/>
              </a:rPr>
              <a:t>IA médicale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Aligner un dataset anglophone avec une saisie en français.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7200" y="2412000"/>
            <a:ext cx="2736000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7"/>
          <p:cNvSpPr txBox="1"/>
          <p:nvPr/>
        </p:nvSpPr>
        <p:spPr>
          <a:xfrm>
            <a:off x="3607200" y="2520000"/>
            <a:ext cx="237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A9B69"/>
                </a:solidFill>
                <a:latin typeface="Segoe UI"/>
              </a:rPr>
              <a:t>Sécurité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Cloisonner les données par rôle sans bloquer les parcours.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7200" y="3510000"/>
            <a:ext cx="2736000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9"/>
          <p:cNvSpPr txBox="1"/>
          <p:nvPr/>
        </p:nvSpPr>
        <p:spPr>
          <a:xfrm>
            <a:off x="727200" y="3618000"/>
            <a:ext cx="237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A9B69"/>
                </a:solidFill>
                <a:latin typeface="Segoe UI"/>
              </a:rPr>
              <a:t>PDF médicaux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Produire des documents lisibles et réutilisables patient.</a:t>
            </a:r>
          </a:p>
        </p:txBody>
      </p:sp>
      <p:sp>
        <p:nvSpPr>
          <p:cNvPr id="20" name="Rounded Rectangle 10"/>
          <p:cNvSpPr/>
          <p:nvPr/>
        </p:nvSpPr>
        <p:spPr>
          <a:xfrm>
            <a:off x="3427200" y="3510000"/>
            <a:ext cx="2736000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7200" y="3618000"/>
            <a:ext cx="237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A9B69"/>
                </a:solidFill>
                <a:latin typeface="Segoe UI"/>
              </a:rPr>
              <a:t>Automatisation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Découpler les envois via Celery, n8n, Twilio et e-mail.</a:t>
            </a:r>
          </a:p>
        </p:txBody>
      </p:sp>
      <p:sp>
        <p:nvSpPr>
          <p:cNvPr id="21" name="Rounded Rectangle 12"/>
          <p:cNvSpPr/>
          <p:nvPr/>
        </p:nvSpPr>
        <p:spPr>
          <a:xfrm>
            <a:off x="547200" y="4608000"/>
            <a:ext cx="2736000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7200" y="4716000"/>
            <a:ext cx="237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A9B69"/>
                </a:solidFill>
                <a:latin typeface="Segoe UI"/>
              </a:rPr>
              <a:t>Déploiement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Faire tourner plusieurs services conteneurisés ensemble.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7200" y="4608000"/>
            <a:ext cx="2736000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7200" y="4716000"/>
            <a:ext cx="237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A9B69"/>
                </a:solidFill>
                <a:latin typeface="Segoe UI"/>
              </a:rPr>
              <a:t>Expérience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Garder une interface claire malgré 4 profils utilisateurs.</a:t>
            </a:r>
          </a:p>
        </p:txBody>
      </p:sp>
      <p:sp>
        <p:nvSpPr>
          <p:cNvPr id="23" name="Oval 22"/>
          <p:cNvSpPr/>
          <p:nvPr/>
        </p:nvSpPr>
        <p:spPr>
          <a:xfrm>
            <a:off x="7225200" y="2113199"/>
            <a:ext cx="4053600" cy="4053600"/>
          </a:xfrm>
          <a:prstGeom prst="ellipse">
            <a:avLst/>
          </a:prstGeom>
          <a:solidFill>
            <a:srgbClr val="D9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18-difficultes-illustration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7307999" y="2196000"/>
            <a:ext cx="3888000" cy="3888000"/>
          </a:xfrm>
          <a:prstGeom prst="ellipse">
            <a:avLst/>
          </a:prstGeom>
          <a:ln w="19050">
            <a:solidFill>
              <a:srgbClr val="FFFFFF"/>
            </a:solidFill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11C6B5E9-965A-4A35-87F6-267ED373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26" y="-249298"/>
            <a:ext cx="2584890" cy="17232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2A9B69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Bilan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Segoe UI"/>
              </a:rPr>
              <a:t>Un projet mené de bout en bout, de l'analyse au déploiement.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94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A9B69"/>
                </a:solidFill>
                <a:latin typeface="Segoe UI"/>
              </a:rPr>
              <a:t>BILAN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A9B69"/>
                </a:solidFill>
                <a:latin typeface="Segoe UI"/>
              </a:rPr>
              <a:t>✓  </a:t>
            </a:r>
            <a:r>
              <a:rPr sz="1500" b="1">
                <a:solidFill>
                  <a:srgbClr val="0F172A"/>
                </a:solidFill>
                <a:latin typeface="Segoe UI"/>
              </a:rPr>
              <a:t>Une plateforme </a:t>
            </a:r>
            <a:r>
              <a:rPr sz="1500" b="0">
                <a:solidFill>
                  <a:srgbClr val="64748B"/>
                </a:solidFill>
                <a:latin typeface="Segoe UI"/>
              </a:rPr>
              <a:t>fonctionnelle de bout en bout.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A9B69"/>
                </a:solidFill>
                <a:latin typeface="Segoe UI"/>
              </a:rPr>
              <a:t>✓  </a:t>
            </a:r>
            <a:r>
              <a:rPr sz="1500" b="1">
                <a:solidFill>
                  <a:srgbClr val="0F172A"/>
                </a:solidFill>
                <a:latin typeface="Segoe UI"/>
              </a:rPr>
              <a:t>4 rôles </a:t>
            </a:r>
            <a:r>
              <a:rPr sz="1500" b="0">
                <a:solidFill>
                  <a:srgbClr val="64748B"/>
                </a:solidFill>
                <a:latin typeface="Segoe UI"/>
              </a:rPr>
              <a:t>et une IA opérationnelle.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A9B69"/>
                </a:solidFill>
                <a:latin typeface="Segoe UI"/>
              </a:rPr>
              <a:t>✓  </a:t>
            </a:r>
            <a:r>
              <a:rPr sz="1500" b="1">
                <a:solidFill>
                  <a:srgbClr val="0F172A"/>
                </a:solidFill>
                <a:latin typeface="Segoe UI"/>
              </a:rPr>
              <a:t>Documents automatisés </a:t>
            </a:r>
            <a:r>
              <a:rPr sz="1500" b="0">
                <a:solidFill>
                  <a:srgbClr val="64748B"/>
                </a:solidFill>
                <a:latin typeface="Segoe UI"/>
              </a:rPr>
              <a:t>et intégrations réelles.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286000"/>
            <a:ext cx="5394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560320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8900FF"/>
                </a:solidFill>
                <a:latin typeface="Segoe UI"/>
              </a:rPr>
              <a:t>PERSPECTIVES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8900FF"/>
                </a:solidFill>
                <a:latin typeface="Segoe UI"/>
              </a:rPr>
              <a:t>→  </a:t>
            </a:r>
            <a:r>
              <a:rPr sz="1500" b="1">
                <a:solidFill>
                  <a:srgbClr val="0F172A"/>
                </a:solidFill>
                <a:latin typeface="Segoe UI"/>
              </a:rPr>
              <a:t>Déploiement </a:t>
            </a:r>
            <a:r>
              <a:rPr sz="1500" b="0">
                <a:solidFill>
                  <a:srgbClr val="64748B"/>
                </a:solidFill>
                <a:latin typeface="Segoe UI"/>
              </a:rPr>
              <a:t>en production.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8900FF"/>
                </a:solidFill>
                <a:latin typeface="Segoe UI"/>
              </a:rPr>
              <a:t>→  </a:t>
            </a:r>
            <a:r>
              <a:rPr sz="1500" b="1">
                <a:solidFill>
                  <a:srgbClr val="0F172A"/>
                </a:solidFill>
                <a:latin typeface="Segoe UI"/>
              </a:rPr>
              <a:t>Amélioration continue </a:t>
            </a:r>
            <a:r>
              <a:rPr sz="1500" b="0">
                <a:solidFill>
                  <a:srgbClr val="64748B"/>
                </a:solidFill>
                <a:latin typeface="Segoe UI"/>
              </a:rPr>
              <a:t>du modèle.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8900FF"/>
                </a:solidFill>
                <a:latin typeface="Segoe UI"/>
              </a:rPr>
              <a:t>→  </a:t>
            </a:r>
            <a:r>
              <a:rPr sz="1500" b="1">
                <a:solidFill>
                  <a:srgbClr val="0F172A"/>
                </a:solidFill>
                <a:latin typeface="Segoe UI"/>
              </a:rPr>
              <a:t>Application mobile </a:t>
            </a:r>
            <a:r>
              <a:rPr sz="1500" b="0">
                <a:solidFill>
                  <a:srgbClr val="64748B"/>
                </a:solidFill>
                <a:latin typeface="Segoe UI"/>
              </a:rPr>
              <a:t>pour les patients.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8900FF"/>
                </a:solidFill>
                <a:latin typeface="Segoe UI"/>
              </a:rPr>
              <a:t>→  </a:t>
            </a:r>
            <a:r>
              <a:rPr sz="1500" b="1">
                <a:solidFill>
                  <a:srgbClr val="0F172A"/>
                </a:solidFill>
                <a:latin typeface="Segoe UI"/>
              </a:rPr>
              <a:t>Interopérabilité </a:t>
            </a:r>
            <a:r>
              <a:rPr sz="1500" b="0">
                <a:solidFill>
                  <a:srgbClr val="64748B"/>
                </a:solidFill>
                <a:latin typeface="Segoe UI"/>
              </a:rPr>
              <a:t>avec d'autres systèmes de santé.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0-icone-cura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329184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519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2A9B69"/>
                </a:solidFill>
                <a:latin typeface="Segoe UI"/>
              </a:rPr>
              <a:t>CuraMedical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51967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64748B"/>
                </a:solidFill>
                <a:latin typeface="Segoe UI"/>
              </a:rPr>
              <a:t>18 / 18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1DD6BBA-BD74-4E9D-BB46-3CC83BCE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44" y="-673236"/>
            <a:ext cx="5627016" cy="3751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0" y="65288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PARTIE 6 · ESPACE PATIENT &amp; CONCLUSION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rci-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36592"/>
            <a:ext cx="12192000" cy="2121408"/>
          </a:xfrm>
          <a:prstGeom prst="rect">
            <a:avLst/>
          </a:prstGeom>
          <a:solidFill>
            <a:srgbClr val="0F172A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36592"/>
            <a:ext cx="12192000" cy="38100"/>
          </a:xfrm>
          <a:prstGeom prst="rect">
            <a:avLst/>
          </a:prstGeom>
          <a:solidFill>
            <a:srgbClr val="2A9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757613"/>
            <a:ext cx="11091672" cy="2121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sz="1250" b="1" dirty="0">
                <a:solidFill>
                  <a:srgbClr val="4EB583"/>
                </a:solidFill>
                <a:latin typeface="Segoe UI"/>
              </a:rPr>
              <a:t>CURAMEDICAL  ·  SANTÉ NUMÉRIQUE PAR L'IA</a:t>
            </a:r>
          </a:p>
          <a:p>
            <a:pPr algn="ctr">
              <a:spcAft>
                <a:spcPts val="1200"/>
              </a:spcAft>
            </a:pPr>
            <a:r>
              <a:rPr sz="3600" b="1" dirty="0">
                <a:solidFill>
                  <a:srgbClr val="FFFFFF"/>
                </a:solidFill>
                <a:latin typeface="Segoe UI"/>
              </a:rPr>
              <a:t>Merci </a:t>
            </a:r>
            <a:r>
              <a:rPr sz="3600" b="1" dirty="0">
                <a:solidFill>
                  <a:srgbClr val="4EB583"/>
                </a:solidFill>
                <a:latin typeface="Segoe UI"/>
              </a:rPr>
              <a:t>pour </a:t>
            </a:r>
            <a:r>
              <a:rPr sz="3600" b="1" dirty="0" err="1">
                <a:solidFill>
                  <a:srgbClr val="4EB583"/>
                </a:solidFill>
                <a:latin typeface="Segoe UI"/>
              </a:rPr>
              <a:t>votre</a:t>
            </a:r>
            <a:r>
              <a:rPr sz="3600" b="1" dirty="0">
                <a:solidFill>
                  <a:srgbClr val="4EB583"/>
                </a:solidFill>
                <a:latin typeface="Segoe UI"/>
              </a:rPr>
              <a:t> attention</a:t>
            </a:r>
            <a:r>
              <a:rPr lang="fr-FR" sz="3600" b="1" dirty="0">
                <a:solidFill>
                  <a:srgbClr val="4EB583"/>
                </a:solidFill>
                <a:latin typeface="Segoe UI"/>
              </a:rPr>
              <a:t> !</a:t>
            </a:r>
            <a:endParaRPr sz="3600" b="1" dirty="0">
              <a:solidFill>
                <a:srgbClr val="4EB583"/>
              </a:solidFill>
              <a:latin typeface="Segoe UI"/>
            </a:endParaRPr>
          </a:p>
          <a:p>
            <a:pPr algn="ctr"/>
            <a:r>
              <a:rPr sz="1300" b="0" dirty="0">
                <a:solidFill>
                  <a:srgbClr val="CBD5E1"/>
                </a:solidFill>
                <a:latin typeface="Segoe UI"/>
              </a:rPr>
              <a:t>Abdou SALOU ABDOU  ·  Kamara MACIRE  ·  Nourdine SAWADOGO</a:t>
            </a:r>
          </a:p>
        </p:txBody>
      </p:sp>
      <p:pic>
        <p:nvPicPr>
          <p:cNvPr id="6" name="Picture 1" descr="00-logo-curamedical.png">
            <a:extLst>
              <a:ext uri="{FF2B5EF4-FFF2-40B4-BE49-F238E27FC236}">
                <a16:creationId xmlns:a16="http://schemas.microsoft.com/office/drawing/2014/main" id="{F034F50F-8925-4868-85D8-BB338F65E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2306502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1322</Words>
  <Application>Microsoft Office PowerPoint</Application>
  <PresentationFormat>Grand écran</PresentationFormat>
  <Paragraphs>245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Abdou SALOU ABDOU</dc:creator>
  <cp:keywords/>
  <dc:description>generated using python-pptx</dc:description>
  <cp:lastModifiedBy>Abdou SALOU  ABDOU</cp:lastModifiedBy>
  <cp:revision>19</cp:revision>
  <dcterms:created xsi:type="dcterms:W3CDTF">2013-01-27T09:14:16Z</dcterms:created>
  <dcterms:modified xsi:type="dcterms:W3CDTF">2026-06-24T09:05:26Z</dcterms:modified>
  <cp:category/>
</cp:coreProperties>
</file>