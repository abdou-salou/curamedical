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73" r:id="rId3"/>
    <p:sldId id="257" r:id="rId4"/>
    <p:sldId id="258" r:id="rId5"/>
    <p:sldId id="259" r:id="rId6"/>
    <p:sldId id="260" r:id="rId7"/>
    <p:sldId id="261" r:id="rId8"/>
    <p:sldId id="262" r:id="rId9"/>
    <p:sldId id="263" r:id="rId10"/>
    <p:sldId id="264" r:id="rId11"/>
    <p:sldId id="265" r:id="rId12"/>
    <p:sldId id="266" r:id="rId13"/>
    <p:sldId id="267" r:id="rId14"/>
    <p:sldId id="268" r:id="rId15"/>
    <p:sldId id="269" r:id="rId16"/>
    <p:sldId id="270" r:id="rId17"/>
    <p:sldId id="271" r:id="rId18"/>
    <p:sldId id="275" r:id="rId19"/>
    <p:sldId id="272" r:id="rId20"/>
    <p:sldId id="274" r:id="rId2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61" d="100"/>
          <a:sy n="61" d="100"/>
        </p:scale>
        <p:origin x="860" y="88"/>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presProps" Target="presProps.xml"/><Relationship Id="rId23" Type="http://schemas.openxmlformats.org/officeDocument/2006/relationships/viewProps" Target="viewProps.xml"/><Relationship Id="rId24" Type="http://schemas.openxmlformats.org/officeDocument/2006/relationships/theme" Target="theme/theme1.xml"/><Relationship Id="rId25" Type="http://schemas.openxmlformats.org/officeDocument/2006/relationships/tableStyles" Target="tableStyles.xml"/><Relationship Id="rId26"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INTERVENANT 3 — Slide 12 / 18 — Ordonnances &amp; documents  (~ 0:47)</a:t>
            </a:r>
          </a:p>
          <a:p/>
          <a:p>
            <a:r>
              <a:t>Poursuivons. Pour nous, une consultation ne se termine pas quand le médecin referme le dossier : elle se termine quand le patient repart avec un vrai document en main. Et c'est exactement ce que CuraMedical produit, tout seul. Le médecin saisit son ordonnance de façon structurée : pour chaque médicament, la dose et la durée. À partir de cette saisie, l'ordonnance est générée automatiquement en PDF, avec le cachet et la signature du médecin déjà intégrés — le document est prêt à imprimer ou à envoyer. Les comptes-rendus de consultation suivent exactement la même logique et sont eux aussi exportés en PDF. On passe donc de la saisie à un document propre et professionnel en un seul clic, sans jamais rien retaper, et surtout sans risque d'erreur de recopie.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INTERVENANT 3 — Slide 13 / 18 — Téléconsultation  (~ 0:37)</a:t>
            </a:r>
          </a:p>
          <a:p/>
          <a:p>
            <a:r>
              <a:t>Mais tous les patients ne peuvent pas se déplacer jusqu'au cabinet — par distance, ou par difficulté à se déplacer. Alors, plutôt que de faire venir le patient, CuraMedical amène le cabinet jusqu'à lui, grâce à la téléconsultation. La visioconférence est intégrée directement dans la plateforme via Jitsi : il n'y a rien à installer. Pour chaque rendez-vous à distance, une salle privée est créée automatiquement, et pendant l'appel, le médecin prend ses notes en direct. L'accès aux soins n'est plus une question de kilomètres.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INTERVENANT 3 — Slide 14 / 18 — Chatbot IA  (~ 0:41)</a:t>
            </a:r>
          </a:p>
          <a:p/>
          <a:p>
            <a:r>
              <a:t>Maintenant, posons-nous une question toute simple : pour savoir combien de patients ont un rendez-vous aujourd'hui, faut-il vraiment cliquer à travers cinq écrans ? Nous avons décidé que non. Nous avons donc ajouté un chatbot qui permet d'interroger le cabinet en langage naturel. On tape sa question en français courant — « combien de patients avons-nous ? », « quels sont les rendez-vous d'aujourd'hui ? » — et la réponse arrive immédiatement, calculée sur les vraies données de l'application. Ce chatbot s'appuie sur un grand modèle de langage, via Groq. C'est donc une deuxième utilisation de l'IA dans le projet : non plus pour le diagnostic, mais pour fluidifier la gestion de tous les jours.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INTERVENANT 3 — Slide 15 / 18 — Notifications WhatsApp  (~ 0:41)</a:t>
            </a:r>
          </a:p>
          <a:p/>
          <a:p>
            <a:r>
              <a:t>Pour la communication avec le patient, nous avons fait un constat tout simple : un beau site web, ce n'est utile que si le patient sait s'en servir. Or tout le monde n'est pas à l'aise pour se connecter à un site et naviguer dans une interface — je pense en particulier aux personnes âgées. Nous avons donc décidé d'aller chercher le patient là où il se trouve déjà, sur l'application que tout le monde sait utiliser : WhatsApp. Concrètement, le patient reçoit ses rappels de rendez-vous automatiquement, ce qui évite énormément d'oublis, et il peut même recevoir son ordonnance directement sur son téléphone. Le tout est orchestré par un scénario automatique construit avec n8n et relié à Twilio. Le résultat est double : moins de rendez-vous manqués pour le cabinet, et un patient mieux suivi, plus rassuré — sans qu'il ait quoi que ce soit à apprendre.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INTERVENANT 3 — Slide 16 / 18 — Espace patient  (~ 0:39)</a:t>
            </a:r>
          </a:p>
          <a:p/>
          <a:p>
            <a:r>
              <a:t>Et le patient, justement, n'est plus un simple spectateur de son suivi : il en devient acteur. Depuis son espace personnel, il peut s'inscrire en ligne, consulter ses prochains rendez-vous, retrouver ses consultations et ses ordonnances, et gérer ses informations. Il dispose ainsi, à tout moment et où qu'il soit, d'une vue claire sur son parcours de soins. Et là, la boucle est complète : de la secrétaire au médecin, et du médecin jusqu'au patient.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INTERVENANT 3 — Slide 17 / 18 — Difficultés techniques rencontrées  (~ 0:50)</a:t>
            </a:r>
          </a:p>
          <a:p/>
          <a:p>
            <a:r>
              <a:t>Avant de conclure, un mot sur les difficultés rencontrées — parce qu'un projet, ce sont aussi des obstacles qu'on apprend à franchir. Côté IA, le plus délicat a été d'aligner un jeu de données en anglais avec une saisie en français. Côté sécurité, il fallait cloisonner les données par rôle, sans pour autant rendre l'application pénible à utiliser. Pour les documents, produire des PDF à la fois lisibles et réutilisables nous a demandé plusieurs essais. L'automatisation des envois nous a poussés à découpler les tâches avec Celery, n8n et Twilio, pour ne jamais bloquer l'application. Enfin, faire tourner ensemble plusieurs services conteneurisés, et garder une interface claire malgré quatre profils différents, ont été de vrais défis. Chacun a été analysé, puis résolu — et c'est très honnêtement ce qui nous a le plus fait progresser.</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INTERVENANT 3 — Slide 18 / 18 — Bilan &amp; perspectives  (~ 0:56)</a:t>
            </a:r>
          </a:p>
          <a:p/>
          <a:p>
            <a:r>
              <a:t>Pour conclure. Nous sommes partis d'un problème concret — un cabinet désorganisé, sans aucune aide à la décision — et nous avons abouti à une plateforme complète et réellement fonctionnelle : quatre rôles bien séparés et sécurisés, une intelligence artificielle véritablement opérationnelle, des documents générés automatiquement, et de vraies connexions avec des outils externes. Ce projet nous a fait vivre toutes les étapes du métier d'ingénieur, de l'analyse du besoin jusqu'à la mise en service. Et nous ne comptons pas nous arrêter là : nous aimerions déployer la plateforme en production, continuer à améliorer le modèle d'IA, créer une application mobile pour les patients, et la relier à d'autres systèmes de santé. Merci beaucoup pour votre attention — nous sommes maintenant prêts à répondre à vos questions.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6/22/2026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6/22/2026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6/22/2026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6/22/2026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6/22/2026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6/22/2026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6/22/2026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6/22/2026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6/22/2026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6/22/2026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6/22/2026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6/22/2026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‹N°›</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4.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jpg"/><Relationship Id="rId3" Type="http://schemas.openxmlformats.org/officeDocument/2006/relationships/image" Target="../media/image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jpg"/><Relationship Id="rId3" Type="http://schemas.openxmlformats.org/officeDocument/2006/relationships/image" Target="../media/image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jpg"/><Relationship Id="rId3" Type="http://schemas.openxmlformats.org/officeDocument/2006/relationships/image" Target="../media/image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8.jpg"/><Relationship Id="rId4" Type="http://schemas.openxmlformats.org/officeDocument/2006/relationships/image" Target="../media/image9.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jpg"/><Relationship Id="rId3" Type="http://schemas.openxmlformats.org/officeDocument/2006/relationships/image" Target="../media/image11.jpg"/><Relationship Id="rId4" Type="http://schemas.openxmlformats.org/officeDocument/2006/relationships/image" Target="../media/image3.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jpg"/><Relationship Id="rId3" Type="http://schemas.openxmlformats.org/officeDocument/2006/relationships/image" Target="../media/image3.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13.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jpg"/><Relationship Id="rId3" Type="http://schemas.openxmlformats.org/officeDocument/2006/relationships/image" Target="../media/image15.jpg"/><Relationship Id="rId4" Type="http://schemas.openxmlformats.org/officeDocument/2006/relationships/image" Target="../media/image3.png"/><Relationship Id="rId5" Type="http://schemas.openxmlformats.org/officeDocument/2006/relationships/notesSlide" Target="../notesSlides/notesSlide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png"/><Relationship Id="rId3" Type="http://schemas.openxmlformats.org/officeDocument/2006/relationships/image" Target="../media/image3.png"/><Relationship Id="rId4" Type="http://schemas.openxmlformats.org/officeDocument/2006/relationships/notesSlide" Target="../notesSlides/notesSlide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jpg"/><Relationship Id="rId3" Type="http://schemas.openxmlformats.org/officeDocument/2006/relationships/image" Target="../media/image3.png"/><Relationship Id="rId4" Type="http://schemas.openxmlformats.org/officeDocument/2006/relationships/notesSlide" Target="../notesSlides/notesSlide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18.jpg"/><Relationship Id="rId4" Type="http://schemas.openxmlformats.org/officeDocument/2006/relationships/image" Target="../media/image19.jpg"/><Relationship Id="rId5" Type="http://schemas.openxmlformats.org/officeDocument/2006/relationships/notesSlide" Target="../notesSlides/notesSlide4.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0.jpg"/><Relationship Id="rId3" Type="http://schemas.openxmlformats.org/officeDocument/2006/relationships/image" Target="../media/image3.png"/><Relationship Id="rId4" Type="http://schemas.openxmlformats.org/officeDocument/2006/relationships/notesSlide" Target="../notesSlides/notesSlide5.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1.jpg"/><Relationship Id="rId3" Type="http://schemas.openxmlformats.org/officeDocument/2006/relationships/image" Target="../media/image3.png"/><Relationship Id="rId4" Type="http://schemas.openxmlformats.org/officeDocument/2006/relationships/notesSlide" Target="../notesSlides/notesSlide6.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2.jpg"/><Relationship Id="rId3"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7F8FA"/>
        </a:solidFill>
        <a:effectLst/>
      </p:bgPr>
    </p:bg>
    <p:spTree>
      <p:nvGrpSpPr>
        <p:cNvPr id="1" name=""/>
        <p:cNvGrpSpPr/>
        <p:nvPr/>
      </p:nvGrpSpPr>
      <p:grpSpPr>
        <a:xfrm>
          <a:off x="0" y="0"/>
          <a:ext cx="0" cy="0"/>
          <a:chOff x="0" y="0"/>
          <a:chExt cx="0" cy="0"/>
        </a:xfrm>
      </p:grpSpPr>
      <p:pic>
        <p:nvPicPr>
          <p:cNvPr id="2" name="Picture 1" descr="00-logo-curamedical.png"/>
          <p:cNvPicPr>
            <a:picLocks noChangeAspect="1"/>
          </p:cNvPicPr>
          <p:nvPr/>
        </p:nvPicPr>
        <p:blipFill>
          <a:blip r:embed="rId2"/>
          <a:stretch>
            <a:fillRect/>
          </a:stretch>
        </p:blipFill>
        <p:spPr>
          <a:xfrm>
            <a:off x="548640" y="502920"/>
            <a:ext cx="2306502" cy="566928"/>
          </a:xfrm>
          <a:prstGeom prst="rect">
            <a:avLst/>
          </a:prstGeom>
        </p:spPr>
      </p:pic>
      <p:sp>
        <p:nvSpPr>
          <p:cNvPr id="3" name="TextBox 2"/>
          <p:cNvSpPr txBox="1"/>
          <p:nvPr/>
        </p:nvSpPr>
        <p:spPr>
          <a:xfrm>
            <a:off x="6858000" y="502920"/>
            <a:ext cx="4782312" cy="640080"/>
          </a:xfrm>
          <a:prstGeom prst="rect">
            <a:avLst/>
          </a:prstGeom>
          <a:noFill/>
        </p:spPr>
        <p:txBody>
          <a:bodyPr wrap="square" lIns="0" tIns="0" rIns="0" bIns="0" anchor="t">
            <a:noAutofit/>
          </a:bodyPr>
          <a:lstStyle/>
          <a:p>
            <a:pPr algn="r"/>
            <a:r>
              <a:rPr sz="1100" b="0" dirty="0">
                <a:solidFill>
                  <a:srgbClr val="64748B"/>
                </a:solidFill>
                <a:latin typeface="Segoe UI"/>
              </a:rPr>
              <a:t>PROJET EN SYSTÈMES INFORMATIQUES — 2026</a:t>
            </a:r>
          </a:p>
          <a:p>
            <a:pPr algn="r"/>
            <a:r>
              <a:rPr sz="1100" b="0" dirty="0">
                <a:solidFill>
                  <a:srgbClr val="94A3B8"/>
                </a:solidFill>
                <a:latin typeface="Segoe UI"/>
              </a:rPr>
              <a:t>ISGA </a:t>
            </a:r>
            <a:r>
              <a:rPr lang="fr-FR" sz="1100" dirty="0">
                <a:solidFill>
                  <a:srgbClr val="94A3B8"/>
                </a:solidFill>
                <a:latin typeface="Segoe UI"/>
              </a:rPr>
              <a:t>- </a:t>
            </a:r>
            <a:r>
              <a:rPr sz="1100" b="0" dirty="0">
                <a:solidFill>
                  <a:srgbClr val="94A3B8"/>
                </a:solidFill>
                <a:latin typeface="Segoe UI"/>
              </a:rPr>
              <a:t>2CI-ISI</a:t>
            </a:r>
          </a:p>
        </p:txBody>
      </p:sp>
      <p:sp>
        <p:nvSpPr>
          <p:cNvPr id="4" name="TextBox 3"/>
          <p:cNvSpPr txBox="1"/>
          <p:nvPr/>
        </p:nvSpPr>
        <p:spPr>
          <a:xfrm>
            <a:off x="566928" y="1965960"/>
            <a:ext cx="10972800" cy="274320"/>
          </a:xfrm>
          <a:prstGeom prst="rect">
            <a:avLst/>
          </a:prstGeom>
          <a:noFill/>
        </p:spPr>
        <p:txBody>
          <a:bodyPr wrap="square" lIns="0" tIns="0" rIns="0" bIns="0" anchor="t">
            <a:noAutofit/>
          </a:bodyPr>
          <a:lstStyle/>
          <a:p>
            <a:pPr algn="l"/>
            <a:r>
              <a:rPr sz="1250" b="1">
                <a:solidFill>
                  <a:srgbClr val="2A9B69"/>
                </a:solidFill>
                <a:latin typeface="Segoe UI"/>
              </a:rPr>
              <a:t>SANTÉ NUMÉRIQUE · AIDE AU DIAGNOSTIC PAR IA</a:t>
            </a:r>
          </a:p>
        </p:txBody>
      </p:sp>
      <p:sp>
        <p:nvSpPr>
          <p:cNvPr id="5" name="TextBox 4"/>
          <p:cNvSpPr txBox="1"/>
          <p:nvPr/>
        </p:nvSpPr>
        <p:spPr>
          <a:xfrm>
            <a:off x="530352" y="2286000"/>
            <a:ext cx="10972800" cy="1371600"/>
          </a:xfrm>
          <a:prstGeom prst="rect">
            <a:avLst/>
          </a:prstGeom>
          <a:noFill/>
        </p:spPr>
        <p:txBody>
          <a:bodyPr wrap="square" lIns="0" tIns="0" rIns="0" bIns="0" anchor="t">
            <a:noAutofit/>
          </a:bodyPr>
          <a:lstStyle/>
          <a:p>
            <a:pPr algn="l"/>
            <a:r>
              <a:rPr sz="7200" b="1" dirty="0" err="1">
                <a:solidFill>
                  <a:srgbClr val="0F172A"/>
                </a:solidFill>
                <a:latin typeface="Segoe UI"/>
              </a:rPr>
              <a:t>Cura</a:t>
            </a:r>
            <a:r>
              <a:rPr sz="7200" b="1" dirty="0" err="1">
                <a:solidFill>
                  <a:srgbClr val="2A9B69"/>
                </a:solidFill>
                <a:latin typeface="Segoe UI"/>
              </a:rPr>
              <a:t>Medical</a:t>
            </a:r>
            <a:endParaRPr sz="7200" b="1" dirty="0">
              <a:solidFill>
                <a:srgbClr val="2A9B69"/>
              </a:solidFill>
              <a:latin typeface="Segoe UI"/>
            </a:endParaRPr>
          </a:p>
        </p:txBody>
      </p:sp>
      <p:sp>
        <p:nvSpPr>
          <p:cNvPr id="6" name="TextBox 5"/>
          <p:cNvSpPr txBox="1"/>
          <p:nvPr/>
        </p:nvSpPr>
        <p:spPr>
          <a:xfrm>
            <a:off x="566928" y="3703320"/>
            <a:ext cx="8412480" cy="914400"/>
          </a:xfrm>
          <a:prstGeom prst="rect">
            <a:avLst/>
          </a:prstGeom>
          <a:noFill/>
        </p:spPr>
        <p:txBody>
          <a:bodyPr wrap="square" lIns="0" tIns="0" rIns="0" bIns="0" anchor="t">
            <a:noAutofit/>
          </a:bodyPr>
          <a:lstStyle/>
          <a:p>
            <a:pPr algn="l">
              <a:lnSpc>
                <a:spcPct val="115000"/>
              </a:lnSpc>
            </a:pPr>
            <a:r>
              <a:rPr sz="1800" b="0">
                <a:solidFill>
                  <a:srgbClr val="64748B"/>
                </a:solidFill>
                <a:latin typeface="Segoe UI"/>
              </a:rPr>
              <a:t>Gestion intelligente de cabinet médical : aide au diagnostic par IA, téléconsultation et automatisation du parcours de soins.</a:t>
            </a:r>
          </a:p>
        </p:txBody>
      </p:sp>
      <p:sp>
        <p:nvSpPr>
          <p:cNvPr id="7" name="Rectangle 6"/>
          <p:cNvSpPr/>
          <p:nvPr/>
        </p:nvSpPr>
        <p:spPr>
          <a:xfrm>
            <a:off x="548640" y="4892040"/>
            <a:ext cx="11091672" cy="1651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737360" y="5120640"/>
            <a:ext cx="2743200" cy="1417320"/>
          </a:xfrm>
          <a:prstGeom prst="rect">
            <a:avLst/>
          </a:prstGeom>
          <a:noFill/>
        </p:spPr>
        <p:txBody>
          <a:bodyPr wrap="square" lIns="0" tIns="0" rIns="0" bIns="0" anchor="t">
            <a:noAutofit/>
          </a:bodyPr>
          <a:lstStyle/>
          <a:p>
            <a:pPr algn="l">
              <a:spcAft>
                <a:spcPts val="300"/>
              </a:spcAft>
            </a:pPr>
            <a:r>
              <a:rPr lang="fr-FR" sz="1000" b="1" dirty="0">
                <a:solidFill>
                  <a:srgbClr val="2A9B69"/>
                </a:solidFill>
                <a:latin typeface="Segoe UI"/>
              </a:rPr>
              <a:t>PRÉSENTÉ PAR :</a:t>
            </a:r>
          </a:p>
          <a:p>
            <a:pPr algn="l"/>
            <a:r>
              <a:rPr sz="1400" b="1" dirty="0">
                <a:solidFill>
                  <a:srgbClr val="0F172A"/>
                </a:solidFill>
                <a:latin typeface="Segoe UI"/>
              </a:rPr>
              <a:t>Abdou SALOU ABDOU</a:t>
            </a:r>
            <a:endParaRPr lang="fr-FR" sz="1400" b="1" dirty="0">
              <a:solidFill>
                <a:srgbClr val="0F172A"/>
              </a:solidFill>
              <a:latin typeface="Segoe UI"/>
            </a:endParaRPr>
          </a:p>
          <a:p>
            <a:pPr algn="l"/>
            <a:endParaRPr lang="fr-FR" sz="1400" b="1" dirty="0">
              <a:solidFill>
                <a:srgbClr val="0F172A"/>
              </a:solidFill>
              <a:latin typeface="Segoe UI"/>
            </a:endParaRPr>
          </a:p>
          <a:p>
            <a:r>
              <a:rPr lang="fr-FR" sz="1400" b="1" dirty="0">
                <a:solidFill>
                  <a:srgbClr val="0F172A"/>
                </a:solidFill>
                <a:latin typeface="Segoe UI"/>
              </a:rPr>
              <a:t>Nourdine SAWADOGO</a:t>
            </a:r>
          </a:p>
          <a:p>
            <a:endParaRPr lang="fr-FR" sz="1400" b="1" dirty="0">
              <a:solidFill>
                <a:srgbClr val="0F172A"/>
              </a:solidFill>
              <a:latin typeface="Segoe UI"/>
            </a:endParaRPr>
          </a:p>
          <a:p>
            <a:r>
              <a:rPr lang="fr-FR" sz="1400" b="1" dirty="0">
                <a:solidFill>
                  <a:srgbClr val="0F172A"/>
                </a:solidFill>
                <a:latin typeface="Segoe UI"/>
              </a:rPr>
              <a:t>Kamara MACIRE</a:t>
            </a:r>
          </a:p>
          <a:p>
            <a:pPr>
              <a:spcAft>
                <a:spcPts val="300"/>
              </a:spcAft>
            </a:pPr>
            <a:endParaRPr lang="fr-FR" sz="1400" dirty="0"/>
          </a:p>
          <a:p>
            <a:pPr algn="l"/>
            <a:endParaRPr sz="1400" b="1" dirty="0">
              <a:solidFill>
                <a:srgbClr val="0F172A"/>
              </a:solidFill>
              <a:latin typeface="Segoe UI"/>
            </a:endParaRPr>
          </a:p>
        </p:txBody>
      </p:sp>
      <p:sp>
        <p:nvSpPr>
          <p:cNvPr id="9" name="TextBox 8"/>
          <p:cNvSpPr txBox="1"/>
          <p:nvPr/>
        </p:nvSpPr>
        <p:spPr>
          <a:xfrm>
            <a:off x="3383280" y="5015537"/>
            <a:ext cx="2377440" cy="731520"/>
          </a:xfrm>
          <a:prstGeom prst="rect">
            <a:avLst/>
          </a:prstGeom>
          <a:noFill/>
        </p:spPr>
        <p:txBody>
          <a:bodyPr wrap="square" lIns="0" tIns="0" rIns="0" bIns="0" anchor="t">
            <a:noAutofit/>
          </a:bodyPr>
          <a:lstStyle/>
          <a:p>
            <a:pPr algn="l"/>
            <a:endParaRPr sz="1400" b="1" dirty="0">
              <a:solidFill>
                <a:srgbClr val="0F172A"/>
              </a:solidFill>
              <a:latin typeface="Segoe UI"/>
            </a:endParaRPr>
          </a:p>
        </p:txBody>
      </p:sp>
      <p:sp>
        <p:nvSpPr>
          <p:cNvPr id="10" name="TextBox 9"/>
          <p:cNvSpPr txBox="1"/>
          <p:nvPr/>
        </p:nvSpPr>
        <p:spPr>
          <a:xfrm>
            <a:off x="5852160" y="5015537"/>
            <a:ext cx="2651760" cy="731520"/>
          </a:xfrm>
          <a:prstGeom prst="rect">
            <a:avLst/>
          </a:prstGeom>
          <a:noFill/>
        </p:spPr>
        <p:txBody>
          <a:bodyPr wrap="square" lIns="0" tIns="0" rIns="0" bIns="0" anchor="t">
            <a:noAutofit/>
          </a:bodyPr>
          <a:lstStyle/>
          <a:p>
            <a:pPr algn="l">
              <a:spcAft>
                <a:spcPts val="300"/>
              </a:spcAft>
            </a:pPr>
            <a:endParaRPr sz="1400" b="1" dirty="0">
              <a:solidFill>
                <a:srgbClr val="0F172A"/>
              </a:solidFill>
              <a:latin typeface="Segoe UI"/>
            </a:endParaRPr>
          </a:p>
        </p:txBody>
      </p:sp>
      <p:sp>
        <p:nvSpPr>
          <p:cNvPr id="11" name="TextBox 10"/>
          <p:cNvSpPr txBox="1"/>
          <p:nvPr/>
        </p:nvSpPr>
        <p:spPr>
          <a:xfrm>
            <a:off x="8686800" y="5120640"/>
            <a:ext cx="2926080" cy="731520"/>
          </a:xfrm>
          <a:prstGeom prst="rect">
            <a:avLst/>
          </a:prstGeom>
          <a:noFill/>
        </p:spPr>
        <p:txBody>
          <a:bodyPr wrap="square" lIns="0" tIns="0" rIns="0" bIns="0" anchor="t">
            <a:noAutofit/>
          </a:bodyPr>
          <a:lstStyle/>
          <a:p>
            <a:pPr algn="l">
              <a:spcAft>
                <a:spcPts val="300"/>
              </a:spcAft>
            </a:pPr>
            <a:r>
              <a:rPr sz="1000" b="1" dirty="0">
                <a:solidFill>
                  <a:srgbClr val="2A9B69"/>
                </a:solidFill>
                <a:latin typeface="Segoe UI"/>
              </a:rPr>
              <a:t>ENCADRÉ PAR</a:t>
            </a:r>
          </a:p>
          <a:p>
            <a:pPr algn="l"/>
            <a:r>
              <a:rPr sz="1400" b="1" dirty="0">
                <a:solidFill>
                  <a:srgbClr val="0F172A"/>
                </a:solidFill>
                <a:latin typeface="Segoe UI"/>
              </a:rPr>
              <a:t>Dr. Soumia CHOKRI</a:t>
            </a:r>
          </a:p>
        </p:txBody>
      </p:sp>
      <p:pic>
        <p:nvPicPr>
          <p:cNvPr id="12" name="Picture 11" descr="00-logo-isga.png"/>
          <p:cNvPicPr>
            <a:picLocks noChangeAspect="1"/>
          </p:cNvPicPr>
          <p:nvPr/>
        </p:nvPicPr>
        <p:blipFill>
          <a:blip r:embed="rId3"/>
          <a:stretch>
            <a:fillRect/>
          </a:stretch>
        </p:blipFill>
        <p:spPr>
          <a:xfrm>
            <a:off x="9934956" y="609014"/>
            <a:ext cx="1632568" cy="1513034"/>
          </a:xfrm>
          <a:prstGeom prst="rect">
            <a:avLst/>
          </a:prstGeom>
        </p:spPr>
      </p:pic>
      <p:sp>
        <p:nvSpPr>
          <p:cNvPr id="13" name="TextBox 12"/>
          <p:cNvSpPr txBox="1"/>
          <p:nvPr/>
        </p:nvSpPr>
        <p:spPr>
          <a:xfrm>
            <a:off x="8229600" y="6126480"/>
            <a:ext cx="3410712" cy="640080"/>
          </a:xfrm>
          <a:prstGeom prst="rect">
            <a:avLst/>
          </a:prstGeom>
          <a:noFill/>
        </p:spPr>
        <p:txBody>
          <a:bodyPr wrap="square" lIns="0" tIns="0" rIns="0" bIns="0" anchor="t">
            <a:noAutofit/>
          </a:bodyPr>
          <a:lstStyle/>
          <a:p>
            <a:pPr algn="r">
              <a:spcAft>
                <a:spcPts val="200"/>
              </a:spcAft>
            </a:pPr>
            <a:r>
              <a:rPr sz="1000" b="1">
                <a:solidFill>
                  <a:srgbClr val="94A3B8"/>
                </a:solidFill>
                <a:latin typeface="Segoe UI"/>
              </a:rPr>
              <a:t>DATE</a:t>
            </a:r>
          </a:p>
          <a:p>
            <a:pPr algn="r"/>
            <a:r>
              <a:rPr sz="1300" b="1">
                <a:solidFill>
                  <a:srgbClr val="0F172A"/>
                </a:solidFill>
                <a:latin typeface="Segoe UI"/>
              </a:rPr>
              <a:t>Juin 2026 · Casablanca, Maroc</a:t>
            </a:r>
          </a:p>
        </p:txBody>
      </p:sp>
      <p:pic>
        <p:nvPicPr>
          <p:cNvPr id="14" name="Image 13">
            <a:extLst>
              <a:ext uri="{FF2B5EF4-FFF2-40B4-BE49-F238E27FC236}">
                <a16:creationId xmlns:a16="http://schemas.microsoft.com/office/drawing/2014/main" id="{5B27ED45-B1E6-412A-BEB5-5EE33A9CBADA}"/>
              </a:ext>
            </a:extLst>
          </p:cNvPr>
          <p:cNvPicPr>
            <a:picLocks noChangeAspect="1"/>
          </p:cNvPicPr>
          <p:nvPr/>
        </p:nvPicPr>
        <p:blipFill>
          <a:blip r:embed="rId4"/>
          <a:stretch>
            <a:fillRect/>
          </a:stretch>
        </p:blipFill>
        <p:spPr>
          <a:xfrm>
            <a:off x="4760883" y="4967670"/>
            <a:ext cx="2584890" cy="172326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7F8FA"/>
        </a:solidFill>
        <a:effectLst/>
      </p:bgPr>
    </p:bg>
    <p:spTree>
      <p:nvGrpSpPr>
        <p:cNvPr id="1" name=""/>
        <p:cNvGrpSpPr/>
        <p:nvPr/>
      </p:nvGrpSpPr>
      <p:grpSpPr>
        <a:xfrm>
          <a:off x="0" y="0"/>
          <a:ext cx="0" cy="0"/>
          <a:chOff x="0" y="0"/>
          <a:chExt cx="0" cy="0"/>
        </a:xfrm>
      </p:grpSpPr>
      <p:sp>
        <p:nvSpPr>
          <p:cNvPr id="2" name="TextBox 1"/>
          <p:cNvSpPr txBox="1"/>
          <p:nvPr/>
        </p:nvSpPr>
        <p:spPr>
          <a:xfrm>
            <a:off x="566928" y="475488"/>
            <a:ext cx="10972800" cy="274320"/>
          </a:xfrm>
          <a:prstGeom prst="rect">
            <a:avLst/>
          </a:prstGeom>
          <a:noFill/>
        </p:spPr>
        <p:txBody>
          <a:bodyPr wrap="square" lIns="0" tIns="0" rIns="0" bIns="0" anchor="t">
            <a:noAutofit/>
          </a:bodyPr>
          <a:lstStyle/>
          <a:p>
            <a:pPr algn="l"/>
            <a:r>
              <a:rPr sz="1250" b="1">
                <a:solidFill>
                  <a:srgbClr val="2A9B69"/>
                </a:solidFill>
                <a:latin typeface="Segoe UI"/>
              </a:rPr>
              <a:t>SOMMAIRE</a:t>
            </a:r>
          </a:p>
        </p:txBody>
      </p:sp>
      <p:sp>
        <p:nvSpPr>
          <p:cNvPr id="3" name="TextBox 2"/>
          <p:cNvSpPr txBox="1"/>
          <p:nvPr/>
        </p:nvSpPr>
        <p:spPr>
          <a:xfrm>
            <a:off x="560832" y="1101852"/>
            <a:ext cx="11064240" cy="868680"/>
          </a:xfrm>
          <a:prstGeom prst="rect">
            <a:avLst/>
          </a:prstGeom>
          <a:noFill/>
        </p:spPr>
        <p:txBody>
          <a:bodyPr wrap="square" lIns="0" tIns="0" rIns="0" bIns="0" anchor="t">
            <a:noAutofit/>
          </a:bodyPr>
          <a:lstStyle/>
          <a:p>
            <a:pPr algn="l"/>
            <a:r>
              <a:rPr sz="3800" b="1" dirty="0">
                <a:solidFill>
                  <a:srgbClr val="0F172A"/>
                </a:solidFill>
                <a:latin typeface="Segoe UI"/>
              </a:rPr>
              <a:t>Plan de la </a:t>
            </a:r>
            <a:r>
              <a:rPr sz="3800" b="1" dirty="0" err="1">
                <a:solidFill>
                  <a:srgbClr val="0F172A"/>
                </a:solidFill>
                <a:latin typeface="Segoe UI"/>
              </a:rPr>
              <a:t>présentation</a:t>
            </a:r>
            <a:endParaRPr sz="3800" b="1" dirty="0">
              <a:solidFill>
                <a:srgbClr val="0F172A"/>
              </a:solidFill>
              <a:latin typeface="Segoe UI"/>
            </a:endParaRPr>
          </a:p>
        </p:txBody>
      </p:sp>
      <p:sp>
        <p:nvSpPr>
          <p:cNvPr id="4" name="TextBox 3"/>
          <p:cNvSpPr txBox="1"/>
          <p:nvPr/>
        </p:nvSpPr>
        <p:spPr>
          <a:xfrm>
            <a:off x="566928" y="1517904"/>
            <a:ext cx="10789920" cy="548640"/>
          </a:xfrm>
          <a:prstGeom prst="rect">
            <a:avLst/>
          </a:prstGeom>
          <a:noFill/>
        </p:spPr>
        <p:txBody>
          <a:bodyPr wrap="square" lIns="0" tIns="0" rIns="0" bIns="0" anchor="t">
            <a:noAutofit/>
          </a:bodyPr>
          <a:lstStyle/>
          <a:p>
            <a:pPr algn="l"/>
            <a:endParaRPr sz="1700" b="0" dirty="0">
              <a:solidFill>
                <a:srgbClr val="64748B"/>
              </a:solidFill>
              <a:latin typeface="Segoe UI"/>
            </a:endParaRPr>
          </a:p>
        </p:txBody>
      </p:sp>
      <p:sp>
        <p:nvSpPr>
          <p:cNvPr id="5" name="Rounded Rectangle 4"/>
          <p:cNvSpPr/>
          <p:nvPr/>
        </p:nvSpPr>
        <p:spPr>
          <a:xfrm>
            <a:off x="548640" y="2286000"/>
            <a:ext cx="5394960" cy="1188720"/>
          </a:xfrm>
          <a:prstGeom prst="round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22959" y="2286000"/>
            <a:ext cx="1005840" cy="1188720"/>
          </a:xfrm>
          <a:prstGeom prst="rect">
            <a:avLst/>
          </a:prstGeom>
          <a:noFill/>
        </p:spPr>
        <p:txBody>
          <a:bodyPr wrap="square" lIns="0" tIns="0" rIns="0" bIns="0" anchor="ctr">
            <a:noAutofit/>
          </a:bodyPr>
          <a:lstStyle/>
          <a:p>
            <a:pPr algn="l"/>
            <a:r>
              <a:rPr sz="3000" b="1"/>
              <a:t>01</a:t>
            </a:r>
          </a:p>
        </p:txBody>
      </p:sp>
      <p:sp>
        <p:nvSpPr>
          <p:cNvPr id="7" name="TextBox 6"/>
          <p:cNvSpPr txBox="1"/>
          <p:nvPr/>
        </p:nvSpPr>
        <p:spPr>
          <a:xfrm>
            <a:off x="1874519" y="2505456"/>
            <a:ext cx="3840480" cy="777240"/>
          </a:xfrm>
          <a:prstGeom prst="rect">
            <a:avLst/>
          </a:prstGeom>
          <a:noFill/>
        </p:spPr>
        <p:txBody>
          <a:bodyPr wrap="square" lIns="0" tIns="0" rIns="0" bIns="0" anchor="t">
            <a:noAutofit/>
          </a:bodyPr>
          <a:lstStyle/>
          <a:p>
            <a:pPr algn="l">
              <a:spcAft>
                <a:spcPts val="300"/>
              </a:spcAft>
            </a:pPr>
            <a:r>
              <a:rPr sz="1600" b="1"/>
              <a:t>Contexte &amp; objectifs</a:t>
            </a:r>
          </a:p>
          <a:p>
            <a:pPr algn="l">
              <a:lnSpc>
                <a:spcPct val="103000"/>
              </a:lnSpc>
            </a:pPr>
            <a:r>
              <a:rPr sz="1150" b="0"/>
              <a:t>Le constat et les objectifs du projet.</a:t>
            </a:r>
          </a:p>
        </p:txBody>
      </p:sp>
      <p:sp>
        <p:nvSpPr>
          <p:cNvPr id="8" name="Rounded Rectangle 7"/>
          <p:cNvSpPr/>
          <p:nvPr/>
        </p:nvSpPr>
        <p:spPr>
          <a:xfrm>
            <a:off x="6245352" y="2286000"/>
            <a:ext cx="5394960" cy="1188720"/>
          </a:xfrm>
          <a:prstGeom prst="round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519672" y="2286000"/>
            <a:ext cx="1005840" cy="1188720"/>
          </a:xfrm>
          <a:prstGeom prst="rect">
            <a:avLst/>
          </a:prstGeom>
          <a:noFill/>
        </p:spPr>
        <p:txBody>
          <a:bodyPr wrap="square" lIns="0" tIns="0" rIns="0" bIns="0" anchor="ctr">
            <a:noAutofit/>
          </a:bodyPr>
          <a:lstStyle/>
          <a:p>
            <a:pPr algn="l"/>
            <a:r>
              <a:rPr sz="3000" b="1"/>
              <a:t>02</a:t>
            </a:r>
          </a:p>
        </p:txBody>
      </p:sp>
      <p:sp>
        <p:nvSpPr>
          <p:cNvPr id="10" name="TextBox 9"/>
          <p:cNvSpPr txBox="1"/>
          <p:nvPr/>
        </p:nvSpPr>
        <p:spPr>
          <a:xfrm>
            <a:off x="7571231" y="2505456"/>
            <a:ext cx="3840480" cy="777240"/>
          </a:xfrm>
          <a:prstGeom prst="rect">
            <a:avLst/>
          </a:prstGeom>
          <a:noFill/>
        </p:spPr>
        <p:txBody>
          <a:bodyPr wrap="square" lIns="0" tIns="0" rIns="0" bIns="0" anchor="t">
            <a:noAutofit/>
          </a:bodyPr>
          <a:lstStyle/>
          <a:p>
            <a:pPr algn="l">
              <a:spcAft>
                <a:spcPts val="300"/>
              </a:spcAft>
            </a:pPr>
            <a:r>
              <a:rPr sz="1600" b="1"/>
              <a:t>Architecture &amp; conception</a:t>
            </a:r>
          </a:p>
          <a:p>
            <a:pPr algn="l">
              <a:lnSpc>
                <a:spcPct val="103000"/>
              </a:lnSpc>
            </a:pPr>
            <a:r>
              <a:rPr sz="1150" b="0"/>
              <a:t>Stack technique, cas d'usage, modèle de données.</a:t>
            </a:r>
          </a:p>
        </p:txBody>
      </p:sp>
      <p:sp>
        <p:nvSpPr>
          <p:cNvPr id="11" name="Rounded Rectangle 10"/>
          <p:cNvSpPr/>
          <p:nvPr/>
        </p:nvSpPr>
        <p:spPr>
          <a:xfrm>
            <a:off x="548640" y="3657600"/>
            <a:ext cx="5394960" cy="1188720"/>
          </a:xfrm>
          <a:prstGeom prst="round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822959" y="3657600"/>
            <a:ext cx="1005840" cy="1188720"/>
          </a:xfrm>
          <a:prstGeom prst="rect">
            <a:avLst/>
          </a:prstGeom>
          <a:noFill/>
        </p:spPr>
        <p:txBody>
          <a:bodyPr wrap="square" lIns="0" tIns="0" rIns="0" bIns="0" anchor="ctr">
            <a:noAutofit/>
          </a:bodyPr>
          <a:lstStyle/>
          <a:p>
            <a:pPr algn="l"/>
            <a:r>
              <a:rPr sz="3000" b="1"/>
              <a:t>03</a:t>
            </a:r>
          </a:p>
        </p:txBody>
      </p:sp>
      <p:sp>
        <p:nvSpPr>
          <p:cNvPr id="13" name="TextBox 12"/>
          <p:cNvSpPr txBox="1"/>
          <p:nvPr/>
        </p:nvSpPr>
        <p:spPr>
          <a:xfrm>
            <a:off x="1874519" y="3877056"/>
            <a:ext cx="3840480" cy="777240"/>
          </a:xfrm>
          <a:prstGeom prst="rect">
            <a:avLst/>
          </a:prstGeom>
          <a:noFill/>
        </p:spPr>
        <p:txBody>
          <a:bodyPr wrap="square" lIns="0" tIns="0" rIns="0" bIns="0" anchor="t">
            <a:noAutofit/>
          </a:bodyPr>
          <a:lstStyle/>
          <a:p>
            <a:pPr algn="l">
              <a:spcAft>
                <a:spcPts val="300"/>
              </a:spcAft>
            </a:pPr>
            <a:r>
              <a:rPr sz="1600" b="1" dirty="0" err="1"/>
              <a:t>L'application</a:t>
            </a:r>
            <a:r>
              <a:rPr sz="1600" b="1" dirty="0"/>
              <a:t> par </a:t>
            </a:r>
            <a:r>
              <a:rPr sz="1600" b="1" dirty="0" err="1"/>
              <a:t>rôle</a:t>
            </a:r>
            <a:endParaRPr sz="1600" b="1" dirty="0"/>
          </a:p>
          <a:p>
            <a:pPr algn="l">
              <a:lnSpc>
                <a:spcPct val="103000"/>
              </a:lnSpc>
            </a:pPr>
            <a:r>
              <a:rPr sz="1150" b="0" dirty="0" err="1"/>
              <a:t>Sécurité</a:t>
            </a:r>
            <a:r>
              <a:rPr sz="1150" b="0" dirty="0"/>
              <a:t>, </a:t>
            </a:r>
            <a:r>
              <a:rPr sz="1150" b="0" dirty="0" err="1"/>
              <a:t>secrétaire</a:t>
            </a:r>
            <a:r>
              <a:rPr sz="1150" b="0" dirty="0"/>
              <a:t>, </a:t>
            </a:r>
            <a:r>
              <a:rPr sz="1150" b="0" dirty="0" err="1"/>
              <a:t>médecin</a:t>
            </a:r>
            <a:r>
              <a:rPr sz="1150" b="0" dirty="0"/>
              <a:t>.</a:t>
            </a:r>
          </a:p>
        </p:txBody>
      </p:sp>
      <p:sp>
        <p:nvSpPr>
          <p:cNvPr id="14" name="Rounded Rectangle 13"/>
          <p:cNvSpPr/>
          <p:nvPr/>
        </p:nvSpPr>
        <p:spPr>
          <a:xfrm>
            <a:off x="6245352" y="3657600"/>
            <a:ext cx="5394960" cy="1188720"/>
          </a:xfrm>
          <a:prstGeom prst="round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6519672" y="3657600"/>
            <a:ext cx="1005840" cy="1188720"/>
          </a:xfrm>
          <a:prstGeom prst="rect">
            <a:avLst/>
          </a:prstGeom>
          <a:noFill/>
        </p:spPr>
        <p:txBody>
          <a:bodyPr wrap="square" lIns="0" tIns="0" rIns="0" bIns="0" anchor="ctr">
            <a:noAutofit/>
          </a:bodyPr>
          <a:lstStyle/>
          <a:p>
            <a:pPr algn="l"/>
            <a:r>
              <a:rPr sz="3000" b="1"/>
              <a:t>04</a:t>
            </a:r>
          </a:p>
        </p:txBody>
      </p:sp>
      <p:sp>
        <p:nvSpPr>
          <p:cNvPr id="16" name="TextBox 15"/>
          <p:cNvSpPr txBox="1"/>
          <p:nvPr/>
        </p:nvSpPr>
        <p:spPr>
          <a:xfrm>
            <a:off x="7571231" y="3877056"/>
            <a:ext cx="3840480" cy="777240"/>
          </a:xfrm>
          <a:prstGeom prst="rect">
            <a:avLst/>
          </a:prstGeom>
          <a:noFill/>
        </p:spPr>
        <p:txBody>
          <a:bodyPr wrap="square" lIns="0" tIns="0" rIns="0" bIns="0" anchor="t">
            <a:noAutofit/>
          </a:bodyPr>
          <a:lstStyle/>
          <a:p>
            <a:pPr algn="l">
              <a:spcAft>
                <a:spcPts val="300"/>
              </a:spcAft>
            </a:pPr>
            <a:r>
              <a:rPr sz="1600" b="1"/>
              <a:t>L'intelligence artificielle</a:t>
            </a:r>
          </a:p>
          <a:p>
            <a:pPr algn="l">
              <a:lnSpc>
                <a:spcPct val="103000"/>
              </a:lnSpc>
            </a:pPr>
            <a:r>
              <a:rPr sz="1150" b="0"/>
              <a:t>Aide au diagnostic et performances du modèle.</a:t>
            </a:r>
          </a:p>
        </p:txBody>
      </p:sp>
      <p:sp>
        <p:nvSpPr>
          <p:cNvPr id="17" name="Rounded Rectangle 16"/>
          <p:cNvSpPr/>
          <p:nvPr/>
        </p:nvSpPr>
        <p:spPr>
          <a:xfrm>
            <a:off x="548640" y="5029200"/>
            <a:ext cx="5394960" cy="1188720"/>
          </a:xfrm>
          <a:prstGeom prst="round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822959" y="5029200"/>
            <a:ext cx="1005840" cy="1188720"/>
          </a:xfrm>
          <a:prstGeom prst="rect">
            <a:avLst/>
          </a:prstGeom>
          <a:noFill/>
        </p:spPr>
        <p:txBody>
          <a:bodyPr wrap="square" lIns="0" tIns="0" rIns="0" bIns="0" anchor="ctr">
            <a:noAutofit/>
          </a:bodyPr>
          <a:lstStyle/>
          <a:p>
            <a:pPr algn="l"/>
            <a:r>
              <a:rPr sz="3000" b="1"/>
              <a:t>05</a:t>
            </a:r>
          </a:p>
        </p:txBody>
      </p:sp>
      <p:sp>
        <p:nvSpPr>
          <p:cNvPr id="19" name="TextBox 18"/>
          <p:cNvSpPr txBox="1"/>
          <p:nvPr/>
        </p:nvSpPr>
        <p:spPr>
          <a:xfrm>
            <a:off x="1874519" y="5248656"/>
            <a:ext cx="3840480" cy="777240"/>
          </a:xfrm>
          <a:prstGeom prst="rect">
            <a:avLst/>
          </a:prstGeom>
          <a:noFill/>
        </p:spPr>
        <p:txBody>
          <a:bodyPr wrap="square" lIns="0" tIns="0" rIns="0" bIns="0" anchor="t">
            <a:noAutofit/>
          </a:bodyPr>
          <a:lstStyle/>
          <a:p>
            <a:pPr algn="l">
              <a:spcAft>
                <a:spcPts val="300"/>
              </a:spcAft>
            </a:pPr>
            <a:r>
              <a:rPr sz="1600" b="1"/>
              <a:t>Services &amp; automatisation</a:t>
            </a:r>
          </a:p>
          <a:p>
            <a:pPr algn="l">
              <a:lnSpc>
                <a:spcPct val="103000"/>
              </a:lnSpc>
            </a:pPr>
            <a:r>
              <a:rPr sz="1150" b="0"/>
              <a:t>Ordonnances, téléconsultation, chatbot, WhatsApp.</a:t>
            </a:r>
          </a:p>
        </p:txBody>
      </p:sp>
      <p:sp>
        <p:nvSpPr>
          <p:cNvPr id="20" name="Rounded Rectangle 19"/>
          <p:cNvSpPr/>
          <p:nvPr/>
        </p:nvSpPr>
        <p:spPr>
          <a:xfrm>
            <a:off x="6245352" y="5029200"/>
            <a:ext cx="5394960" cy="1188720"/>
          </a:xfrm>
          <a:prstGeom prst="round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6519672" y="5029200"/>
            <a:ext cx="1005840" cy="1188720"/>
          </a:xfrm>
          <a:prstGeom prst="rect">
            <a:avLst/>
          </a:prstGeom>
          <a:noFill/>
        </p:spPr>
        <p:txBody>
          <a:bodyPr wrap="square" lIns="0" tIns="0" rIns="0" bIns="0" anchor="ctr">
            <a:noAutofit/>
          </a:bodyPr>
          <a:lstStyle/>
          <a:p>
            <a:pPr algn="l"/>
            <a:r>
              <a:rPr sz="3000" b="1"/>
              <a:t>06</a:t>
            </a:r>
          </a:p>
        </p:txBody>
      </p:sp>
      <p:sp>
        <p:nvSpPr>
          <p:cNvPr id="22" name="TextBox 21"/>
          <p:cNvSpPr txBox="1"/>
          <p:nvPr/>
        </p:nvSpPr>
        <p:spPr>
          <a:xfrm>
            <a:off x="7571231" y="5248656"/>
            <a:ext cx="3840480" cy="777240"/>
          </a:xfrm>
          <a:prstGeom prst="rect">
            <a:avLst/>
          </a:prstGeom>
          <a:noFill/>
        </p:spPr>
        <p:txBody>
          <a:bodyPr wrap="square" lIns="0" tIns="0" rIns="0" bIns="0" anchor="t">
            <a:noAutofit/>
          </a:bodyPr>
          <a:lstStyle/>
          <a:p>
            <a:pPr algn="l">
              <a:spcAft>
                <a:spcPts val="300"/>
              </a:spcAft>
            </a:pPr>
            <a:r>
              <a:rPr sz="1600" b="1"/>
              <a:t>Espace patient &amp; conclusion</a:t>
            </a:r>
          </a:p>
          <a:p>
            <a:pPr algn="l">
              <a:lnSpc>
                <a:spcPct val="103000"/>
              </a:lnSpc>
            </a:pPr>
            <a:r>
              <a:rPr sz="1150" b="0"/>
              <a:t>Portail patient, bilan et perspectives.</a:t>
            </a:r>
          </a:p>
        </p:txBody>
      </p:sp>
      <p:sp>
        <p:nvSpPr>
          <p:cNvPr id="23" name="Rectangle 22"/>
          <p:cNvSpPr/>
          <p:nvPr/>
        </p:nvSpPr>
        <p:spPr>
          <a:xfrm>
            <a:off x="548640" y="6419088"/>
            <a:ext cx="11091672" cy="127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4" name="Picture 23" descr="image.png"/>
          <p:cNvPicPr>
            <a:picLocks noChangeAspect="1"/>
          </p:cNvPicPr>
          <p:nvPr/>
        </p:nvPicPr>
        <p:blipFill>
          <a:blip r:embed="rId2"/>
          <a:stretch>
            <a:fillRect/>
          </a:stretch>
        </p:blipFill>
        <p:spPr>
          <a:xfrm>
            <a:off x="548640" y="6510528"/>
            <a:ext cx="329184" cy="219456"/>
          </a:xfrm>
          <a:prstGeom prst="rect">
            <a:avLst/>
          </a:prstGeom>
        </p:spPr>
      </p:pic>
      <p:sp>
        <p:nvSpPr>
          <p:cNvPr id="25" name="TextBox 24"/>
          <p:cNvSpPr txBox="1"/>
          <p:nvPr/>
        </p:nvSpPr>
        <p:spPr>
          <a:xfrm>
            <a:off x="868680" y="6519672"/>
            <a:ext cx="2743200" cy="274320"/>
          </a:xfrm>
          <a:prstGeom prst="rect">
            <a:avLst/>
          </a:prstGeom>
          <a:noFill/>
        </p:spPr>
        <p:txBody>
          <a:bodyPr wrap="square" lIns="0" tIns="0" rIns="0" bIns="0" anchor="t">
            <a:noAutofit/>
          </a:bodyPr>
          <a:lstStyle/>
          <a:p>
            <a:pPr algn="l"/>
            <a:r>
              <a:rPr sz="1050" b="1">
                <a:solidFill>
                  <a:srgbClr val="2A9B69"/>
                </a:solidFill>
                <a:latin typeface="Segoe UI"/>
              </a:rPr>
              <a:t>CuraMedical</a:t>
            </a:r>
          </a:p>
        </p:txBody>
      </p:sp>
      <p:sp>
        <p:nvSpPr>
          <p:cNvPr id="26" name="TextBox 25"/>
          <p:cNvSpPr txBox="1"/>
          <p:nvPr/>
        </p:nvSpPr>
        <p:spPr>
          <a:xfrm>
            <a:off x="7315200" y="6519672"/>
            <a:ext cx="4325112" cy="274320"/>
          </a:xfrm>
          <a:prstGeom prst="rect">
            <a:avLst/>
          </a:prstGeom>
          <a:noFill/>
        </p:spPr>
        <p:txBody>
          <a:bodyPr wrap="square" lIns="0" tIns="0" rIns="0" bIns="0" anchor="t">
            <a:noAutofit/>
          </a:bodyPr>
          <a:lstStyle/>
          <a:p>
            <a:pPr algn="r"/>
            <a:r>
              <a:rPr sz="1050" b="0">
                <a:solidFill>
                  <a:srgbClr val="64748B"/>
                </a:solidFill>
                <a:latin typeface="Segoe UI"/>
              </a:rPr>
              <a:t>01 / 18</a:t>
            </a:r>
          </a:p>
        </p:txBody>
      </p:sp>
      <p:sp>
        <p:nvSpPr>
          <p:cNvPr id="27" name="TextBox 26"/>
          <p:cNvSpPr txBox="1"/>
          <p:nvPr/>
        </p:nvSpPr>
        <p:spPr>
          <a:xfrm>
            <a:off x="3657600" y="6528816"/>
            <a:ext cx="4873752" cy="274320"/>
          </a:xfrm>
          <a:prstGeom prst="rect">
            <a:avLst/>
          </a:prstGeom>
          <a:noFill/>
        </p:spPr>
        <p:txBody>
          <a:bodyPr wrap="square" lIns="0" tIns="0" rIns="0" bIns="0" anchor="t">
            <a:noAutofit/>
          </a:bodyPr>
          <a:lstStyle/>
          <a:p>
            <a:pPr algn="ctr"/>
            <a:r>
              <a:rPr sz="900" b="1">
                <a:solidFill>
                  <a:srgbClr val="64748B"/>
                </a:solidFill>
                <a:latin typeface="Segoe UI"/>
              </a:rPr>
              <a:t>SOMMAIRE</a:t>
            </a:r>
          </a:p>
        </p:txBody>
      </p:sp>
      <p:pic>
        <p:nvPicPr>
          <p:cNvPr id="28" name="Image 27">
            <a:extLst>
              <a:ext uri="{FF2B5EF4-FFF2-40B4-BE49-F238E27FC236}">
                <a16:creationId xmlns:a16="http://schemas.microsoft.com/office/drawing/2014/main" id="{E24A7656-575A-4F88-B2E6-CAD743DB9D4B}"/>
              </a:ext>
            </a:extLst>
          </p:cNvPr>
          <p:cNvPicPr>
            <a:picLocks noChangeAspect="1"/>
          </p:cNvPicPr>
          <p:nvPr/>
        </p:nvPicPr>
        <p:blipFill>
          <a:blip r:embed="rId2"/>
          <a:stretch>
            <a:fillRect/>
          </a:stretch>
        </p:blipFill>
        <p:spPr>
          <a:xfrm>
            <a:off x="10357326" y="-249298"/>
            <a:ext cx="2584890" cy="172326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7F8FA"/>
        </a:solidFill>
        <a:effectLst/>
      </p:bgPr>
    </p:bg>
    <p:spTree>
      <p:nvGrpSpPr>
        <p:cNvPr id="1" name=""/>
        <p:cNvGrpSpPr/>
        <p:nvPr/>
      </p:nvGrpSpPr>
      <p:grpSpPr>
        <a:xfrm>
          <a:off x="0" y="0"/>
          <a:ext cx="0" cy="0"/>
          <a:chOff x="0" y="0"/>
          <a:chExt cx="0" cy="0"/>
        </a:xfrm>
      </p:grpSpPr>
      <p:sp>
        <p:nvSpPr>
          <p:cNvPr id="2" name="TextBox 1"/>
          <p:cNvSpPr txBox="1"/>
          <p:nvPr/>
        </p:nvSpPr>
        <p:spPr>
          <a:xfrm>
            <a:off x="566928" y="475488"/>
            <a:ext cx="10972800" cy="274320"/>
          </a:xfrm>
          <a:prstGeom prst="rect">
            <a:avLst/>
          </a:prstGeom>
          <a:noFill/>
        </p:spPr>
        <p:txBody>
          <a:bodyPr wrap="square" lIns="0" tIns="0" rIns="0" bIns="0" anchor="t">
            <a:noAutofit/>
          </a:bodyPr>
          <a:lstStyle/>
          <a:p>
            <a:pPr algn="l"/>
            <a:r>
              <a:rPr sz="1250" b="1">
                <a:solidFill>
                  <a:srgbClr val="2A9B69"/>
                </a:solidFill>
                <a:latin typeface="Segoe UI"/>
              </a:rPr>
              <a:t>CONTEXTE · PROBLÉMATIQUE</a:t>
            </a:r>
          </a:p>
        </p:txBody>
      </p:sp>
      <p:sp>
        <p:nvSpPr>
          <p:cNvPr id="3" name="TextBox 2"/>
          <p:cNvSpPr txBox="1"/>
          <p:nvPr/>
        </p:nvSpPr>
        <p:spPr>
          <a:xfrm>
            <a:off x="548640" y="768096"/>
            <a:ext cx="11064240" cy="868680"/>
          </a:xfrm>
          <a:prstGeom prst="rect">
            <a:avLst/>
          </a:prstGeom>
          <a:noFill/>
        </p:spPr>
        <p:txBody>
          <a:bodyPr wrap="square" lIns="0" tIns="0" rIns="0" bIns="0" anchor="t">
            <a:noAutofit/>
          </a:bodyPr>
          <a:lstStyle/>
          <a:p>
            <a:pPr algn="l"/>
            <a:r>
              <a:rPr sz="3800" b="1">
                <a:solidFill>
                  <a:srgbClr val="0F172A"/>
                </a:solidFill>
                <a:latin typeface="Segoe UI"/>
              </a:rPr>
              <a:t>Le constat</a:t>
            </a:r>
          </a:p>
        </p:txBody>
      </p:sp>
      <p:sp>
        <p:nvSpPr>
          <p:cNvPr id="4" name="TextBox 3"/>
          <p:cNvSpPr txBox="1"/>
          <p:nvPr/>
        </p:nvSpPr>
        <p:spPr>
          <a:xfrm>
            <a:off x="566928" y="1517904"/>
            <a:ext cx="10789920" cy="548640"/>
          </a:xfrm>
          <a:prstGeom prst="rect">
            <a:avLst/>
          </a:prstGeom>
          <a:noFill/>
        </p:spPr>
        <p:txBody>
          <a:bodyPr wrap="square" lIns="0" tIns="0" rIns="0" bIns="0" anchor="t">
            <a:noAutofit/>
          </a:bodyPr>
          <a:lstStyle/>
          <a:p>
            <a:pPr algn="l"/>
            <a:r>
              <a:rPr sz="1700" b="0">
                <a:solidFill>
                  <a:srgbClr val="64748B"/>
                </a:solidFill>
                <a:latin typeface="Segoe UI"/>
              </a:rPr>
              <a:t>La gestion d'un cabinet médical reste freinée par des outils éparpillés et l'absence d'aide à la décision.</a:t>
            </a:r>
          </a:p>
        </p:txBody>
      </p:sp>
      <p:sp>
        <p:nvSpPr>
          <p:cNvPr id="5" name="TextBox 4"/>
          <p:cNvSpPr txBox="1"/>
          <p:nvPr/>
        </p:nvSpPr>
        <p:spPr>
          <a:xfrm>
            <a:off x="566928" y="2240280"/>
            <a:ext cx="5486400" cy="3749039"/>
          </a:xfrm>
          <a:prstGeom prst="rect">
            <a:avLst/>
          </a:prstGeom>
          <a:noFill/>
        </p:spPr>
        <p:txBody>
          <a:bodyPr wrap="square" lIns="0" tIns="0" rIns="0" bIns="0" anchor="t">
            <a:noAutofit/>
          </a:bodyPr>
          <a:lstStyle/>
          <a:p>
            <a:pPr algn="l">
              <a:lnSpc>
                <a:spcPct val="112000"/>
              </a:lnSpc>
              <a:spcAft>
                <a:spcPts val="1100"/>
              </a:spcAft>
            </a:pPr>
            <a:r>
              <a:rPr sz="1600" b="1">
                <a:solidFill>
                  <a:srgbClr val="2A9B69"/>
                </a:solidFill>
                <a:latin typeface="Segoe UI"/>
              </a:rPr>
              <a:t>›  </a:t>
            </a:r>
            <a:r>
              <a:rPr sz="1600" b="1">
                <a:solidFill>
                  <a:srgbClr val="0F172A"/>
                </a:solidFill>
                <a:latin typeface="Segoe UI"/>
              </a:rPr>
              <a:t>Le temps administratif </a:t>
            </a:r>
            <a:r>
              <a:rPr sz="1600" b="0">
                <a:solidFill>
                  <a:srgbClr val="64748B"/>
                </a:solidFill>
                <a:latin typeface="Segoe UI"/>
              </a:rPr>
              <a:t>empiète sur le temps médical.</a:t>
            </a:r>
          </a:p>
          <a:p>
            <a:pPr algn="l">
              <a:lnSpc>
                <a:spcPct val="112000"/>
              </a:lnSpc>
              <a:spcAft>
                <a:spcPts val="1100"/>
              </a:spcAft>
            </a:pPr>
            <a:r>
              <a:rPr sz="1600" b="1">
                <a:solidFill>
                  <a:srgbClr val="2A9B69"/>
                </a:solidFill>
                <a:latin typeface="Segoe UI"/>
              </a:rPr>
              <a:t>›  </a:t>
            </a:r>
            <a:r>
              <a:rPr sz="1600" b="1">
                <a:solidFill>
                  <a:srgbClr val="0F172A"/>
                </a:solidFill>
                <a:latin typeface="Segoe UI"/>
              </a:rPr>
              <a:t>Risques d'erreurs et d'oublis : </a:t>
            </a:r>
            <a:r>
              <a:rPr sz="1600" b="0">
                <a:solidFill>
                  <a:srgbClr val="64748B"/>
                </a:solidFill>
                <a:latin typeface="Segoe UI"/>
              </a:rPr>
              <a:t>diagnostics, suivis, rendez-vous.</a:t>
            </a:r>
          </a:p>
          <a:p>
            <a:pPr algn="l">
              <a:lnSpc>
                <a:spcPct val="112000"/>
              </a:lnSpc>
              <a:spcAft>
                <a:spcPts val="1100"/>
              </a:spcAft>
            </a:pPr>
            <a:r>
              <a:rPr sz="1600" b="1">
                <a:solidFill>
                  <a:srgbClr val="2A9B69"/>
                </a:solidFill>
                <a:latin typeface="Segoe UI"/>
              </a:rPr>
              <a:t>›  </a:t>
            </a:r>
            <a:r>
              <a:rPr sz="1600" b="1">
                <a:solidFill>
                  <a:srgbClr val="0F172A"/>
                </a:solidFill>
                <a:latin typeface="Segoe UI"/>
              </a:rPr>
              <a:t>Aucun outil d'aide à la décision </a:t>
            </a:r>
            <a:r>
              <a:rPr sz="1600" b="0">
                <a:solidFill>
                  <a:srgbClr val="64748B"/>
                </a:solidFill>
                <a:latin typeface="Segoe UI"/>
              </a:rPr>
              <a:t>diagnostique au quotidien.</a:t>
            </a:r>
          </a:p>
          <a:p>
            <a:pPr algn="l">
              <a:lnSpc>
                <a:spcPct val="112000"/>
              </a:lnSpc>
              <a:spcAft>
                <a:spcPts val="1100"/>
              </a:spcAft>
            </a:pPr>
            <a:r>
              <a:rPr sz="1600" b="1">
                <a:solidFill>
                  <a:srgbClr val="2A9B69"/>
                </a:solidFill>
                <a:latin typeface="Segoe UI"/>
              </a:rPr>
              <a:t>›  </a:t>
            </a:r>
            <a:r>
              <a:rPr sz="1600" b="1">
                <a:solidFill>
                  <a:srgbClr val="0F172A"/>
                </a:solidFill>
                <a:latin typeface="Segoe UI"/>
              </a:rPr>
              <a:t>Communication patient limitée : </a:t>
            </a:r>
            <a:r>
              <a:rPr sz="1600" b="0">
                <a:solidFill>
                  <a:srgbClr val="64748B"/>
                </a:solidFill>
                <a:latin typeface="Segoe UI"/>
              </a:rPr>
              <a:t>rappels, transmission des documents.</a:t>
            </a:r>
          </a:p>
        </p:txBody>
      </p:sp>
      <p:sp>
        <p:nvSpPr>
          <p:cNvPr id="8" name="Rectangle 7"/>
          <p:cNvSpPr/>
          <p:nvPr/>
        </p:nvSpPr>
        <p:spPr>
          <a:xfrm>
            <a:off x="548640" y="6419088"/>
            <a:ext cx="11091672" cy="127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9" name="Picture 8" descr="00-icone-curamedical.png"/>
          <p:cNvPicPr>
            <a:picLocks noChangeAspect="1"/>
          </p:cNvPicPr>
          <p:nvPr/>
        </p:nvPicPr>
        <p:blipFill>
          <a:blip r:embed="rId2"/>
          <a:stretch>
            <a:fillRect/>
          </a:stretch>
        </p:blipFill>
        <p:spPr>
          <a:xfrm>
            <a:off x="548640" y="6510528"/>
            <a:ext cx="329184" cy="219456"/>
          </a:xfrm>
          <a:prstGeom prst="rect">
            <a:avLst/>
          </a:prstGeom>
        </p:spPr>
      </p:pic>
      <p:sp>
        <p:nvSpPr>
          <p:cNvPr id="10" name="TextBox 9"/>
          <p:cNvSpPr txBox="1"/>
          <p:nvPr/>
        </p:nvSpPr>
        <p:spPr>
          <a:xfrm>
            <a:off x="868680" y="6519672"/>
            <a:ext cx="4572000" cy="274320"/>
          </a:xfrm>
          <a:prstGeom prst="rect">
            <a:avLst/>
          </a:prstGeom>
          <a:noFill/>
        </p:spPr>
        <p:txBody>
          <a:bodyPr wrap="square" lIns="0" tIns="0" rIns="0" bIns="0" anchor="t">
            <a:noAutofit/>
          </a:bodyPr>
          <a:lstStyle/>
          <a:p>
            <a:pPr algn="l"/>
            <a:r>
              <a:rPr sz="1050" b="1">
                <a:solidFill>
                  <a:srgbClr val="2A9B69"/>
                </a:solidFill>
                <a:latin typeface="Segoe UI"/>
              </a:rPr>
              <a:t>CuraMedical</a:t>
            </a:r>
          </a:p>
        </p:txBody>
      </p:sp>
      <p:sp>
        <p:nvSpPr>
          <p:cNvPr id="11" name="TextBox 10"/>
          <p:cNvSpPr txBox="1"/>
          <p:nvPr/>
        </p:nvSpPr>
        <p:spPr>
          <a:xfrm>
            <a:off x="7315200" y="6519672"/>
            <a:ext cx="4325112" cy="274320"/>
          </a:xfrm>
          <a:prstGeom prst="rect">
            <a:avLst/>
          </a:prstGeom>
          <a:noFill/>
        </p:spPr>
        <p:txBody>
          <a:bodyPr wrap="square" lIns="0" tIns="0" rIns="0" bIns="0" anchor="t">
            <a:noAutofit/>
          </a:bodyPr>
          <a:lstStyle/>
          <a:p>
            <a:pPr algn="r"/>
            <a:r>
              <a:rPr sz="1050" b="0">
                <a:solidFill>
                  <a:srgbClr val="64748B"/>
                </a:solidFill>
                <a:latin typeface="Segoe UI"/>
              </a:rPr>
              <a:t>02 / 18</a:t>
            </a:r>
          </a:p>
        </p:txBody>
      </p:sp>
      <p:pic>
        <p:nvPicPr>
          <p:cNvPr id="13" name="Image 12">
            <a:extLst>
              <a:ext uri="{FF2B5EF4-FFF2-40B4-BE49-F238E27FC236}">
                <a16:creationId xmlns:a16="http://schemas.microsoft.com/office/drawing/2014/main" id="{3E01FF4E-1919-4AD6-9BDC-29D938680448}"/>
              </a:ext>
            </a:extLst>
          </p:cNvPr>
          <p:cNvPicPr>
            <a:picLocks noChangeAspect="1"/>
          </p:cNvPicPr>
          <p:nvPr/>
        </p:nvPicPr>
        <p:blipFill>
          <a:blip r:embed="rId2"/>
          <a:stretch>
            <a:fillRect/>
          </a:stretch>
        </p:blipFill>
        <p:spPr>
          <a:xfrm>
            <a:off x="10357326" y="-249298"/>
            <a:ext cx="2584890" cy="1723260"/>
          </a:xfrm>
          <a:prstGeom prst="rect">
            <a:avLst/>
          </a:prstGeom>
        </p:spPr>
      </p:pic>
      <p:sp>
        <p:nvSpPr>
          <p:cNvPr id="14" name="TextBox 13"/>
          <p:cNvSpPr txBox="1"/>
          <p:nvPr/>
        </p:nvSpPr>
        <p:spPr>
          <a:xfrm>
            <a:off x="3657600" y="6528816"/>
            <a:ext cx="4873752" cy="274320"/>
          </a:xfrm>
          <a:prstGeom prst="rect">
            <a:avLst/>
          </a:prstGeom>
          <a:noFill/>
        </p:spPr>
        <p:txBody>
          <a:bodyPr wrap="square" lIns="0" tIns="0" rIns="0" bIns="0" anchor="t">
            <a:noAutofit/>
          </a:bodyPr>
          <a:lstStyle/>
          <a:p>
            <a:pPr algn="ctr"/>
            <a:r>
              <a:rPr sz="900" b="1">
                <a:solidFill>
                  <a:srgbClr val="64748B"/>
                </a:solidFill>
                <a:latin typeface="Segoe UI"/>
              </a:rPr>
              <a:t>PARTIE 1 · CONTEXTE &amp; OBJECTIFS</a:t>
            </a:r>
          </a:p>
        </p:txBody>
      </p:sp>
      <p:sp>
        <p:nvSpPr>
          <p:cNvPr id="16" name="Oval 15"/>
          <p:cNvSpPr/>
          <p:nvPr/>
        </p:nvSpPr>
        <p:spPr>
          <a:xfrm>
            <a:off x="7297200" y="2113200"/>
            <a:ext cx="3981600" cy="3981600"/>
          </a:xfrm>
          <a:prstGeom prst="ellipse">
            <a:avLst/>
          </a:prstGeom>
          <a:solidFill>
            <a:srgbClr val="D9EE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5" name="Picture 14" descr="03-constat-illustration.png"/>
          <p:cNvPicPr>
            <a:picLocks noChangeAspect="1"/>
          </p:cNvPicPr>
          <p:nvPr/>
        </p:nvPicPr>
        <p:blipFill>
          <a:blip r:embed="rId3"/>
          <a:srcRect l="21875" r="21875"/>
          <a:stretch>
            <a:fillRect/>
          </a:stretch>
        </p:blipFill>
        <p:spPr>
          <a:xfrm>
            <a:off x="7380000" y="2196000"/>
            <a:ext cx="3816000" cy="3816000"/>
          </a:xfrm>
          <a:prstGeom prst="ellipse">
            <a:avLst/>
          </a:prstGeom>
          <a:ln w="19050">
            <a:solidFill>
              <a:srgbClr val="FFFFFF"/>
            </a:solidFill>
          </a:ln>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7F8FA"/>
        </a:solidFill>
        <a:effectLst/>
      </p:bgPr>
    </p:bg>
    <p:spTree>
      <p:nvGrpSpPr>
        <p:cNvPr id="1" name=""/>
        <p:cNvGrpSpPr/>
        <p:nvPr/>
      </p:nvGrpSpPr>
      <p:grpSpPr>
        <a:xfrm>
          <a:off x="0" y="0"/>
          <a:ext cx="0" cy="0"/>
          <a:chOff x="0" y="0"/>
          <a:chExt cx="0" cy="0"/>
        </a:xfrm>
      </p:grpSpPr>
      <p:sp>
        <p:nvSpPr>
          <p:cNvPr id="2" name="TextBox 1"/>
          <p:cNvSpPr txBox="1"/>
          <p:nvPr/>
        </p:nvSpPr>
        <p:spPr>
          <a:xfrm>
            <a:off x="566928" y="475488"/>
            <a:ext cx="10972800" cy="274320"/>
          </a:xfrm>
          <a:prstGeom prst="rect">
            <a:avLst/>
          </a:prstGeom>
          <a:noFill/>
        </p:spPr>
        <p:txBody>
          <a:bodyPr wrap="square" lIns="0" tIns="0" rIns="0" bIns="0" anchor="t">
            <a:noAutofit/>
          </a:bodyPr>
          <a:lstStyle/>
          <a:p>
            <a:pPr algn="l"/>
            <a:r>
              <a:rPr sz="1250" b="1">
                <a:solidFill>
                  <a:srgbClr val="2A9B69"/>
                </a:solidFill>
                <a:latin typeface="Segoe UI"/>
              </a:rPr>
              <a:t>OBJECTIFS · PÉRIMÈTRE</a:t>
            </a:r>
          </a:p>
        </p:txBody>
      </p:sp>
      <p:sp>
        <p:nvSpPr>
          <p:cNvPr id="3" name="TextBox 2"/>
          <p:cNvSpPr txBox="1"/>
          <p:nvPr/>
        </p:nvSpPr>
        <p:spPr>
          <a:xfrm>
            <a:off x="548640" y="768096"/>
            <a:ext cx="11064240" cy="868680"/>
          </a:xfrm>
          <a:prstGeom prst="rect">
            <a:avLst/>
          </a:prstGeom>
          <a:noFill/>
        </p:spPr>
        <p:txBody>
          <a:bodyPr wrap="square" lIns="0" tIns="0" rIns="0" bIns="0" anchor="t">
            <a:noAutofit/>
          </a:bodyPr>
          <a:lstStyle/>
          <a:p>
            <a:pPr algn="l"/>
            <a:r>
              <a:rPr sz="3800" b="1">
                <a:solidFill>
                  <a:srgbClr val="0F172A"/>
                </a:solidFill>
                <a:latin typeface="Segoe UI"/>
              </a:rPr>
              <a:t>Notre réponse</a:t>
            </a:r>
          </a:p>
        </p:txBody>
      </p:sp>
      <p:sp>
        <p:nvSpPr>
          <p:cNvPr id="4" name="TextBox 3"/>
          <p:cNvSpPr txBox="1"/>
          <p:nvPr/>
        </p:nvSpPr>
        <p:spPr>
          <a:xfrm>
            <a:off x="566928" y="1517904"/>
            <a:ext cx="10789920" cy="548640"/>
          </a:xfrm>
          <a:prstGeom prst="rect">
            <a:avLst/>
          </a:prstGeom>
          <a:noFill/>
        </p:spPr>
        <p:txBody>
          <a:bodyPr wrap="square" lIns="0" tIns="0" rIns="0" bIns="0" anchor="t">
            <a:noAutofit/>
          </a:bodyPr>
          <a:lstStyle/>
          <a:p>
            <a:pPr algn="l"/>
            <a:r>
              <a:rPr sz="1700" b="0">
                <a:solidFill>
                  <a:srgbClr val="64748B"/>
                </a:solidFill>
                <a:latin typeface="Segoe UI"/>
              </a:rPr>
              <a:t>Une seule plateforme pour réunir gestion, diagnostic assisté, sécurité et communication.</a:t>
            </a:r>
          </a:p>
        </p:txBody>
      </p:sp>
      <p:sp>
        <p:nvSpPr>
          <p:cNvPr id="5" name="Rounded Rectangle 4"/>
          <p:cNvSpPr/>
          <p:nvPr/>
        </p:nvSpPr>
        <p:spPr>
          <a:xfrm>
            <a:off x="548640" y="2286000"/>
            <a:ext cx="3511296" cy="1737360"/>
          </a:xfrm>
          <a:prstGeom prst="round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77240" y="2487168"/>
            <a:ext cx="3054096" cy="1371600"/>
          </a:xfrm>
          <a:prstGeom prst="rect">
            <a:avLst/>
          </a:prstGeom>
          <a:noFill/>
        </p:spPr>
        <p:txBody>
          <a:bodyPr wrap="square" lIns="0" tIns="0" rIns="0" bIns="0" anchor="t">
            <a:noAutofit/>
          </a:bodyPr>
          <a:lstStyle/>
          <a:p>
            <a:pPr algn="l">
              <a:spcAft>
                <a:spcPts val="600"/>
              </a:spcAft>
            </a:pPr>
            <a:r>
              <a:rPr sz="1700" b="1">
                <a:solidFill>
                  <a:srgbClr val="2A9B69"/>
                </a:solidFill>
                <a:latin typeface="Segoe UI"/>
              </a:rPr>
              <a:t>Centraliser</a:t>
            </a:r>
          </a:p>
          <a:p>
            <a:pPr algn="l">
              <a:lnSpc>
                <a:spcPct val="110000"/>
              </a:lnSpc>
            </a:pPr>
            <a:r>
              <a:rPr sz="1300" b="0">
                <a:solidFill>
                  <a:srgbClr val="64748B"/>
                </a:solidFill>
                <a:latin typeface="Segoe UI"/>
              </a:rPr>
              <a:t>Toute la gestion réunie sur une seule plateforme web.</a:t>
            </a:r>
          </a:p>
        </p:txBody>
      </p:sp>
      <p:sp>
        <p:nvSpPr>
          <p:cNvPr id="7" name="Rounded Rectangle 6"/>
          <p:cNvSpPr/>
          <p:nvPr/>
        </p:nvSpPr>
        <p:spPr>
          <a:xfrm>
            <a:off x="4334255" y="2286000"/>
            <a:ext cx="3511296" cy="1737360"/>
          </a:xfrm>
          <a:prstGeom prst="round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4562855" y="2487168"/>
            <a:ext cx="3054096" cy="1371600"/>
          </a:xfrm>
          <a:prstGeom prst="rect">
            <a:avLst/>
          </a:prstGeom>
          <a:noFill/>
        </p:spPr>
        <p:txBody>
          <a:bodyPr wrap="square" lIns="0" tIns="0" rIns="0" bIns="0" anchor="t">
            <a:noAutofit/>
          </a:bodyPr>
          <a:lstStyle/>
          <a:p>
            <a:pPr algn="l">
              <a:spcAft>
                <a:spcPts val="600"/>
              </a:spcAft>
            </a:pPr>
            <a:r>
              <a:rPr sz="1700" b="1">
                <a:solidFill>
                  <a:srgbClr val="2A9B69"/>
                </a:solidFill>
                <a:latin typeface="Segoe UI"/>
              </a:rPr>
              <a:t>Assister</a:t>
            </a:r>
          </a:p>
          <a:p>
            <a:pPr algn="l">
              <a:lnSpc>
                <a:spcPct val="110000"/>
              </a:lnSpc>
            </a:pPr>
            <a:r>
              <a:rPr sz="1300" b="0">
                <a:solidFill>
                  <a:srgbClr val="64748B"/>
                </a:solidFill>
                <a:latin typeface="Segoe UI"/>
              </a:rPr>
              <a:t>Aide au diagnostic par intelligence artificielle.</a:t>
            </a:r>
          </a:p>
        </p:txBody>
      </p:sp>
      <p:sp>
        <p:nvSpPr>
          <p:cNvPr id="9" name="Rounded Rectangle 8"/>
          <p:cNvSpPr/>
          <p:nvPr/>
        </p:nvSpPr>
        <p:spPr>
          <a:xfrm>
            <a:off x="8119871" y="2286000"/>
            <a:ext cx="3511296" cy="1737360"/>
          </a:xfrm>
          <a:prstGeom prst="round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8348471" y="2487168"/>
            <a:ext cx="3054096" cy="1371600"/>
          </a:xfrm>
          <a:prstGeom prst="rect">
            <a:avLst/>
          </a:prstGeom>
          <a:noFill/>
        </p:spPr>
        <p:txBody>
          <a:bodyPr wrap="square" lIns="0" tIns="0" rIns="0" bIns="0" anchor="t">
            <a:noAutofit/>
          </a:bodyPr>
          <a:lstStyle/>
          <a:p>
            <a:pPr algn="l">
              <a:spcAft>
                <a:spcPts val="600"/>
              </a:spcAft>
            </a:pPr>
            <a:r>
              <a:rPr sz="1700" b="1">
                <a:solidFill>
                  <a:srgbClr val="2A9B69"/>
                </a:solidFill>
                <a:latin typeface="Segoe UI"/>
              </a:rPr>
              <a:t>Sécuriser</a:t>
            </a:r>
          </a:p>
          <a:p>
            <a:pPr algn="l">
              <a:lnSpc>
                <a:spcPct val="110000"/>
              </a:lnSpc>
            </a:pPr>
            <a:r>
              <a:rPr sz="1300" b="0">
                <a:solidFill>
                  <a:srgbClr val="64748B"/>
                </a:solidFill>
                <a:latin typeface="Segoe UI"/>
              </a:rPr>
              <a:t>Accès cloisonné selon 4 rôles distincts.</a:t>
            </a:r>
          </a:p>
        </p:txBody>
      </p:sp>
      <p:sp>
        <p:nvSpPr>
          <p:cNvPr id="11" name="Rounded Rectangle 10"/>
          <p:cNvSpPr/>
          <p:nvPr/>
        </p:nvSpPr>
        <p:spPr>
          <a:xfrm>
            <a:off x="548640" y="4279392"/>
            <a:ext cx="3511296" cy="1737360"/>
          </a:xfrm>
          <a:prstGeom prst="round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777240" y="4480559"/>
            <a:ext cx="3054096" cy="1371600"/>
          </a:xfrm>
          <a:prstGeom prst="rect">
            <a:avLst/>
          </a:prstGeom>
          <a:noFill/>
        </p:spPr>
        <p:txBody>
          <a:bodyPr wrap="square" lIns="0" tIns="0" rIns="0" bIns="0" anchor="t">
            <a:noAutofit/>
          </a:bodyPr>
          <a:lstStyle/>
          <a:p>
            <a:pPr algn="l">
              <a:spcAft>
                <a:spcPts val="600"/>
              </a:spcAft>
            </a:pPr>
            <a:r>
              <a:rPr sz="1700" b="1">
                <a:solidFill>
                  <a:srgbClr val="2A9B69"/>
                </a:solidFill>
                <a:latin typeface="Segoe UI"/>
              </a:rPr>
              <a:t>Digitaliser</a:t>
            </a:r>
          </a:p>
          <a:p>
            <a:pPr algn="l">
              <a:lnSpc>
                <a:spcPct val="110000"/>
              </a:lnSpc>
            </a:pPr>
            <a:r>
              <a:rPr sz="1300" b="0">
                <a:solidFill>
                  <a:srgbClr val="64748B"/>
                </a:solidFill>
                <a:latin typeface="Segoe UI"/>
              </a:rPr>
              <a:t>Ordonnances et comptes-rendus PDF automatiques.</a:t>
            </a:r>
          </a:p>
        </p:txBody>
      </p:sp>
      <p:sp>
        <p:nvSpPr>
          <p:cNvPr id="13" name="Rounded Rectangle 12"/>
          <p:cNvSpPr/>
          <p:nvPr/>
        </p:nvSpPr>
        <p:spPr>
          <a:xfrm>
            <a:off x="4334255" y="4279392"/>
            <a:ext cx="3511296" cy="1737360"/>
          </a:xfrm>
          <a:prstGeom prst="round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4562855" y="4480559"/>
            <a:ext cx="3054096" cy="1371600"/>
          </a:xfrm>
          <a:prstGeom prst="rect">
            <a:avLst/>
          </a:prstGeom>
          <a:noFill/>
        </p:spPr>
        <p:txBody>
          <a:bodyPr wrap="square" lIns="0" tIns="0" rIns="0" bIns="0" anchor="t">
            <a:noAutofit/>
          </a:bodyPr>
          <a:lstStyle/>
          <a:p>
            <a:pPr algn="l">
              <a:spcAft>
                <a:spcPts val="600"/>
              </a:spcAft>
            </a:pPr>
            <a:r>
              <a:rPr sz="1700" b="1">
                <a:solidFill>
                  <a:srgbClr val="2A9B69"/>
                </a:solidFill>
                <a:latin typeface="Segoe UI"/>
              </a:rPr>
              <a:t>Faciliter l'accès</a:t>
            </a:r>
          </a:p>
          <a:p>
            <a:pPr algn="l">
              <a:lnSpc>
                <a:spcPct val="110000"/>
              </a:lnSpc>
            </a:pPr>
            <a:r>
              <a:rPr sz="1300" b="0">
                <a:solidFill>
                  <a:srgbClr val="64748B"/>
                </a:solidFill>
                <a:latin typeface="Segoe UI"/>
              </a:rPr>
              <a:t>Téléconsultation et espace patient en ligne.</a:t>
            </a:r>
          </a:p>
        </p:txBody>
      </p:sp>
      <p:sp>
        <p:nvSpPr>
          <p:cNvPr id="15" name="Rounded Rectangle 14"/>
          <p:cNvSpPr/>
          <p:nvPr/>
        </p:nvSpPr>
        <p:spPr>
          <a:xfrm>
            <a:off x="8119871" y="4279392"/>
            <a:ext cx="3511296" cy="1737360"/>
          </a:xfrm>
          <a:prstGeom prst="round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8348471" y="4480559"/>
            <a:ext cx="3054096" cy="1371600"/>
          </a:xfrm>
          <a:prstGeom prst="rect">
            <a:avLst/>
          </a:prstGeom>
          <a:noFill/>
        </p:spPr>
        <p:txBody>
          <a:bodyPr wrap="square" lIns="0" tIns="0" rIns="0" bIns="0" anchor="t">
            <a:noAutofit/>
          </a:bodyPr>
          <a:lstStyle/>
          <a:p>
            <a:pPr algn="l">
              <a:spcAft>
                <a:spcPts val="600"/>
              </a:spcAft>
            </a:pPr>
            <a:r>
              <a:rPr sz="1700" b="1">
                <a:solidFill>
                  <a:srgbClr val="2A9B69"/>
                </a:solidFill>
                <a:latin typeface="Segoe UI"/>
              </a:rPr>
              <a:t>Automatiser</a:t>
            </a:r>
          </a:p>
          <a:p>
            <a:pPr algn="l">
              <a:lnSpc>
                <a:spcPct val="110000"/>
              </a:lnSpc>
            </a:pPr>
            <a:r>
              <a:rPr sz="1300" b="0">
                <a:solidFill>
                  <a:srgbClr val="64748B"/>
                </a:solidFill>
                <a:latin typeface="Segoe UI"/>
              </a:rPr>
              <a:t>Rappels et envois via WhatsApp et e-mail.</a:t>
            </a:r>
          </a:p>
        </p:txBody>
      </p:sp>
      <p:sp>
        <p:nvSpPr>
          <p:cNvPr id="17" name="Rectangle 16"/>
          <p:cNvSpPr/>
          <p:nvPr/>
        </p:nvSpPr>
        <p:spPr>
          <a:xfrm>
            <a:off x="548640" y="6419088"/>
            <a:ext cx="11091672" cy="127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8" name="Picture 17" descr="00-icone-curamedical.png"/>
          <p:cNvPicPr>
            <a:picLocks noChangeAspect="1"/>
          </p:cNvPicPr>
          <p:nvPr/>
        </p:nvPicPr>
        <p:blipFill>
          <a:blip r:embed="rId2"/>
          <a:stretch>
            <a:fillRect/>
          </a:stretch>
        </p:blipFill>
        <p:spPr>
          <a:xfrm>
            <a:off x="548640" y="6510528"/>
            <a:ext cx="329184" cy="219456"/>
          </a:xfrm>
          <a:prstGeom prst="rect">
            <a:avLst/>
          </a:prstGeom>
        </p:spPr>
      </p:pic>
      <p:sp>
        <p:nvSpPr>
          <p:cNvPr id="19" name="TextBox 18"/>
          <p:cNvSpPr txBox="1"/>
          <p:nvPr/>
        </p:nvSpPr>
        <p:spPr>
          <a:xfrm>
            <a:off x="868680" y="6519672"/>
            <a:ext cx="4572000" cy="274320"/>
          </a:xfrm>
          <a:prstGeom prst="rect">
            <a:avLst/>
          </a:prstGeom>
          <a:noFill/>
        </p:spPr>
        <p:txBody>
          <a:bodyPr wrap="square" lIns="0" tIns="0" rIns="0" bIns="0" anchor="t">
            <a:noAutofit/>
          </a:bodyPr>
          <a:lstStyle/>
          <a:p>
            <a:pPr algn="l"/>
            <a:r>
              <a:rPr sz="1050" b="1">
                <a:solidFill>
                  <a:srgbClr val="2A9B69"/>
                </a:solidFill>
                <a:latin typeface="Segoe UI"/>
              </a:rPr>
              <a:t>CuraMedical</a:t>
            </a:r>
          </a:p>
        </p:txBody>
      </p:sp>
      <p:sp>
        <p:nvSpPr>
          <p:cNvPr id="20" name="TextBox 19"/>
          <p:cNvSpPr txBox="1"/>
          <p:nvPr/>
        </p:nvSpPr>
        <p:spPr>
          <a:xfrm>
            <a:off x="7315200" y="6519672"/>
            <a:ext cx="4325112" cy="274320"/>
          </a:xfrm>
          <a:prstGeom prst="rect">
            <a:avLst/>
          </a:prstGeom>
          <a:noFill/>
        </p:spPr>
        <p:txBody>
          <a:bodyPr wrap="square" lIns="0" tIns="0" rIns="0" bIns="0" anchor="t">
            <a:noAutofit/>
          </a:bodyPr>
          <a:lstStyle/>
          <a:p>
            <a:pPr algn="r"/>
            <a:r>
              <a:rPr sz="1050" b="0">
                <a:solidFill>
                  <a:srgbClr val="64748B"/>
                </a:solidFill>
                <a:latin typeface="Segoe UI"/>
              </a:rPr>
              <a:t>03 / 18</a:t>
            </a:r>
          </a:p>
        </p:txBody>
      </p:sp>
      <p:pic>
        <p:nvPicPr>
          <p:cNvPr id="21" name="Image 20">
            <a:extLst>
              <a:ext uri="{FF2B5EF4-FFF2-40B4-BE49-F238E27FC236}">
                <a16:creationId xmlns:a16="http://schemas.microsoft.com/office/drawing/2014/main" id="{0E130F57-57DD-4E42-84AC-128D56B8CEC7}"/>
              </a:ext>
            </a:extLst>
          </p:cNvPr>
          <p:cNvPicPr>
            <a:picLocks noChangeAspect="1"/>
          </p:cNvPicPr>
          <p:nvPr/>
        </p:nvPicPr>
        <p:blipFill>
          <a:blip r:embed="rId2"/>
          <a:stretch>
            <a:fillRect/>
          </a:stretch>
        </p:blipFill>
        <p:spPr>
          <a:xfrm>
            <a:off x="10357326" y="-249298"/>
            <a:ext cx="2584890" cy="1723260"/>
          </a:xfrm>
          <a:prstGeom prst="rect">
            <a:avLst/>
          </a:prstGeom>
        </p:spPr>
      </p:pic>
      <p:sp>
        <p:nvSpPr>
          <p:cNvPr id="22" name="TextBox 21"/>
          <p:cNvSpPr txBox="1"/>
          <p:nvPr/>
        </p:nvSpPr>
        <p:spPr>
          <a:xfrm>
            <a:off x="3657600" y="6528816"/>
            <a:ext cx="4873752" cy="274320"/>
          </a:xfrm>
          <a:prstGeom prst="rect">
            <a:avLst/>
          </a:prstGeom>
          <a:noFill/>
        </p:spPr>
        <p:txBody>
          <a:bodyPr wrap="square" lIns="0" tIns="0" rIns="0" bIns="0" anchor="t">
            <a:noAutofit/>
          </a:bodyPr>
          <a:lstStyle/>
          <a:p>
            <a:pPr algn="ctr"/>
            <a:r>
              <a:rPr sz="900" b="1">
                <a:solidFill>
                  <a:srgbClr val="64748B"/>
                </a:solidFill>
                <a:latin typeface="Segoe UI"/>
              </a:rPr>
              <a:t>PARTIE 1 · CONTEXTE &amp; OBJECTIFS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7F8FA"/>
        </a:solidFill>
        <a:effectLst/>
      </p:bgPr>
    </p:bg>
    <p:spTree>
      <p:nvGrpSpPr>
        <p:cNvPr id="1" name=""/>
        <p:cNvGrpSpPr/>
        <p:nvPr/>
      </p:nvGrpSpPr>
      <p:grpSpPr>
        <a:xfrm>
          <a:off x="0" y="0"/>
          <a:ext cx="0" cy="0"/>
          <a:chOff x="0" y="0"/>
          <a:chExt cx="0" cy="0"/>
        </a:xfrm>
      </p:grpSpPr>
      <p:sp>
        <p:nvSpPr>
          <p:cNvPr id="2" name="TextBox 1"/>
          <p:cNvSpPr txBox="1"/>
          <p:nvPr/>
        </p:nvSpPr>
        <p:spPr>
          <a:xfrm>
            <a:off x="566928" y="475488"/>
            <a:ext cx="10972800" cy="274320"/>
          </a:xfrm>
          <a:prstGeom prst="rect">
            <a:avLst/>
          </a:prstGeom>
          <a:noFill/>
        </p:spPr>
        <p:txBody>
          <a:bodyPr wrap="square" lIns="0" tIns="0" rIns="0" bIns="0" anchor="t">
            <a:noAutofit/>
          </a:bodyPr>
          <a:lstStyle/>
          <a:p>
            <a:pPr algn="l"/>
            <a:r>
              <a:rPr sz="1250" b="1">
                <a:solidFill>
                  <a:srgbClr val="2A9B69"/>
                </a:solidFill>
                <a:latin typeface="Segoe UI"/>
              </a:rPr>
              <a:t>CONCEPTION · TECHNIQUE</a:t>
            </a:r>
          </a:p>
        </p:txBody>
      </p:sp>
      <p:sp>
        <p:nvSpPr>
          <p:cNvPr id="3" name="TextBox 2"/>
          <p:cNvSpPr txBox="1"/>
          <p:nvPr/>
        </p:nvSpPr>
        <p:spPr>
          <a:xfrm>
            <a:off x="548640" y="768096"/>
            <a:ext cx="11064240" cy="868680"/>
          </a:xfrm>
          <a:prstGeom prst="rect">
            <a:avLst/>
          </a:prstGeom>
          <a:noFill/>
        </p:spPr>
        <p:txBody>
          <a:bodyPr wrap="square" lIns="0" tIns="0" rIns="0" bIns="0" anchor="t">
            <a:noAutofit/>
          </a:bodyPr>
          <a:lstStyle/>
          <a:p>
            <a:pPr algn="l"/>
            <a:r>
              <a:rPr sz="3800" b="1">
                <a:solidFill>
                  <a:srgbClr val="0F172A"/>
                </a:solidFill>
                <a:latin typeface="Segoe UI"/>
              </a:rPr>
              <a:t>Architecture technique</a:t>
            </a:r>
          </a:p>
        </p:txBody>
      </p:sp>
      <p:sp>
        <p:nvSpPr>
          <p:cNvPr id="4" name="TextBox 3"/>
          <p:cNvSpPr txBox="1"/>
          <p:nvPr/>
        </p:nvSpPr>
        <p:spPr>
          <a:xfrm>
            <a:off x="566928" y="1517904"/>
            <a:ext cx="10789920" cy="548640"/>
          </a:xfrm>
          <a:prstGeom prst="rect">
            <a:avLst/>
          </a:prstGeom>
          <a:noFill/>
        </p:spPr>
        <p:txBody>
          <a:bodyPr wrap="square" lIns="0" tIns="0" rIns="0" bIns="0" anchor="t">
            <a:noAutofit/>
          </a:bodyPr>
          <a:lstStyle/>
          <a:p>
            <a:pPr algn="l"/>
            <a:r>
              <a:rPr sz="1700" b="0">
                <a:solidFill>
                  <a:srgbClr val="64748B"/>
                </a:solidFill>
                <a:latin typeface="Segoe UI"/>
              </a:rPr>
              <a:t>Une architecture hybride et conteneurisée : un backend Django modulaire, un microservice IA Flask et des services d’automatisation.</a:t>
            </a:r>
          </a:p>
        </p:txBody>
      </p:sp>
      <p:sp>
        <p:nvSpPr>
          <p:cNvPr id="5" name="TextBox 4"/>
          <p:cNvSpPr txBox="1"/>
          <p:nvPr/>
        </p:nvSpPr>
        <p:spPr>
          <a:xfrm>
            <a:off x="566928" y="2240280"/>
            <a:ext cx="5074920" cy="3749039"/>
          </a:xfrm>
          <a:prstGeom prst="rect">
            <a:avLst/>
          </a:prstGeom>
          <a:noFill/>
        </p:spPr>
        <p:txBody>
          <a:bodyPr wrap="square" lIns="0" tIns="0" rIns="0" bIns="0" anchor="t">
            <a:noAutofit/>
          </a:bodyPr>
          <a:lstStyle/>
          <a:p>
            <a:pPr algn="l">
              <a:lnSpc>
                <a:spcPct val="112000"/>
              </a:lnSpc>
              <a:spcAft>
                <a:spcPts val="1100"/>
              </a:spcAft>
            </a:pPr>
            <a:r>
              <a:rPr sz="1600" b="1">
                <a:solidFill>
                  <a:srgbClr val="2A9B69"/>
                </a:solidFill>
                <a:latin typeface="Segoe UI"/>
              </a:rPr>
              <a:t>›  </a:t>
            </a:r>
            <a:r>
              <a:rPr sz="1600" b="1">
                <a:solidFill>
                  <a:srgbClr val="0F172A"/>
                </a:solidFill>
                <a:latin typeface="Segoe UI"/>
              </a:rPr>
              <a:t>Frontend </a:t>
            </a:r>
            <a:r>
              <a:rPr sz="1600" b="0">
                <a:solidFill>
                  <a:srgbClr val="64748B"/>
                </a:solidFill>
                <a:latin typeface="Segoe UI"/>
              </a:rPr>
              <a:t>React + Vite + Tailwind CSS.</a:t>
            </a:r>
          </a:p>
          <a:p>
            <a:pPr algn="l">
              <a:lnSpc>
                <a:spcPct val="112000"/>
              </a:lnSpc>
              <a:spcAft>
                <a:spcPts val="1100"/>
              </a:spcAft>
            </a:pPr>
            <a:r>
              <a:rPr sz="1600" b="1">
                <a:solidFill>
                  <a:srgbClr val="2A9B69"/>
                </a:solidFill>
                <a:latin typeface="Segoe UI"/>
              </a:rPr>
              <a:t>›  </a:t>
            </a:r>
            <a:r>
              <a:rPr sz="1600" b="1">
                <a:solidFill>
                  <a:srgbClr val="0F172A"/>
                </a:solidFill>
                <a:latin typeface="Segoe UI"/>
              </a:rPr>
              <a:t>API </a:t>
            </a:r>
            <a:r>
              <a:rPr sz="1600" b="0">
                <a:solidFill>
                  <a:srgbClr val="64748B"/>
                </a:solidFill>
                <a:latin typeface="Segoe UI"/>
              </a:rPr>
              <a:t>Django + Django REST Framework (REST sécurisée par JWT).</a:t>
            </a:r>
          </a:p>
          <a:p>
            <a:pPr algn="l">
              <a:lnSpc>
                <a:spcPct val="112000"/>
              </a:lnSpc>
              <a:spcAft>
                <a:spcPts val="1100"/>
              </a:spcAft>
            </a:pPr>
            <a:r>
              <a:rPr sz="1600" b="1">
                <a:solidFill>
                  <a:srgbClr val="2A9B69"/>
                </a:solidFill>
                <a:latin typeface="Segoe UI"/>
              </a:rPr>
              <a:t>›  </a:t>
            </a:r>
            <a:r>
              <a:rPr sz="1600" b="1">
                <a:solidFill>
                  <a:srgbClr val="0F172A"/>
                </a:solidFill>
                <a:latin typeface="Segoe UI"/>
              </a:rPr>
              <a:t>Microservice IA </a:t>
            </a:r>
            <a:r>
              <a:rPr sz="1600" b="0">
                <a:solidFill>
                  <a:srgbClr val="64748B"/>
                </a:solidFill>
                <a:latin typeface="Segoe UI"/>
              </a:rPr>
              <a:t>Flask + Scikit-learn.</a:t>
            </a:r>
          </a:p>
          <a:p>
            <a:pPr algn="l">
              <a:lnSpc>
                <a:spcPct val="112000"/>
              </a:lnSpc>
              <a:spcAft>
                <a:spcPts val="1100"/>
              </a:spcAft>
            </a:pPr>
            <a:r>
              <a:rPr sz="1600" b="1">
                <a:solidFill>
                  <a:srgbClr val="2A9B69"/>
                </a:solidFill>
                <a:latin typeface="Segoe UI"/>
              </a:rPr>
              <a:t>›  </a:t>
            </a:r>
            <a:r>
              <a:rPr sz="1600" b="1">
                <a:solidFill>
                  <a:srgbClr val="0F172A"/>
                </a:solidFill>
                <a:latin typeface="Segoe UI"/>
              </a:rPr>
              <a:t>Base de données </a:t>
            </a:r>
            <a:r>
              <a:rPr sz="1600" b="0">
                <a:solidFill>
                  <a:srgbClr val="64748B"/>
                </a:solidFill>
                <a:latin typeface="Segoe UI"/>
              </a:rPr>
              <a:t>PostgreSQL.</a:t>
            </a:r>
          </a:p>
          <a:p>
            <a:pPr algn="l">
              <a:lnSpc>
                <a:spcPct val="112000"/>
              </a:lnSpc>
              <a:spcAft>
                <a:spcPts val="1100"/>
              </a:spcAft>
            </a:pPr>
            <a:r>
              <a:rPr sz="1600" b="1">
                <a:solidFill>
                  <a:srgbClr val="2A9B69"/>
                </a:solidFill>
                <a:latin typeface="Segoe UI"/>
              </a:rPr>
              <a:t>›  </a:t>
            </a:r>
            <a:r>
              <a:rPr sz="1600" b="1">
                <a:solidFill>
                  <a:srgbClr val="0F172A"/>
                </a:solidFill>
                <a:latin typeface="Segoe UI"/>
              </a:rPr>
              <a:t>Orchestration </a:t>
            </a:r>
            <a:r>
              <a:rPr sz="1600" b="0">
                <a:solidFill>
                  <a:srgbClr val="64748B"/>
                </a:solidFill>
                <a:latin typeface="Segoe UI"/>
              </a:rPr>
              <a:t>Docker / Docker Compose.</a:t>
            </a:r>
          </a:p>
          <a:p>
            <a:pPr algn="l">
              <a:lnSpc>
                <a:spcPct val="112000"/>
              </a:lnSpc>
              <a:spcAft>
                <a:spcPts val="1100"/>
              </a:spcAft>
            </a:pPr>
            <a:r>
              <a:rPr sz="1600" b="1">
                <a:solidFill>
                  <a:srgbClr val="2A9B69"/>
                </a:solidFill>
                <a:latin typeface="Segoe UI"/>
              </a:rPr>
              <a:t>›  </a:t>
            </a:r>
            <a:r>
              <a:rPr sz="1600" b="1">
                <a:solidFill>
                  <a:srgbClr val="0F172A"/>
                </a:solidFill>
                <a:latin typeface="Segoe UI"/>
              </a:rPr>
              <a:t>Intégrations </a:t>
            </a:r>
            <a:r>
              <a:rPr sz="1600" b="0">
                <a:solidFill>
                  <a:srgbClr val="64748B"/>
                </a:solidFill>
                <a:latin typeface="Segoe UI"/>
              </a:rPr>
              <a:t>n8n, Twilio/WhatsApp, Jitsi, Groq (LLM).</a:t>
            </a:r>
          </a:p>
        </p:txBody>
      </p:sp>
      <p:pic>
        <p:nvPicPr>
          <p:cNvPr id="7" name="Picture 6" descr="04-architecture-globale.png"/>
          <p:cNvPicPr>
            <a:picLocks noChangeAspect="1"/>
          </p:cNvPicPr>
          <p:nvPr/>
        </p:nvPicPr>
        <p:blipFill>
          <a:blip r:embed="rId2"/>
          <a:stretch>
            <a:fillRect/>
          </a:stretch>
        </p:blipFill>
        <p:spPr>
          <a:xfrm>
            <a:off x="5641848" y="1882203"/>
            <a:ext cx="6150023" cy="4449001"/>
          </a:xfrm>
          <a:prstGeom prst="rect">
            <a:avLst/>
          </a:prstGeom>
          <a:ln w="9525">
            <a:solidFill>
              <a:srgbClr val="E2E8F0"/>
            </a:solidFill>
          </a:ln>
          <a:effectLst/>
        </p:spPr>
      </p:pic>
      <p:sp>
        <p:nvSpPr>
          <p:cNvPr id="8" name="Rectangle 7"/>
          <p:cNvSpPr/>
          <p:nvPr/>
        </p:nvSpPr>
        <p:spPr>
          <a:xfrm>
            <a:off x="548640" y="6419088"/>
            <a:ext cx="11091672" cy="127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9" name="Picture 8" descr="00-icone-curamedical.png"/>
          <p:cNvPicPr>
            <a:picLocks noChangeAspect="1"/>
          </p:cNvPicPr>
          <p:nvPr/>
        </p:nvPicPr>
        <p:blipFill>
          <a:blip r:embed="rId3"/>
          <a:stretch>
            <a:fillRect/>
          </a:stretch>
        </p:blipFill>
        <p:spPr>
          <a:xfrm>
            <a:off x="548640" y="6510528"/>
            <a:ext cx="329184" cy="219456"/>
          </a:xfrm>
          <a:prstGeom prst="rect">
            <a:avLst/>
          </a:prstGeom>
        </p:spPr>
      </p:pic>
      <p:sp>
        <p:nvSpPr>
          <p:cNvPr id="10" name="TextBox 9"/>
          <p:cNvSpPr txBox="1"/>
          <p:nvPr/>
        </p:nvSpPr>
        <p:spPr>
          <a:xfrm>
            <a:off x="868680" y="6519672"/>
            <a:ext cx="4572000" cy="274320"/>
          </a:xfrm>
          <a:prstGeom prst="rect">
            <a:avLst/>
          </a:prstGeom>
          <a:noFill/>
        </p:spPr>
        <p:txBody>
          <a:bodyPr wrap="square" lIns="0" tIns="0" rIns="0" bIns="0" anchor="t">
            <a:noAutofit/>
          </a:bodyPr>
          <a:lstStyle/>
          <a:p>
            <a:pPr algn="l"/>
            <a:r>
              <a:rPr sz="1050" b="1">
                <a:solidFill>
                  <a:srgbClr val="2A9B69"/>
                </a:solidFill>
                <a:latin typeface="Segoe UI"/>
              </a:rPr>
              <a:t>CuraMedical</a:t>
            </a:r>
          </a:p>
        </p:txBody>
      </p:sp>
      <p:sp>
        <p:nvSpPr>
          <p:cNvPr id="11" name="TextBox 10"/>
          <p:cNvSpPr txBox="1"/>
          <p:nvPr/>
        </p:nvSpPr>
        <p:spPr>
          <a:xfrm>
            <a:off x="7315200" y="6519672"/>
            <a:ext cx="4325112" cy="274320"/>
          </a:xfrm>
          <a:prstGeom prst="rect">
            <a:avLst/>
          </a:prstGeom>
          <a:noFill/>
        </p:spPr>
        <p:txBody>
          <a:bodyPr wrap="square" lIns="0" tIns="0" rIns="0" bIns="0" anchor="t">
            <a:noAutofit/>
          </a:bodyPr>
          <a:lstStyle/>
          <a:p>
            <a:pPr algn="r"/>
            <a:r>
              <a:rPr sz="1050" b="0">
                <a:solidFill>
                  <a:srgbClr val="64748B"/>
                </a:solidFill>
                <a:latin typeface="Segoe UI"/>
              </a:rPr>
              <a:t>04 / 18</a:t>
            </a:r>
          </a:p>
        </p:txBody>
      </p:sp>
      <p:pic>
        <p:nvPicPr>
          <p:cNvPr id="12" name="Image 11">
            <a:extLst>
              <a:ext uri="{FF2B5EF4-FFF2-40B4-BE49-F238E27FC236}">
                <a16:creationId xmlns:a16="http://schemas.microsoft.com/office/drawing/2014/main" id="{B6542754-2F77-4160-A65B-48FC5D04139A}"/>
              </a:ext>
            </a:extLst>
          </p:cNvPr>
          <p:cNvPicPr>
            <a:picLocks noChangeAspect="1"/>
          </p:cNvPicPr>
          <p:nvPr/>
        </p:nvPicPr>
        <p:blipFill>
          <a:blip r:embed="rId3"/>
          <a:stretch>
            <a:fillRect/>
          </a:stretch>
        </p:blipFill>
        <p:spPr>
          <a:xfrm>
            <a:off x="10357326" y="-249298"/>
            <a:ext cx="2584890" cy="1723260"/>
          </a:xfrm>
          <a:prstGeom prst="rect">
            <a:avLst/>
          </a:prstGeom>
        </p:spPr>
      </p:pic>
      <p:sp>
        <p:nvSpPr>
          <p:cNvPr id="13" name="TextBox 12"/>
          <p:cNvSpPr txBox="1"/>
          <p:nvPr/>
        </p:nvSpPr>
        <p:spPr>
          <a:xfrm>
            <a:off x="3657600" y="6528816"/>
            <a:ext cx="4873752" cy="274320"/>
          </a:xfrm>
          <a:prstGeom prst="rect">
            <a:avLst/>
          </a:prstGeom>
          <a:noFill/>
        </p:spPr>
        <p:txBody>
          <a:bodyPr wrap="square" lIns="0" tIns="0" rIns="0" bIns="0" anchor="t">
            <a:noAutofit/>
          </a:bodyPr>
          <a:lstStyle/>
          <a:p>
            <a:pPr algn="ctr"/>
            <a:r>
              <a:rPr sz="900" b="1">
                <a:solidFill>
                  <a:srgbClr val="64748B"/>
                </a:solidFill>
                <a:latin typeface="Segoe UI"/>
              </a:rPr>
              <a:t>PARTIE 2 · ARCHITECTURE &amp; CONCEPTION</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7F8FA"/>
        </a:solidFill>
        <a:effectLst/>
      </p:bgPr>
    </p:bg>
    <p:spTree>
      <p:nvGrpSpPr>
        <p:cNvPr id="1" name=""/>
        <p:cNvGrpSpPr/>
        <p:nvPr/>
      </p:nvGrpSpPr>
      <p:grpSpPr>
        <a:xfrm>
          <a:off x="0" y="0"/>
          <a:ext cx="0" cy="0"/>
          <a:chOff x="0" y="0"/>
          <a:chExt cx="0" cy="0"/>
        </a:xfrm>
      </p:grpSpPr>
      <p:sp>
        <p:nvSpPr>
          <p:cNvPr id="2" name="TextBox 1"/>
          <p:cNvSpPr txBox="1"/>
          <p:nvPr/>
        </p:nvSpPr>
        <p:spPr>
          <a:xfrm>
            <a:off x="566928" y="475488"/>
            <a:ext cx="10972800" cy="274320"/>
          </a:xfrm>
          <a:prstGeom prst="rect">
            <a:avLst/>
          </a:prstGeom>
          <a:noFill/>
        </p:spPr>
        <p:txBody>
          <a:bodyPr wrap="square" lIns="0" tIns="0" rIns="0" bIns="0" anchor="t">
            <a:noAutofit/>
          </a:bodyPr>
          <a:lstStyle/>
          <a:p>
            <a:pPr algn="l"/>
            <a:r>
              <a:rPr sz="1250" b="1">
                <a:solidFill>
                  <a:srgbClr val="2A9B69"/>
                </a:solidFill>
                <a:latin typeface="Segoe UI"/>
              </a:rPr>
              <a:t>CONCEPTION · ACTEURS</a:t>
            </a:r>
          </a:p>
        </p:txBody>
      </p:sp>
      <p:sp>
        <p:nvSpPr>
          <p:cNvPr id="3" name="TextBox 2"/>
          <p:cNvSpPr txBox="1"/>
          <p:nvPr/>
        </p:nvSpPr>
        <p:spPr>
          <a:xfrm>
            <a:off x="548640" y="768096"/>
            <a:ext cx="11064240" cy="868680"/>
          </a:xfrm>
          <a:prstGeom prst="rect">
            <a:avLst/>
          </a:prstGeom>
          <a:noFill/>
        </p:spPr>
        <p:txBody>
          <a:bodyPr wrap="square" lIns="0" tIns="0" rIns="0" bIns="0" anchor="t">
            <a:noAutofit/>
          </a:bodyPr>
          <a:lstStyle/>
          <a:p>
            <a:pPr algn="l"/>
            <a:r>
              <a:rPr sz="3800" b="1">
                <a:solidFill>
                  <a:srgbClr val="0F172A"/>
                </a:solidFill>
                <a:latin typeface="Segoe UI"/>
              </a:rPr>
              <a:t>Cas d'utilisation &amp; rôles</a:t>
            </a:r>
          </a:p>
        </p:txBody>
      </p:sp>
      <p:sp>
        <p:nvSpPr>
          <p:cNvPr id="4" name="TextBox 3"/>
          <p:cNvSpPr txBox="1"/>
          <p:nvPr/>
        </p:nvSpPr>
        <p:spPr>
          <a:xfrm>
            <a:off x="566928" y="1517904"/>
            <a:ext cx="10789920" cy="548640"/>
          </a:xfrm>
          <a:prstGeom prst="rect">
            <a:avLst/>
          </a:prstGeom>
          <a:noFill/>
        </p:spPr>
        <p:txBody>
          <a:bodyPr wrap="square" lIns="0" tIns="0" rIns="0" bIns="0" anchor="t">
            <a:noAutofit/>
          </a:bodyPr>
          <a:lstStyle/>
          <a:p>
            <a:pPr algn="l"/>
            <a:r>
              <a:rPr sz="1700" b="0">
                <a:solidFill>
                  <a:srgbClr val="64748B"/>
                </a:solidFill>
                <a:latin typeface="Segoe UI"/>
              </a:rPr>
              <a:t>Quatre rôles, des droits strictement cloisonnés.</a:t>
            </a:r>
          </a:p>
        </p:txBody>
      </p:sp>
      <p:sp>
        <p:nvSpPr>
          <p:cNvPr id="5" name="TextBox 4"/>
          <p:cNvSpPr txBox="1"/>
          <p:nvPr/>
        </p:nvSpPr>
        <p:spPr>
          <a:xfrm>
            <a:off x="566928" y="2240280"/>
            <a:ext cx="5074920" cy="3749039"/>
          </a:xfrm>
          <a:prstGeom prst="rect">
            <a:avLst/>
          </a:prstGeom>
          <a:noFill/>
        </p:spPr>
        <p:txBody>
          <a:bodyPr wrap="square" lIns="0" tIns="0" rIns="0" bIns="0" anchor="t">
            <a:noAutofit/>
          </a:bodyPr>
          <a:lstStyle/>
          <a:p>
            <a:pPr algn="l">
              <a:lnSpc>
                <a:spcPct val="112000"/>
              </a:lnSpc>
              <a:spcAft>
                <a:spcPts val="1100"/>
              </a:spcAft>
            </a:pPr>
            <a:r>
              <a:rPr sz="1600" b="1">
                <a:solidFill>
                  <a:srgbClr val="2A9B69"/>
                </a:solidFill>
                <a:latin typeface="Segoe UI"/>
              </a:rPr>
              <a:t>›  </a:t>
            </a:r>
            <a:r>
              <a:rPr sz="1600" b="1">
                <a:solidFill>
                  <a:srgbClr val="0F172A"/>
                </a:solidFill>
                <a:latin typeface="Segoe UI"/>
              </a:rPr>
              <a:t>Administrateur </a:t>
            </a:r>
            <a:r>
              <a:rPr sz="1600" b="0">
                <a:solidFill>
                  <a:srgbClr val="64748B"/>
                </a:solidFill>
                <a:latin typeface="Segoe UI"/>
              </a:rPr>
              <a:t>configuration, utilisateurs, audit.</a:t>
            </a:r>
          </a:p>
          <a:p>
            <a:pPr algn="l">
              <a:lnSpc>
                <a:spcPct val="112000"/>
              </a:lnSpc>
              <a:spcAft>
                <a:spcPts val="1100"/>
              </a:spcAft>
            </a:pPr>
            <a:r>
              <a:rPr sz="1600" b="1">
                <a:solidFill>
                  <a:srgbClr val="2A9B69"/>
                </a:solidFill>
                <a:latin typeface="Segoe UI"/>
              </a:rPr>
              <a:t>›  </a:t>
            </a:r>
            <a:r>
              <a:rPr sz="1600" b="1">
                <a:solidFill>
                  <a:srgbClr val="0F172A"/>
                </a:solidFill>
                <a:latin typeface="Segoe UI"/>
              </a:rPr>
              <a:t>Secrétaire </a:t>
            </a:r>
            <a:r>
              <a:rPr sz="1600" b="0">
                <a:solidFill>
                  <a:srgbClr val="64748B"/>
                </a:solidFill>
                <a:latin typeface="Segoe UI"/>
              </a:rPr>
              <a:t>patients, rendez-vous, planning.</a:t>
            </a:r>
          </a:p>
          <a:p>
            <a:pPr algn="l">
              <a:lnSpc>
                <a:spcPct val="112000"/>
              </a:lnSpc>
              <a:spcAft>
                <a:spcPts val="1100"/>
              </a:spcAft>
            </a:pPr>
            <a:r>
              <a:rPr sz="1600" b="1">
                <a:solidFill>
                  <a:srgbClr val="2A9B69"/>
                </a:solidFill>
                <a:latin typeface="Segoe UI"/>
              </a:rPr>
              <a:t>›  </a:t>
            </a:r>
            <a:r>
              <a:rPr sz="1600" b="1">
                <a:solidFill>
                  <a:srgbClr val="0F172A"/>
                </a:solidFill>
                <a:latin typeface="Segoe UI"/>
              </a:rPr>
              <a:t>Médecin </a:t>
            </a:r>
            <a:r>
              <a:rPr sz="1600" b="0">
                <a:solidFill>
                  <a:srgbClr val="64748B"/>
                </a:solidFill>
                <a:latin typeface="Segoe UI"/>
              </a:rPr>
              <a:t>consultations, ordonnances, assistance IA.</a:t>
            </a:r>
          </a:p>
          <a:p>
            <a:pPr algn="l">
              <a:lnSpc>
                <a:spcPct val="112000"/>
              </a:lnSpc>
              <a:spcAft>
                <a:spcPts val="1100"/>
              </a:spcAft>
            </a:pPr>
            <a:r>
              <a:rPr sz="1600" b="1">
                <a:solidFill>
                  <a:srgbClr val="2A9B69"/>
                </a:solidFill>
                <a:latin typeface="Segoe UI"/>
              </a:rPr>
              <a:t>›  </a:t>
            </a:r>
            <a:r>
              <a:rPr sz="1600" b="1">
                <a:solidFill>
                  <a:srgbClr val="0F172A"/>
                </a:solidFill>
                <a:latin typeface="Segoe UI"/>
              </a:rPr>
              <a:t>Patient </a:t>
            </a:r>
            <a:r>
              <a:rPr sz="1600" b="0">
                <a:solidFill>
                  <a:srgbClr val="64748B"/>
                </a:solidFill>
                <a:latin typeface="Segoe UI"/>
              </a:rPr>
              <a:t>espace personnel, rendez-vous, documents.</a:t>
            </a:r>
          </a:p>
        </p:txBody>
      </p:sp>
      <p:pic>
        <p:nvPicPr>
          <p:cNvPr id="7" name="Picture 6" descr="05-cas-utilisation.png"/>
          <p:cNvPicPr>
            <a:picLocks noChangeAspect="1"/>
          </p:cNvPicPr>
          <p:nvPr/>
        </p:nvPicPr>
        <p:blipFill>
          <a:blip r:embed="rId2"/>
          <a:stretch>
            <a:fillRect/>
          </a:stretch>
        </p:blipFill>
        <p:spPr>
          <a:xfrm>
            <a:off x="6592466" y="1724660"/>
            <a:ext cx="4782670" cy="4069080"/>
          </a:xfrm>
          <a:prstGeom prst="rect">
            <a:avLst/>
          </a:prstGeom>
          <a:ln w="9525">
            <a:solidFill>
              <a:srgbClr val="E2E8F0"/>
            </a:solidFill>
          </a:ln>
          <a:effectLst/>
        </p:spPr>
      </p:pic>
      <p:sp>
        <p:nvSpPr>
          <p:cNvPr id="8" name="Rectangle 7"/>
          <p:cNvSpPr/>
          <p:nvPr/>
        </p:nvSpPr>
        <p:spPr>
          <a:xfrm>
            <a:off x="548640" y="6419088"/>
            <a:ext cx="11091672" cy="127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9" name="Picture 8" descr="00-icone-curamedical.png"/>
          <p:cNvPicPr>
            <a:picLocks noChangeAspect="1"/>
          </p:cNvPicPr>
          <p:nvPr/>
        </p:nvPicPr>
        <p:blipFill>
          <a:blip r:embed="rId3"/>
          <a:stretch>
            <a:fillRect/>
          </a:stretch>
        </p:blipFill>
        <p:spPr>
          <a:xfrm>
            <a:off x="548640" y="6510528"/>
            <a:ext cx="329184" cy="219456"/>
          </a:xfrm>
          <a:prstGeom prst="rect">
            <a:avLst/>
          </a:prstGeom>
        </p:spPr>
      </p:pic>
      <p:sp>
        <p:nvSpPr>
          <p:cNvPr id="10" name="TextBox 9"/>
          <p:cNvSpPr txBox="1"/>
          <p:nvPr/>
        </p:nvSpPr>
        <p:spPr>
          <a:xfrm>
            <a:off x="868680" y="6519672"/>
            <a:ext cx="4572000" cy="274320"/>
          </a:xfrm>
          <a:prstGeom prst="rect">
            <a:avLst/>
          </a:prstGeom>
          <a:noFill/>
        </p:spPr>
        <p:txBody>
          <a:bodyPr wrap="square" lIns="0" tIns="0" rIns="0" bIns="0" anchor="t">
            <a:noAutofit/>
          </a:bodyPr>
          <a:lstStyle/>
          <a:p>
            <a:pPr algn="l"/>
            <a:r>
              <a:rPr sz="1050" b="1">
                <a:solidFill>
                  <a:srgbClr val="2A9B69"/>
                </a:solidFill>
                <a:latin typeface="Segoe UI"/>
              </a:rPr>
              <a:t>CuraMedical</a:t>
            </a:r>
          </a:p>
        </p:txBody>
      </p:sp>
      <p:sp>
        <p:nvSpPr>
          <p:cNvPr id="11" name="TextBox 10"/>
          <p:cNvSpPr txBox="1"/>
          <p:nvPr/>
        </p:nvSpPr>
        <p:spPr>
          <a:xfrm>
            <a:off x="7315200" y="6519672"/>
            <a:ext cx="4325112" cy="274320"/>
          </a:xfrm>
          <a:prstGeom prst="rect">
            <a:avLst/>
          </a:prstGeom>
          <a:noFill/>
        </p:spPr>
        <p:txBody>
          <a:bodyPr wrap="square" lIns="0" tIns="0" rIns="0" bIns="0" anchor="t">
            <a:noAutofit/>
          </a:bodyPr>
          <a:lstStyle/>
          <a:p>
            <a:pPr algn="r"/>
            <a:r>
              <a:rPr sz="1050" b="0">
                <a:solidFill>
                  <a:srgbClr val="64748B"/>
                </a:solidFill>
                <a:latin typeface="Segoe UI"/>
              </a:rPr>
              <a:t>05 / 18</a:t>
            </a:r>
          </a:p>
        </p:txBody>
      </p:sp>
      <p:pic>
        <p:nvPicPr>
          <p:cNvPr id="12" name="Image 11">
            <a:extLst>
              <a:ext uri="{FF2B5EF4-FFF2-40B4-BE49-F238E27FC236}">
                <a16:creationId xmlns:a16="http://schemas.microsoft.com/office/drawing/2014/main" id="{4DEE9B6C-E45D-4265-8E99-2F11680242F3}"/>
              </a:ext>
            </a:extLst>
          </p:cNvPr>
          <p:cNvPicPr>
            <a:picLocks noChangeAspect="1"/>
          </p:cNvPicPr>
          <p:nvPr/>
        </p:nvPicPr>
        <p:blipFill>
          <a:blip r:embed="rId3"/>
          <a:stretch>
            <a:fillRect/>
          </a:stretch>
        </p:blipFill>
        <p:spPr>
          <a:xfrm>
            <a:off x="10357326" y="-249298"/>
            <a:ext cx="2584890" cy="1723260"/>
          </a:xfrm>
          <a:prstGeom prst="rect">
            <a:avLst/>
          </a:prstGeom>
        </p:spPr>
      </p:pic>
      <p:sp>
        <p:nvSpPr>
          <p:cNvPr id="13" name="TextBox 12"/>
          <p:cNvSpPr txBox="1"/>
          <p:nvPr/>
        </p:nvSpPr>
        <p:spPr>
          <a:xfrm>
            <a:off x="3657600" y="6528816"/>
            <a:ext cx="4873752" cy="274320"/>
          </a:xfrm>
          <a:prstGeom prst="rect">
            <a:avLst/>
          </a:prstGeom>
          <a:noFill/>
        </p:spPr>
        <p:txBody>
          <a:bodyPr wrap="square" lIns="0" tIns="0" rIns="0" bIns="0" anchor="t">
            <a:noAutofit/>
          </a:bodyPr>
          <a:lstStyle/>
          <a:p>
            <a:pPr algn="ctr"/>
            <a:r>
              <a:rPr sz="900" b="1">
                <a:solidFill>
                  <a:srgbClr val="64748B"/>
                </a:solidFill>
                <a:latin typeface="Segoe UI"/>
              </a:rPr>
              <a:t>PARTIE 2 · ARCHITECTURE &amp; CONCEPTION</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7F8FA"/>
        </a:solidFill>
        <a:effectLst/>
      </p:bgPr>
    </p:bg>
    <p:spTree>
      <p:nvGrpSpPr>
        <p:cNvPr id="1" name=""/>
        <p:cNvGrpSpPr/>
        <p:nvPr/>
      </p:nvGrpSpPr>
      <p:grpSpPr>
        <a:xfrm>
          <a:off x="0" y="0"/>
          <a:ext cx="0" cy="0"/>
          <a:chOff x="0" y="0"/>
          <a:chExt cx="0" cy="0"/>
        </a:xfrm>
      </p:grpSpPr>
      <p:sp>
        <p:nvSpPr>
          <p:cNvPr id="2" name="TextBox 1"/>
          <p:cNvSpPr txBox="1"/>
          <p:nvPr/>
        </p:nvSpPr>
        <p:spPr>
          <a:xfrm>
            <a:off x="566928" y="475488"/>
            <a:ext cx="10972800" cy="274320"/>
          </a:xfrm>
          <a:prstGeom prst="rect">
            <a:avLst/>
          </a:prstGeom>
          <a:noFill/>
        </p:spPr>
        <p:txBody>
          <a:bodyPr wrap="square" lIns="0" tIns="0" rIns="0" bIns="0" anchor="t">
            <a:noAutofit/>
          </a:bodyPr>
          <a:lstStyle/>
          <a:p>
            <a:pPr algn="l"/>
            <a:r>
              <a:rPr sz="1250" b="1">
                <a:solidFill>
                  <a:srgbClr val="2A9B69"/>
                </a:solidFill>
                <a:latin typeface="Segoe UI"/>
              </a:rPr>
              <a:t>CONCEPTION · DONNÉES</a:t>
            </a:r>
          </a:p>
        </p:txBody>
      </p:sp>
      <p:sp>
        <p:nvSpPr>
          <p:cNvPr id="3" name="TextBox 2"/>
          <p:cNvSpPr txBox="1"/>
          <p:nvPr/>
        </p:nvSpPr>
        <p:spPr>
          <a:xfrm>
            <a:off x="548640" y="768096"/>
            <a:ext cx="11064240" cy="868680"/>
          </a:xfrm>
          <a:prstGeom prst="rect">
            <a:avLst/>
          </a:prstGeom>
          <a:noFill/>
        </p:spPr>
        <p:txBody>
          <a:bodyPr wrap="square" lIns="0" tIns="0" rIns="0" bIns="0" anchor="t">
            <a:noAutofit/>
          </a:bodyPr>
          <a:lstStyle/>
          <a:p>
            <a:pPr algn="l"/>
            <a:r>
              <a:rPr sz="3800" b="1">
                <a:solidFill>
                  <a:srgbClr val="0F172A"/>
                </a:solidFill>
                <a:latin typeface="Segoe UI"/>
              </a:rPr>
              <a:t>Modèle de données</a:t>
            </a:r>
          </a:p>
        </p:txBody>
      </p:sp>
      <p:sp>
        <p:nvSpPr>
          <p:cNvPr id="4" name="TextBox 3"/>
          <p:cNvSpPr txBox="1"/>
          <p:nvPr/>
        </p:nvSpPr>
        <p:spPr>
          <a:xfrm>
            <a:off x="566928" y="1517904"/>
            <a:ext cx="10789920" cy="548640"/>
          </a:xfrm>
          <a:prstGeom prst="rect">
            <a:avLst/>
          </a:prstGeom>
          <a:noFill/>
        </p:spPr>
        <p:txBody>
          <a:bodyPr wrap="square" lIns="0" tIns="0" rIns="0" bIns="0" anchor="t">
            <a:noAutofit/>
          </a:bodyPr>
          <a:lstStyle/>
          <a:p>
            <a:pPr algn="l"/>
            <a:r>
              <a:rPr sz="1700" b="0">
                <a:solidFill>
                  <a:srgbClr val="64748B"/>
                </a:solidFill>
                <a:latin typeface="Segoe UI"/>
              </a:rPr>
              <a:t>Un modèle de données clair et relationnel.</a:t>
            </a:r>
          </a:p>
        </p:txBody>
      </p:sp>
      <p:sp>
        <p:nvSpPr>
          <p:cNvPr id="5" name="TextBox 4"/>
          <p:cNvSpPr txBox="1"/>
          <p:nvPr/>
        </p:nvSpPr>
        <p:spPr>
          <a:xfrm>
            <a:off x="566928" y="2240280"/>
            <a:ext cx="5074920" cy="3749039"/>
          </a:xfrm>
          <a:prstGeom prst="rect">
            <a:avLst/>
          </a:prstGeom>
          <a:noFill/>
        </p:spPr>
        <p:txBody>
          <a:bodyPr wrap="square" lIns="0" tIns="0" rIns="0" bIns="0" anchor="t">
            <a:noAutofit/>
          </a:bodyPr>
          <a:lstStyle/>
          <a:p>
            <a:pPr algn="l">
              <a:lnSpc>
                <a:spcPct val="112000"/>
              </a:lnSpc>
              <a:spcAft>
                <a:spcPts val="1100"/>
              </a:spcAft>
            </a:pPr>
            <a:r>
              <a:rPr sz="1600" b="1">
                <a:solidFill>
                  <a:srgbClr val="2A9B69"/>
                </a:solidFill>
                <a:latin typeface="Segoe UI"/>
              </a:rPr>
              <a:t>›  </a:t>
            </a:r>
            <a:r>
              <a:rPr sz="1600" b="1">
                <a:solidFill>
                  <a:srgbClr val="0F172A"/>
                </a:solidFill>
                <a:latin typeface="Segoe UI"/>
              </a:rPr>
              <a:t>Entités clés : </a:t>
            </a:r>
            <a:r>
              <a:rPr sz="1600" b="0">
                <a:solidFill>
                  <a:srgbClr val="64748B"/>
                </a:solidFill>
                <a:latin typeface="Segoe UI"/>
              </a:rPr>
              <a:t>Utilisateur, Patient, Rendez-vous, Consultation, Ordonnance.</a:t>
            </a:r>
          </a:p>
          <a:p>
            <a:pPr algn="l">
              <a:lnSpc>
                <a:spcPct val="112000"/>
              </a:lnSpc>
              <a:spcAft>
                <a:spcPts val="1100"/>
              </a:spcAft>
            </a:pPr>
            <a:r>
              <a:rPr sz="1600" b="1">
                <a:solidFill>
                  <a:srgbClr val="2A9B69"/>
                </a:solidFill>
                <a:latin typeface="Segoe UI"/>
              </a:rPr>
              <a:t>›  </a:t>
            </a:r>
            <a:r>
              <a:rPr sz="1600" b="1">
                <a:solidFill>
                  <a:srgbClr val="0F172A"/>
                </a:solidFill>
                <a:latin typeface="Segoe UI"/>
              </a:rPr>
              <a:t>Un patient </a:t>
            </a:r>
            <a:r>
              <a:rPr sz="1600" b="0">
                <a:solidFill>
                  <a:srgbClr val="64748B"/>
                </a:solidFill>
                <a:latin typeface="Segoe UI"/>
              </a:rPr>
              <a:t>a plusieurs rendez-vous et consultations.</a:t>
            </a:r>
          </a:p>
          <a:p>
            <a:pPr algn="l">
              <a:lnSpc>
                <a:spcPct val="112000"/>
              </a:lnSpc>
              <a:spcAft>
                <a:spcPts val="1100"/>
              </a:spcAft>
            </a:pPr>
            <a:r>
              <a:rPr sz="1600" b="1">
                <a:solidFill>
                  <a:srgbClr val="2A9B69"/>
                </a:solidFill>
                <a:latin typeface="Segoe UI"/>
              </a:rPr>
              <a:t>›  </a:t>
            </a:r>
            <a:r>
              <a:rPr sz="1600" b="1">
                <a:solidFill>
                  <a:srgbClr val="0F172A"/>
                </a:solidFill>
                <a:latin typeface="Segoe UI"/>
              </a:rPr>
              <a:t>Une consultation </a:t>
            </a:r>
            <a:r>
              <a:rPr sz="1600" b="0">
                <a:solidFill>
                  <a:srgbClr val="64748B"/>
                </a:solidFill>
                <a:latin typeface="Segoe UI"/>
              </a:rPr>
              <a:t>génère une ordonnance et un compte-rendu.</a:t>
            </a:r>
          </a:p>
        </p:txBody>
      </p:sp>
      <p:pic>
        <p:nvPicPr>
          <p:cNvPr id="7" name="Picture 6" descr="06-diagramme-classe.png"/>
          <p:cNvPicPr>
            <a:picLocks noChangeAspect="1"/>
          </p:cNvPicPr>
          <p:nvPr/>
        </p:nvPicPr>
        <p:blipFill>
          <a:blip r:embed="rId2"/>
          <a:stretch>
            <a:fillRect/>
          </a:stretch>
        </p:blipFill>
        <p:spPr>
          <a:xfrm>
            <a:off x="5586984" y="1450957"/>
            <a:ext cx="6153912" cy="3956086"/>
          </a:xfrm>
          <a:prstGeom prst="rect">
            <a:avLst/>
          </a:prstGeom>
          <a:ln w="9525">
            <a:solidFill>
              <a:srgbClr val="E2E8F0"/>
            </a:solidFill>
          </a:ln>
          <a:effectLst/>
        </p:spPr>
      </p:pic>
      <p:sp>
        <p:nvSpPr>
          <p:cNvPr id="8" name="Rectangle 7"/>
          <p:cNvSpPr/>
          <p:nvPr/>
        </p:nvSpPr>
        <p:spPr>
          <a:xfrm>
            <a:off x="548640" y="6419088"/>
            <a:ext cx="11091672" cy="127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9" name="Picture 8" descr="00-icone-curamedical.png"/>
          <p:cNvPicPr>
            <a:picLocks noChangeAspect="1"/>
          </p:cNvPicPr>
          <p:nvPr/>
        </p:nvPicPr>
        <p:blipFill>
          <a:blip r:embed="rId3"/>
          <a:stretch>
            <a:fillRect/>
          </a:stretch>
        </p:blipFill>
        <p:spPr>
          <a:xfrm>
            <a:off x="548640" y="6510528"/>
            <a:ext cx="329184" cy="219456"/>
          </a:xfrm>
          <a:prstGeom prst="rect">
            <a:avLst/>
          </a:prstGeom>
        </p:spPr>
      </p:pic>
      <p:sp>
        <p:nvSpPr>
          <p:cNvPr id="10" name="TextBox 9"/>
          <p:cNvSpPr txBox="1"/>
          <p:nvPr/>
        </p:nvSpPr>
        <p:spPr>
          <a:xfrm>
            <a:off x="868680" y="6519672"/>
            <a:ext cx="4572000" cy="274320"/>
          </a:xfrm>
          <a:prstGeom prst="rect">
            <a:avLst/>
          </a:prstGeom>
          <a:noFill/>
        </p:spPr>
        <p:txBody>
          <a:bodyPr wrap="square" lIns="0" tIns="0" rIns="0" bIns="0" anchor="t">
            <a:noAutofit/>
          </a:bodyPr>
          <a:lstStyle/>
          <a:p>
            <a:pPr algn="l"/>
            <a:r>
              <a:rPr sz="1050" b="1">
                <a:solidFill>
                  <a:srgbClr val="2A9B69"/>
                </a:solidFill>
                <a:latin typeface="Segoe UI"/>
              </a:rPr>
              <a:t>CuraMedical</a:t>
            </a:r>
          </a:p>
        </p:txBody>
      </p:sp>
      <p:sp>
        <p:nvSpPr>
          <p:cNvPr id="11" name="TextBox 10"/>
          <p:cNvSpPr txBox="1"/>
          <p:nvPr/>
        </p:nvSpPr>
        <p:spPr>
          <a:xfrm>
            <a:off x="7315200" y="6519672"/>
            <a:ext cx="4325112" cy="274320"/>
          </a:xfrm>
          <a:prstGeom prst="rect">
            <a:avLst/>
          </a:prstGeom>
          <a:noFill/>
        </p:spPr>
        <p:txBody>
          <a:bodyPr wrap="square" lIns="0" tIns="0" rIns="0" bIns="0" anchor="t">
            <a:noAutofit/>
          </a:bodyPr>
          <a:lstStyle/>
          <a:p>
            <a:pPr algn="r"/>
            <a:r>
              <a:rPr sz="1050" b="0">
                <a:solidFill>
                  <a:srgbClr val="64748B"/>
                </a:solidFill>
                <a:latin typeface="Segoe UI"/>
              </a:rPr>
              <a:t>06 / 18</a:t>
            </a:r>
          </a:p>
        </p:txBody>
      </p:sp>
      <p:pic>
        <p:nvPicPr>
          <p:cNvPr id="12" name="Image 11">
            <a:extLst>
              <a:ext uri="{FF2B5EF4-FFF2-40B4-BE49-F238E27FC236}">
                <a16:creationId xmlns:a16="http://schemas.microsoft.com/office/drawing/2014/main" id="{8ACA58B5-00E8-4461-8555-DE5A9D5A4B0B}"/>
              </a:ext>
            </a:extLst>
          </p:cNvPr>
          <p:cNvPicPr>
            <a:picLocks noChangeAspect="1"/>
          </p:cNvPicPr>
          <p:nvPr/>
        </p:nvPicPr>
        <p:blipFill>
          <a:blip r:embed="rId3"/>
          <a:stretch>
            <a:fillRect/>
          </a:stretch>
        </p:blipFill>
        <p:spPr>
          <a:xfrm>
            <a:off x="10357326" y="-249298"/>
            <a:ext cx="2584890" cy="1723260"/>
          </a:xfrm>
          <a:prstGeom prst="rect">
            <a:avLst/>
          </a:prstGeom>
        </p:spPr>
      </p:pic>
      <p:sp>
        <p:nvSpPr>
          <p:cNvPr id="13" name="TextBox 12"/>
          <p:cNvSpPr txBox="1"/>
          <p:nvPr/>
        </p:nvSpPr>
        <p:spPr>
          <a:xfrm>
            <a:off x="3657600" y="6528816"/>
            <a:ext cx="4873752" cy="274320"/>
          </a:xfrm>
          <a:prstGeom prst="rect">
            <a:avLst/>
          </a:prstGeom>
          <a:noFill/>
        </p:spPr>
        <p:txBody>
          <a:bodyPr wrap="square" lIns="0" tIns="0" rIns="0" bIns="0" anchor="t">
            <a:noAutofit/>
          </a:bodyPr>
          <a:lstStyle/>
          <a:p>
            <a:pPr algn="ctr"/>
            <a:r>
              <a:rPr sz="900" b="1">
                <a:solidFill>
                  <a:srgbClr val="64748B"/>
                </a:solidFill>
                <a:latin typeface="Segoe UI"/>
              </a:rPr>
              <a:t>PARTIE 2 · ARCHITECTURE &amp; CONCEPTION</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7F8FA"/>
        </a:solidFill>
        <a:effectLst/>
      </p:bgPr>
    </p:bg>
    <p:spTree>
      <p:nvGrpSpPr>
        <p:cNvPr id="1" name=""/>
        <p:cNvGrpSpPr/>
        <p:nvPr/>
      </p:nvGrpSpPr>
      <p:grpSpPr>
        <a:xfrm>
          <a:off x="0" y="0"/>
          <a:ext cx="0" cy="0"/>
          <a:chOff x="0" y="0"/>
          <a:chExt cx="0" cy="0"/>
        </a:xfrm>
      </p:grpSpPr>
      <p:sp>
        <p:nvSpPr>
          <p:cNvPr id="2" name="TextBox 1"/>
          <p:cNvSpPr txBox="1"/>
          <p:nvPr/>
        </p:nvSpPr>
        <p:spPr>
          <a:xfrm>
            <a:off x="566928" y="475488"/>
            <a:ext cx="10972800" cy="274320"/>
          </a:xfrm>
          <a:prstGeom prst="rect">
            <a:avLst/>
          </a:prstGeom>
          <a:noFill/>
        </p:spPr>
        <p:txBody>
          <a:bodyPr wrap="square" lIns="0" tIns="0" rIns="0" bIns="0" anchor="t">
            <a:noAutofit/>
          </a:bodyPr>
          <a:lstStyle/>
          <a:p>
            <a:pPr algn="l"/>
            <a:r>
              <a:rPr sz="1250" b="1">
                <a:solidFill>
                  <a:srgbClr val="2A9B69"/>
                </a:solidFill>
                <a:latin typeface="Segoe UI"/>
              </a:rPr>
              <a:t>SÉCURITÉ · ACCÈS</a:t>
            </a:r>
          </a:p>
        </p:txBody>
      </p:sp>
      <p:sp>
        <p:nvSpPr>
          <p:cNvPr id="3" name="TextBox 2"/>
          <p:cNvSpPr txBox="1"/>
          <p:nvPr/>
        </p:nvSpPr>
        <p:spPr>
          <a:xfrm>
            <a:off x="548640" y="768096"/>
            <a:ext cx="11064240" cy="868680"/>
          </a:xfrm>
          <a:prstGeom prst="rect">
            <a:avLst/>
          </a:prstGeom>
          <a:noFill/>
        </p:spPr>
        <p:txBody>
          <a:bodyPr wrap="square" lIns="0" tIns="0" rIns="0" bIns="0" anchor="t">
            <a:noAutofit/>
          </a:bodyPr>
          <a:lstStyle/>
          <a:p>
            <a:pPr algn="l"/>
            <a:r>
              <a:rPr sz="3800" b="1">
                <a:solidFill>
                  <a:srgbClr val="0F172A"/>
                </a:solidFill>
                <a:latin typeface="Segoe UI"/>
              </a:rPr>
              <a:t>Sécurité &amp; contrôle d'accès</a:t>
            </a:r>
          </a:p>
        </p:txBody>
      </p:sp>
      <p:sp>
        <p:nvSpPr>
          <p:cNvPr id="4" name="TextBox 3"/>
          <p:cNvSpPr txBox="1"/>
          <p:nvPr/>
        </p:nvSpPr>
        <p:spPr>
          <a:xfrm>
            <a:off x="566928" y="1517904"/>
            <a:ext cx="10789920" cy="548640"/>
          </a:xfrm>
          <a:prstGeom prst="rect">
            <a:avLst/>
          </a:prstGeom>
          <a:noFill/>
        </p:spPr>
        <p:txBody>
          <a:bodyPr wrap="square" lIns="0" tIns="0" rIns="0" bIns="0" anchor="t">
            <a:noAutofit/>
          </a:bodyPr>
          <a:lstStyle/>
          <a:p>
            <a:pPr algn="l"/>
            <a:r>
              <a:rPr sz="1700" b="0">
                <a:solidFill>
                  <a:srgbClr val="64748B"/>
                </a:solidFill>
                <a:latin typeface="Segoe UI"/>
              </a:rPr>
              <a:t>Chaque rôle ne voit que ce qui le concerne.</a:t>
            </a:r>
          </a:p>
        </p:txBody>
      </p:sp>
      <p:sp>
        <p:nvSpPr>
          <p:cNvPr id="5" name="TextBox 4"/>
          <p:cNvSpPr txBox="1"/>
          <p:nvPr/>
        </p:nvSpPr>
        <p:spPr>
          <a:xfrm>
            <a:off x="566928" y="2240280"/>
            <a:ext cx="5074920" cy="3749039"/>
          </a:xfrm>
          <a:prstGeom prst="rect">
            <a:avLst/>
          </a:prstGeom>
          <a:noFill/>
        </p:spPr>
        <p:txBody>
          <a:bodyPr wrap="square" lIns="0" tIns="0" rIns="0" bIns="0" anchor="t">
            <a:noAutofit/>
          </a:bodyPr>
          <a:lstStyle/>
          <a:p>
            <a:pPr algn="l">
              <a:lnSpc>
                <a:spcPct val="112000"/>
              </a:lnSpc>
              <a:spcAft>
                <a:spcPts val="1100"/>
              </a:spcAft>
            </a:pPr>
            <a:r>
              <a:rPr sz="1600" b="1">
                <a:solidFill>
                  <a:srgbClr val="2A9B69"/>
                </a:solidFill>
                <a:latin typeface="Segoe UI"/>
              </a:rPr>
              <a:t>›  </a:t>
            </a:r>
            <a:r>
              <a:rPr sz="1600" b="1">
                <a:solidFill>
                  <a:srgbClr val="0F172A"/>
                </a:solidFill>
                <a:latin typeface="Segoe UI"/>
              </a:rPr>
              <a:t>Authentification par JWT </a:t>
            </a:r>
            <a:r>
              <a:rPr sz="1600" b="0">
                <a:solidFill>
                  <a:srgbClr val="64748B"/>
                </a:solidFill>
                <a:latin typeface="Segoe UI"/>
              </a:rPr>
              <a:t>(SimpleJWT).</a:t>
            </a:r>
          </a:p>
          <a:p>
            <a:pPr algn="l">
              <a:lnSpc>
                <a:spcPct val="112000"/>
              </a:lnSpc>
              <a:spcAft>
                <a:spcPts val="1100"/>
              </a:spcAft>
            </a:pPr>
            <a:r>
              <a:rPr sz="1600" b="1">
                <a:solidFill>
                  <a:srgbClr val="2A9B69"/>
                </a:solidFill>
                <a:latin typeface="Segoe UI"/>
              </a:rPr>
              <a:t>›  </a:t>
            </a:r>
            <a:r>
              <a:rPr sz="1600" b="1">
                <a:solidFill>
                  <a:srgbClr val="0F172A"/>
                </a:solidFill>
                <a:latin typeface="Segoe UI"/>
              </a:rPr>
              <a:t>Permissions par rôle </a:t>
            </a:r>
            <a:r>
              <a:rPr sz="1600" b="0">
                <a:solidFill>
                  <a:srgbClr val="64748B"/>
                </a:solidFill>
                <a:latin typeface="Segoe UI"/>
              </a:rPr>
              <a:t>au niveau de l'API (DRF).</a:t>
            </a:r>
          </a:p>
          <a:p>
            <a:pPr algn="l">
              <a:lnSpc>
                <a:spcPct val="112000"/>
              </a:lnSpc>
              <a:spcAft>
                <a:spcPts val="1100"/>
              </a:spcAft>
            </a:pPr>
            <a:r>
              <a:rPr sz="1600" b="1">
                <a:solidFill>
                  <a:srgbClr val="2A9B69"/>
                </a:solidFill>
                <a:latin typeface="Segoe UI"/>
              </a:rPr>
              <a:t>›  </a:t>
            </a:r>
            <a:r>
              <a:rPr sz="1600" b="1">
                <a:solidFill>
                  <a:srgbClr val="0F172A"/>
                </a:solidFill>
                <a:latin typeface="Segoe UI"/>
              </a:rPr>
              <a:t>Cloisonnement strict </a:t>
            </a:r>
            <a:r>
              <a:rPr sz="1600" b="0">
                <a:solidFill>
                  <a:srgbClr val="64748B"/>
                </a:solidFill>
                <a:latin typeface="Segoe UI"/>
              </a:rPr>
              <a:t>des données, selon les permissions propres à chaque rôle.</a:t>
            </a:r>
          </a:p>
          <a:p>
            <a:pPr algn="l">
              <a:lnSpc>
                <a:spcPct val="112000"/>
              </a:lnSpc>
              <a:spcAft>
                <a:spcPts val="1100"/>
              </a:spcAft>
            </a:pPr>
            <a:r>
              <a:rPr sz="1600" b="1">
                <a:solidFill>
                  <a:srgbClr val="2A9B69"/>
                </a:solidFill>
                <a:latin typeface="Segoe UI"/>
              </a:rPr>
              <a:t>›  </a:t>
            </a:r>
            <a:r>
              <a:rPr sz="1600" b="1">
                <a:solidFill>
                  <a:srgbClr val="0F172A"/>
                </a:solidFill>
                <a:latin typeface="Segoe UI"/>
              </a:rPr>
              <a:t>Corbeille et traçabilité </a:t>
            </a:r>
            <a:r>
              <a:rPr sz="1600" b="0">
                <a:solidFill>
                  <a:srgbClr val="64748B"/>
                </a:solidFill>
                <a:latin typeface="Segoe UI"/>
              </a:rPr>
              <a:t>des actions.</a:t>
            </a:r>
          </a:p>
        </p:txBody>
      </p:sp>
      <p:sp>
        <p:nvSpPr>
          <p:cNvPr id="8" name="Rectangle 7"/>
          <p:cNvSpPr/>
          <p:nvPr/>
        </p:nvSpPr>
        <p:spPr>
          <a:xfrm>
            <a:off x="548640" y="6419088"/>
            <a:ext cx="11091672" cy="127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9" name="Picture 8" descr="00-icone-curamedical.png"/>
          <p:cNvPicPr>
            <a:picLocks noChangeAspect="1"/>
          </p:cNvPicPr>
          <p:nvPr/>
        </p:nvPicPr>
        <p:blipFill>
          <a:blip r:embed="rId2"/>
          <a:stretch>
            <a:fillRect/>
          </a:stretch>
        </p:blipFill>
        <p:spPr>
          <a:xfrm>
            <a:off x="548640" y="6510528"/>
            <a:ext cx="329184" cy="219456"/>
          </a:xfrm>
          <a:prstGeom prst="rect">
            <a:avLst/>
          </a:prstGeom>
        </p:spPr>
      </p:pic>
      <p:sp>
        <p:nvSpPr>
          <p:cNvPr id="10" name="TextBox 9"/>
          <p:cNvSpPr txBox="1"/>
          <p:nvPr/>
        </p:nvSpPr>
        <p:spPr>
          <a:xfrm>
            <a:off x="868680" y="6519672"/>
            <a:ext cx="4572000" cy="274320"/>
          </a:xfrm>
          <a:prstGeom prst="rect">
            <a:avLst/>
          </a:prstGeom>
          <a:noFill/>
        </p:spPr>
        <p:txBody>
          <a:bodyPr wrap="square" lIns="0" tIns="0" rIns="0" bIns="0" anchor="t">
            <a:noAutofit/>
          </a:bodyPr>
          <a:lstStyle/>
          <a:p>
            <a:pPr algn="l"/>
            <a:r>
              <a:rPr sz="1050" b="1">
                <a:solidFill>
                  <a:srgbClr val="2A9B69"/>
                </a:solidFill>
                <a:latin typeface="Segoe UI"/>
              </a:rPr>
              <a:t>CuraMedical</a:t>
            </a:r>
          </a:p>
        </p:txBody>
      </p:sp>
      <p:sp>
        <p:nvSpPr>
          <p:cNvPr id="11" name="TextBox 10"/>
          <p:cNvSpPr txBox="1"/>
          <p:nvPr/>
        </p:nvSpPr>
        <p:spPr>
          <a:xfrm>
            <a:off x="7315200" y="6519672"/>
            <a:ext cx="4325112" cy="274320"/>
          </a:xfrm>
          <a:prstGeom prst="rect">
            <a:avLst/>
          </a:prstGeom>
          <a:noFill/>
        </p:spPr>
        <p:txBody>
          <a:bodyPr wrap="square" lIns="0" tIns="0" rIns="0" bIns="0" anchor="t">
            <a:noAutofit/>
          </a:bodyPr>
          <a:lstStyle/>
          <a:p>
            <a:pPr algn="r"/>
            <a:r>
              <a:rPr sz="1050" b="0">
                <a:solidFill>
                  <a:srgbClr val="64748B"/>
                </a:solidFill>
                <a:latin typeface="Segoe UI"/>
              </a:rPr>
              <a:t>07 / 18</a:t>
            </a:r>
          </a:p>
        </p:txBody>
      </p:sp>
      <p:pic>
        <p:nvPicPr>
          <p:cNvPr id="12" name="Image 11">
            <a:extLst>
              <a:ext uri="{FF2B5EF4-FFF2-40B4-BE49-F238E27FC236}">
                <a16:creationId xmlns:a16="http://schemas.microsoft.com/office/drawing/2014/main" id="{9CE61D86-40BF-40A2-957A-B32DF0D35461}"/>
              </a:ext>
            </a:extLst>
          </p:cNvPr>
          <p:cNvPicPr>
            <a:picLocks noChangeAspect="1"/>
          </p:cNvPicPr>
          <p:nvPr/>
        </p:nvPicPr>
        <p:blipFill>
          <a:blip r:embed="rId2"/>
          <a:stretch>
            <a:fillRect/>
          </a:stretch>
        </p:blipFill>
        <p:spPr>
          <a:xfrm>
            <a:off x="10357326" y="-249298"/>
            <a:ext cx="2584890" cy="1723260"/>
          </a:xfrm>
          <a:prstGeom prst="rect">
            <a:avLst/>
          </a:prstGeom>
        </p:spPr>
      </p:pic>
      <p:sp>
        <p:nvSpPr>
          <p:cNvPr id="13" name="TextBox 12"/>
          <p:cNvSpPr txBox="1"/>
          <p:nvPr/>
        </p:nvSpPr>
        <p:spPr>
          <a:xfrm>
            <a:off x="3657600" y="6528816"/>
            <a:ext cx="4873752" cy="274320"/>
          </a:xfrm>
          <a:prstGeom prst="rect">
            <a:avLst/>
          </a:prstGeom>
          <a:noFill/>
        </p:spPr>
        <p:txBody>
          <a:bodyPr wrap="square" lIns="0" tIns="0" rIns="0" bIns="0" anchor="t">
            <a:noAutofit/>
          </a:bodyPr>
          <a:lstStyle/>
          <a:p>
            <a:pPr algn="ctr"/>
            <a:r>
              <a:rPr sz="900" b="1">
                <a:solidFill>
                  <a:srgbClr val="64748B"/>
                </a:solidFill>
                <a:latin typeface="Segoe UI"/>
              </a:rPr>
              <a:t>PARTIE 3 · L'APPLICATION PAR RÔLE</a:t>
            </a:r>
          </a:p>
        </p:txBody>
      </p:sp>
      <p:pic>
        <p:nvPicPr>
          <p:cNvPr id="14" name="Picture 13" descr="07-securite-illustration.png"/>
          <p:cNvPicPr>
            <a:picLocks noChangeAspect="1"/>
          </p:cNvPicPr>
          <p:nvPr/>
        </p:nvPicPr>
        <p:blipFill>
          <a:blip r:embed="rId3"/>
          <a:stretch>
            <a:fillRect/>
          </a:stretch>
        </p:blipFill>
        <p:spPr>
          <a:xfrm>
            <a:off x="566928" y="4160520"/>
            <a:ext cx="2971800" cy="1993738"/>
          </a:xfrm>
          <a:prstGeom prst="rect">
            <a:avLst/>
          </a:prstGeom>
          <a:ln>
            <a:noFill/>
          </a:ln>
          <a:effectLst/>
        </p:spPr>
      </p:pic>
      <p:pic>
        <p:nvPicPr>
          <p:cNvPr id="16" name="Picture 15" descr="08-connexion-securisee.png"/>
          <p:cNvPicPr>
            <a:picLocks noChangeAspect="1"/>
          </p:cNvPicPr>
          <p:nvPr/>
        </p:nvPicPr>
        <p:blipFill>
          <a:blip r:embed="rId4"/>
          <a:stretch>
            <a:fillRect/>
          </a:stretch>
        </p:blipFill>
        <p:spPr>
          <a:xfrm>
            <a:off x="5760719" y="2056764"/>
            <a:ext cx="6158011" cy="3463881"/>
          </a:xfrm>
          <a:prstGeom prst="rect">
            <a:avLst/>
          </a:prstGeom>
          <a:ln w="9525">
            <a:solidFill>
              <a:srgbClr val="E2E8F0"/>
            </a:solidFill>
          </a:ln>
          <a:effectLst/>
        </p:spPr>
      </p:pic>
      <p:sp>
        <p:nvSpPr>
          <p:cNvPr id="17" name="TextBox 16"/>
          <p:cNvSpPr txBox="1"/>
          <p:nvPr/>
        </p:nvSpPr>
        <p:spPr>
          <a:xfrm>
            <a:off x="5779008" y="5577840"/>
            <a:ext cx="5852160" cy="502920"/>
          </a:xfrm>
          <a:prstGeom prst="rect">
            <a:avLst/>
          </a:prstGeom>
          <a:noFill/>
        </p:spPr>
        <p:txBody>
          <a:bodyPr wrap="square" lIns="0" tIns="0">
            <a:spAutoFit/>
          </a:bodyPr>
          <a:lstStyle/>
          <a:p>
            <a:pPr>
              <a:lnSpc>
                <a:spcPct val="110000"/>
              </a:lnSpc>
            </a:pPr>
            <a:r>
              <a:rPr sz="1200" b="1">
                <a:solidFill>
                  <a:srgbClr val="2A9B69"/>
                </a:solidFill>
                <a:latin typeface="Segoe UI"/>
              </a:rPr>
              <a:t>Porte d’entrée sécurisée  </a:t>
            </a:r>
            <a:r>
              <a:rPr sz="1200">
                <a:solidFill>
                  <a:srgbClr val="64748B"/>
                </a:solidFill>
                <a:latin typeface="Segoe UI"/>
              </a:rPr>
              <a:t>— accès réservé aux professionnels ; les données médicales sensibles sont journalisées.</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7F8FA"/>
        </a:solidFill>
        <a:effectLst/>
      </p:bgPr>
    </p:bg>
    <p:spTree>
      <p:nvGrpSpPr>
        <p:cNvPr id="1" name=""/>
        <p:cNvGrpSpPr/>
        <p:nvPr/>
      </p:nvGrpSpPr>
      <p:grpSpPr>
        <a:xfrm>
          <a:off x="0" y="0"/>
          <a:ext cx="0" cy="0"/>
          <a:chOff x="0" y="0"/>
          <a:chExt cx="0" cy="0"/>
        </a:xfrm>
      </p:grpSpPr>
      <p:sp>
        <p:nvSpPr>
          <p:cNvPr id="2" name="TextBox 1"/>
          <p:cNvSpPr txBox="1"/>
          <p:nvPr/>
        </p:nvSpPr>
        <p:spPr>
          <a:xfrm>
            <a:off x="566928" y="475488"/>
            <a:ext cx="10972800" cy="274320"/>
          </a:xfrm>
          <a:prstGeom prst="rect">
            <a:avLst/>
          </a:prstGeom>
          <a:noFill/>
        </p:spPr>
        <p:txBody>
          <a:bodyPr wrap="square" lIns="0" tIns="0" rIns="0" bIns="0" anchor="t">
            <a:noAutofit/>
          </a:bodyPr>
          <a:lstStyle/>
          <a:p>
            <a:pPr algn="l"/>
            <a:r>
              <a:rPr sz="1250" b="1">
                <a:solidFill>
                  <a:srgbClr val="2A9B69"/>
                </a:solidFill>
                <a:latin typeface="Segoe UI"/>
              </a:rPr>
              <a:t>RÔLE · SECRÉTAIRE</a:t>
            </a:r>
          </a:p>
        </p:txBody>
      </p:sp>
      <p:sp>
        <p:nvSpPr>
          <p:cNvPr id="3" name="TextBox 2"/>
          <p:cNvSpPr txBox="1"/>
          <p:nvPr/>
        </p:nvSpPr>
        <p:spPr>
          <a:xfrm>
            <a:off x="548640" y="768096"/>
            <a:ext cx="11064240" cy="868680"/>
          </a:xfrm>
          <a:prstGeom prst="rect">
            <a:avLst/>
          </a:prstGeom>
          <a:noFill/>
        </p:spPr>
        <p:txBody>
          <a:bodyPr wrap="square" lIns="0" tIns="0" rIns="0" bIns="0" anchor="t">
            <a:noAutofit/>
          </a:bodyPr>
          <a:lstStyle/>
          <a:p>
            <a:pPr algn="l"/>
            <a:r>
              <a:rPr sz="3800" b="1">
                <a:solidFill>
                  <a:srgbClr val="0F172A"/>
                </a:solidFill>
                <a:latin typeface="Segoe UI"/>
              </a:rPr>
              <a:t>Gestion patients &amp; rendez-vous</a:t>
            </a:r>
          </a:p>
        </p:txBody>
      </p:sp>
      <p:sp>
        <p:nvSpPr>
          <p:cNvPr id="4" name="TextBox 3"/>
          <p:cNvSpPr txBox="1"/>
          <p:nvPr/>
        </p:nvSpPr>
        <p:spPr>
          <a:xfrm>
            <a:off x="566928" y="1517904"/>
            <a:ext cx="10789920" cy="548640"/>
          </a:xfrm>
          <a:prstGeom prst="rect">
            <a:avLst/>
          </a:prstGeom>
          <a:noFill/>
        </p:spPr>
        <p:txBody>
          <a:bodyPr wrap="square" lIns="0" tIns="0" rIns="0" bIns="0" anchor="t">
            <a:noAutofit/>
          </a:bodyPr>
          <a:lstStyle/>
          <a:p>
            <a:pPr algn="l"/>
            <a:r>
              <a:rPr sz="1700" b="0">
                <a:solidFill>
                  <a:srgbClr val="64748B"/>
                </a:solidFill>
                <a:latin typeface="Segoe UI"/>
              </a:rPr>
              <a:t>Le quotidien de l'accueil, centralisé et fluide.</a:t>
            </a:r>
          </a:p>
        </p:txBody>
      </p:sp>
      <p:sp>
        <p:nvSpPr>
          <p:cNvPr id="5" name="TextBox 4"/>
          <p:cNvSpPr txBox="1"/>
          <p:nvPr/>
        </p:nvSpPr>
        <p:spPr>
          <a:xfrm>
            <a:off x="566928" y="2240280"/>
            <a:ext cx="5074920" cy="3749039"/>
          </a:xfrm>
          <a:prstGeom prst="rect">
            <a:avLst/>
          </a:prstGeom>
          <a:noFill/>
        </p:spPr>
        <p:txBody>
          <a:bodyPr wrap="square" lIns="0" tIns="0" rIns="0" bIns="0" anchor="t">
            <a:noAutofit/>
          </a:bodyPr>
          <a:lstStyle/>
          <a:p>
            <a:pPr algn="l">
              <a:lnSpc>
                <a:spcPct val="112000"/>
              </a:lnSpc>
              <a:spcAft>
                <a:spcPts val="1100"/>
              </a:spcAft>
            </a:pPr>
            <a:r>
              <a:rPr sz="1600" b="1">
                <a:solidFill>
                  <a:srgbClr val="2A9B69"/>
                </a:solidFill>
                <a:latin typeface="Segoe UI"/>
              </a:rPr>
              <a:t>›  </a:t>
            </a:r>
            <a:r>
              <a:rPr sz="1600" b="1">
                <a:solidFill>
                  <a:srgbClr val="0F172A"/>
                </a:solidFill>
                <a:latin typeface="Segoe UI"/>
              </a:rPr>
              <a:t>Dossiers patients </a:t>
            </a:r>
            <a:r>
              <a:rPr sz="1600" b="0">
                <a:solidFill>
                  <a:srgbClr val="64748B"/>
                </a:solidFill>
                <a:latin typeface="Segoe UI"/>
              </a:rPr>
              <a:t>complets, recherche rapide.</a:t>
            </a:r>
          </a:p>
          <a:p>
            <a:pPr algn="l">
              <a:lnSpc>
                <a:spcPct val="112000"/>
              </a:lnSpc>
              <a:spcAft>
                <a:spcPts val="1100"/>
              </a:spcAft>
            </a:pPr>
            <a:r>
              <a:rPr sz="1600" b="1">
                <a:solidFill>
                  <a:srgbClr val="2A9B69"/>
                </a:solidFill>
                <a:latin typeface="Segoe UI"/>
              </a:rPr>
              <a:t>›  </a:t>
            </a:r>
            <a:r>
              <a:rPr sz="1600" b="1">
                <a:solidFill>
                  <a:srgbClr val="0F172A"/>
                </a:solidFill>
                <a:latin typeface="Segoe UI"/>
              </a:rPr>
              <a:t>Création et suivi </a:t>
            </a:r>
            <a:r>
              <a:rPr sz="1600" b="0">
                <a:solidFill>
                  <a:srgbClr val="64748B"/>
                </a:solidFill>
                <a:latin typeface="Segoe UI"/>
              </a:rPr>
              <a:t>des rendez-vous.</a:t>
            </a:r>
          </a:p>
          <a:p>
            <a:pPr algn="l">
              <a:lnSpc>
                <a:spcPct val="112000"/>
              </a:lnSpc>
              <a:spcAft>
                <a:spcPts val="1100"/>
              </a:spcAft>
            </a:pPr>
            <a:r>
              <a:rPr sz="1600" b="1">
                <a:solidFill>
                  <a:srgbClr val="2A9B69"/>
                </a:solidFill>
                <a:latin typeface="Segoe UI"/>
              </a:rPr>
              <a:t>›  </a:t>
            </a:r>
            <a:r>
              <a:rPr sz="1600" b="1">
                <a:solidFill>
                  <a:srgbClr val="0F172A"/>
                </a:solidFill>
                <a:latin typeface="Segoe UI"/>
              </a:rPr>
              <a:t>Planning </a:t>
            </a:r>
            <a:r>
              <a:rPr sz="1600" b="0">
                <a:solidFill>
                  <a:srgbClr val="64748B"/>
                </a:solidFill>
                <a:latin typeface="Segoe UI"/>
              </a:rPr>
              <a:t>par jour et par médecin.</a:t>
            </a:r>
          </a:p>
          <a:p>
            <a:pPr algn="l">
              <a:lnSpc>
                <a:spcPct val="112000"/>
              </a:lnSpc>
              <a:spcAft>
                <a:spcPts val="1100"/>
              </a:spcAft>
            </a:pPr>
            <a:r>
              <a:rPr sz="1600" b="1">
                <a:solidFill>
                  <a:srgbClr val="2A9B69"/>
                </a:solidFill>
                <a:latin typeface="Segoe UI"/>
              </a:rPr>
              <a:t>›  </a:t>
            </a:r>
            <a:r>
              <a:rPr sz="1600" b="1">
                <a:solidFill>
                  <a:srgbClr val="0F172A"/>
                </a:solidFill>
                <a:latin typeface="Segoe UI"/>
              </a:rPr>
              <a:t>Statuts &amp; corbeille </a:t>
            </a:r>
            <a:r>
              <a:rPr sz="1600" b="0">
                <a:solidFill>
                  <a:srgbClr val="64748B"/>
                </a:solidFill>
                <a:latin typeface="Segoe UI"/>
              </a:rPr>
              <a:t>de récupération.</a:t>
            </a:r>
          </a:p>
        </p:txBody>
      </p:sp>
      <p:pic>
        <p:nvPicPr>
          <p:cNvPr id="7" name="Picture 6" descr="08a-secretaire-patients.png"/>
          <p:cNvPicPr>
            <a:picLocks noChangeAspect="1"/>
          </p:cNvPicPr>
          <p:nvPr/>
        </p:nvPicPr>
        <p:blipFill>
          <a:blip r:embed="rId2"/>
          <a:stretch>
            <a:fillRect/>
          </a:stretch>
        </p:blipFill>
        <p:spPr>
          <a:xfrm>
            <a:off x="6096000" y="1443669"/>
            <a:ext cx="4292867" cy="2414738"/>
          </a:xfrm>
          <a:prstGeom prst="rect">
            <a:avLst/>
          </a:prstGeom>
          <a:ln w="9525">
            <a:solidFill>
              <a:srgbClr val="E2E8F0"/>
            </a:solidFill>
          </a:ln>
          <a:effectLst/>
        </p:spPr>
      </p:pic>
      <p:pic>
        <p:nvPicPr>
          <p:cNvPr id="9" name="Picture 8" descr="08b-secretaire-planning-rdv.png"/>
          <p:cNvPicPr>
            <a:picLocks noChangeAspect="1"/>
          </p:cNvPicPr>
          <p:nvPr/>
        </p:nvPicPr>
        <p:blipFill>
          <a:blip r:embed="rId3"/>
          <a:stretch>
            <a:fillRect/>
          </a:stretch>
        </p:blipFill>
        <p:spPr>
          <a:xfrm>
            <a:off x="6080760" y="3967774"/>
            <a:ext cx="4292867" cy="2414738"/>
          </a:xfrm>
          <a:prstGeom prst="rect">
            <a:avLst/>
          </a:prstGeom>
          <a:ln w="9525">
            <a:solidFill>
              <a:srgbClr val="E2E8F0"/>
            </a:solidFill>
          </a:ln>
          <a:effectLst/>
        </p:spPr>
      </p:pic>
      <p:sp>
        <p:nvSpPr>
          <p:cNvPr id="10" name="Rectangle 9"/>
          <p:cNvSpPr/>
          <p:nvPr/>
        </p:nvSpPr>
        <p:spPr>
          <a:xfrm>
            <a:off x="548640" y="6419088"/>
            <a:ext cx="11091672" cy="127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1" name="Picture 10" descr="00-icone-curamedical.png"/>
          <p:cNvPicPr>
            <a:picLocks noChangeAspect="1"/>
          </p:cNvPicPr>
          <p:nvPr/>
        </p:nvPicPr>
        <p:blipFill>
          <a:blip r:embed="rId4"/>
          <a:stretch>
            <a:fillRect/>
          </a:stretch>
        </p:blipFill>
        <p:spPr>
          <a:xfrm>
            <a:off x="548640" y="6510528"/>
            <a:ext cx="329184" cy="219456"/>
          </a:xfrm>
          <a:prstGeom prst="rect">
            <a:avLst/>
          </a:prstGeom>
        </p:spPr>
      </p:pic>
      <p:sp>
        <p:nvSpPr>
          <p:cNvPr id="12" name="TextBox 11"/>
          <p:cNvSpPr txBox="1"/>
          <p:nvPr/>
        </p:nvSpPr>
        <p:spPr>
          <a:xfrm>
            <a:off x="868680" y="6519672"/>
            <a:ext cx="4572000" cy="274320"/>
          </a:xfrm>
          <a:prstGeom prst="rect">
            <a:avLst/>
          </a:prstGeom>
          <a:noFill/>
        </p:spPr>
        <p:txBody>
          <a:bodyPr wrap="square" lIns="0" tIns="0" rIns="0" bIns="0" anchor="t">
            <a:noAutofit/>
          </a:bodyPr>
          <a:lstStyle/>
          <a:p>
            <a:pPr algn="l"/>
            <a:r>
              <a:rPr sz="1050" b="1">
                <a:solidFill>
                  <a:srgbClr val="2A9B69"/>
                </a:solidFill>
                <a:latin typeface="Segoe UI"/>
              </a:rPr>
              <a:t>CuraMedical</a:t>
            </a:r>
          </a:p>
        </p:txBody>
      </p:sp>
      <p:sp>
        <p:nvSpPr>
          <p:cNvPr id="13" name="TextBox 12"/>
          <p:cNvSpPr txBox="1"/>
          <p:nvPr/>
        </p:nvSpPr>
        <p:spPr>
          <a:xfrm>
            <a:off x="7315200" y="6519672"/>
            <a:ext cx="4325112" cy="274320"/>
          </a:xfrm>
          <a:prstGeom prst="rect">
            <a:avLst/>
          </a:prstGeom>
          <a:noFill/>
        </p:spPr>
        <p:txBody>
          <a:bodyPr wrap="square" lIns="0" tIns="0" rIns="0" bIns="0" anchor="t">
            <a:noAutofit/>
          </a:bodyPr>
          <a:lstStyle/>
          <a:p>
            <a:pPr algn="r"/>
            <a:r>
              <a:rPr sz="1050" b="0">
                <a:solidFill>
                  <a:srgbClr val="64748B"/>
                </a:solidFill>
                <a:latin typeface="Segoe UI"/>
              </a:rPr>
              <a:t>08 / 18</a:t>
            </a:r>
          </a:p>
        </p:txBody>
      </p:sp>
      <p:pic>
        <p:nvPicPr>
          <p:cNvPr id="14" name="Image 13">
            <a:extLst>
              <a:ext uri="{FF2B5EF4-FFF2-40B4-BE49-F238E27FC236}">
                <a16:creationId xmlns:a16="http://schemas.microsoft.com/office/drawing/2014/main" id="{CD6D1171-FEF4-4095-B904-BBB0014650F7}"/>
              </a:ext>
            </a:extLst>
          </p:cNvPr>
          <p:cNvPicPr>
            <a:picLocks noChangeAspect="1"/>
          </p:cNvPicPr>
          <p:nvPr/>
        </p:nvPicPr>
        <p:blipFill>
          <a:blip r:embed="rId4"/>
          <a:stretch>
            <a:fillRect/>
          </a:stretch>
        </p:blipFill>
        <p:spPr>
          <a:xfrm>
            <a:off x="10357326" y="-249298"/>
            <a:ext cx="2584890" cy="1723260"/>
          </a:xfrm>
          <a:prstGeom prst="rect">
            <a:avLst/>
          </a:prstGeom>
        </p:spPr>
      </p:pic>
      <p:sp>
        <p:nvSpPr>
          <p:cNvPr id="15" name="TextBox 14"/>
          <p:cNvSpPr txBox="1"/>
          <p:nvPr/>
        </p:nvSpPr>
        <p:spPr>
          <a:xfrm>
            <a:off x="3657600" y="6528816"/>
            <a:ext cx="4873752" cy="274320"/>
          </a:xfrm>
          <a:prstGeom prst="rect">
            <a:avLst/>
          </a:prstGeom>
          <a:noFill/>
        </p:spPr>
        <p:txBody>
          <a:bodyPr wrap="square" lIns="0" tIns="0" rIns="0" bIns="0" anchor="t">
            <a:noAutofit/>
          </a:bodyPr>
          <a:lstStyle/>
          <a:p>
            <a:pPr algn="ctr"/>
            <a:r>
              <a:rPr sz="900" b="1">
                <a:solidFill>
                  <a:srgbClr val="64748B"/>
                </a:solidFill>
                <a:latin typeface="Segoe UI"/>
              </a:rPr>
              <a:t>PARTIE 3 · L'APPLICATION PAR RÔLE</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7F8FA"/>
        </a:solidFill>
        <a:effectLst/>
      </p:bgPr>
    </p:bg>
    <p:spTree>
      <p:nvGrpSpPr>
        <p:cNvPr id="1" name=""/>
        <p:cNvGrpSpPr/>
        <p:nvPr/>
      </p:nvGrpSpPr>
      <p:grpSpPr>
        <a:xfrm>
          <a:off x="0" y="0"/>
          <a:ext cx="0" cy="0"/>
          <a:chOff x="0" y="0"/>
          <a:chExt cx="0" cy="0"/>
        </a:xfrm>
      </p:grpSpPr>
      <p:sp>
        <p:nvSpPr>
          <p:cNvPr id="2" name="TextBox 1"/>
          <p:cNvSpPr txBox="1"/>
          <p:nvPr/>
        </p:nvSpPr>
        <p:spPr>
          <a:xfrm>
            <a:off x="566928" y="475488"/>
            <a:ext cx="10972800" cy="274320"/>
          </a:xfrm>
          <a:prstGeom prst="rect">
            <a:avLst/>
          </a:prstGeom>
          <a:noFill/>
        </p:spPr>
        <p:txBody>
          <a:bodyPr wrap="square" lIns="0" tIns="0" rIns="0" bIns="0" anchor="t">
            <a:noAutofit/>
          </a:bodyPr>
          <a:lstStyle/>
          <a:p>
            <a:pPr algn="l"/>
            <a:r>
              <a:rPr sz="1250" b="1">
                <a:solidFill>
                  <a:srgbClr val="2A9B69"/>
                </a:solidFill>
                <a:latin typeface="Segoe UI"/>
              </a:rPr>
              <a:t>RÔLE · MÉDECIN</a:t>
            </a:r>
          </a:p>
        </p:txBody>
      </p:sp>
      <p:sp>
        <p:nvSpPr>
          <p:cNvPr id="3" name="TextBox 2"/>
          <p:cNvSpPr txBox="1"/>
          <p:nvPr/>
        </p:nvSpPr>
        <p:spPr>
          <a:xfrm>
            <a:off x="548640" y="768096"/>
            <a:ext cx="11064240" cy="868680"/>
          </a:xfrm>
          <a:prstGeom prst="rect">
            <a:avLst/>
          </a:prstGeom>
          <a:noFill/>
        </p:spPr>
        <p:txBody>
          <a:bodyPr wrap="square" lIns="0" tIns="0" rIns="0" bIns="0" anchor="t">
            <a:noAutofit/>
          </a:bodyPr>
          <a:lstStyle/>
          <a:p>
            <a:pPr algn="l"/>
            <a:r>
              <a:rPr sz="3800" b="1">
                <a:solidFill>
                  <a:srgbClr val="0F172A"/>
                </a:solidFill>
                <a:latin typeface="Segoe UI"/>
              </a:rPr>
              <a:t>Consultations</a:t>
            </a:r>
          </a:p>
        </p:txBody>
      </p:sp>
      <p:sp>
        <p:nvSpPr>
          <p:cNvPr id="4" name="TextBox 3"/>
          <p:cNvSpPr txBox="1"/>
          <p:nvPr/>
        </p:nvSpPr>
        <p:spPr>
          <a:xfrm>
            <a:off x="566928" y="1517904"/>
            <a:ext cx="10789920" cy="548640"/>
          </a:xfrm>
          <a:prstGeom prst="rect">
            <a:avLst/>
          </a:prstGeom>
          <a:noFill/>
        </p:spPr>
        <p:txBody>
          <a:bodyPr wrap="square" lIns="0" tIns="0" rIns="0" bIns="0" anchor="t">
            <a:noAutofit/>
          </a:bodyPr>
          <a:lstStyle/>
          <a:p>
            <a:pPr algn="l"/>
            <a:r>
              <a:rPr sz="1700" b="0">
                <a:solidFill>
                  <a:srgbClr val="64748B"/>
                </a:solidFill>
                <a:latin typeface="Segoe UI"/>
              </a:rPr>
              <a:t>Une fiche patient complète, au service de la décision clinique.</a:t>
            </a:r>
          </a:p>
        </p:txBody>
      </p:sp>
      <p:sp>
        <p:nvSpPr>
          <p:cNvPr id="5" name="TextBox 4"/>
          <p:cNvSpPr txBox="1"/>
          <p:nvPr/>
        </p:nvSpPr>
        <p:spPr>
          <a:xfrm>
            <a:off x="566928" y="2240280"/>
            <a:ext cx="5074920" cy="3749039"/>
          </a:xfrm>
          <a:prstGeom prst="rect">
            <a:avLst/>
          </a:prstGeom>
          <a:noFill/>
        </p:spPr>
        <p:txBody>
          <a:bodyPr wrap="square" lIns="0" tIns="0" rIns="0" bIns="0" anchor="t">
            <a:noAutofit/>
          </a:bodyPr>
          <a:lstStyle/>
          <a:p>
            <a:pPr algn="l">
              <a:lnSpc>
                <a:spcPct val="112000"/>
              </a:lnSpc>
              <a:spcAft>
                <a:spcPts val="1100"/>
              </a:spcAft>
            </a:pPr>
            <a:r>
              <a:rPr sz="1600" b="1">
                <a:solidFill>
                  <a:srgbClr val="2A9B69"/>
                </a:solidFill>
                <a:latin typeface="Segoe UI"/>
              </a:rPr>
              <a:t>›  </a:t>
            </a:r>
            <a:r>
              <a:rPr sz="1600" b="1">
                <a:solidFill>
                  <a:srgbClr val="0F172A"/>
                </a:solidFill>
                <a:latin typeface="Segoe UI"/>
              </a:rPr>
              <a:t>Fiche patient 360° </a:t>
            </a:r>
            <a:r>
              <a:rPr sz="1600" b="0">
                <a:solidFill>
                  <a:srgbClr val="64748B"/>
                </a:solidFill>
                <a:latin typeface="Segoe UI"/>
              </a:rPr>
              <a:t>: informations, antécédents, historique.</a:t>
            </a:r>
          </a:p>
          <a:p>
            <a:pPr algn="l">
              <a:lnSpc>
                <a:spcPct val="112000"/>
              </a:lnSpc>
              <a:spcAft>
                <a:spcPts val="1100"/>
              </a:spcAft>
            </a:pPr>
            <a:r>
              <a:rPr sz="1600" b="1">
                <a:solidFill>
                  <a:srgbClr val="2A9B69"/>
                </a:solidFill>
                <a:latin typeface="Segoe UI"/>
              </a:rPr>
              <a:t>›  </a:t>
            </a:r>
            <a:r>
              <a:rPr sz="1600" b="1">
                <a:solidFill>
                  <a:srgbClr val="0F172A"/>
                </a:solidFill>
                <a:latin typeface="Segoe UI"/>
              </a:rPr>
              <a:t>Saisie structurée </a:t>
            </a:r>
            <a:r>
              <a:rPr sz="1600" b="0">
                <a:solidFill>
                  <a:srgbClr val="64748B"/>
                </a:solidFill>
                <a:latin typeface="Segoe UI"/>
              </a:rPr>
              <a:t>de la consultation.</a:t>
            </a:r>
          </a:p>
          <a:p>
            <a:pPr algn="l">
              <a:lnSpc>
                <a:spcPct val="112000"/>
              </a:lnSpc>
              <a:spcAft>
                <a:spcPts val="1100"/>
              </a:spcAft>
            </a:pPr>
            <a:r>
              <a:rPr sz="1600" b="1">
                <a:solidFill>
                  <a:srgbClr val="2A9B69"/>
                </a:solidFill>
                <a:latin typeface="Segoe UI"/>
              </a:rPr>
              <a:t>›  </a:t>
            </a:r>
            <a:r>
              <a:rPr sz="1600" b="1">
                <a:solidFill>
                  <a:srgbClr val="0F172A"/>
                </a:solidFill>
                <a:latin typeface="Segoe UI"/>
              </a:rPr>
              <a:t>Lien direct </a:t>
            </a:r>
            <a:r>
              <a:rPr sz="1600" b="0">
                <a:solidFill>
                  <a:srgbClr val="64748B"/>
                </a:solidFill>
                <a:latin typeface="Segoe UI"/>
              </a:rPr>
              <a:t>vers l'ordonnance et le compte-rendu.</a:t>
            </a:r>
          </a:p>
          <a:p>
            <a:pPr algn="l">
              <a:lnSpc>
                <a:spcPct val="112000"/>
              </a:lnSpc>
              <a:spcAft>
                <a:spcPts val="1100"/>
              </a:spcAft>
            </a:pPr>
            <a:r>
              <a:rPr sz="1600" b="1">
                <a:solidFill>
                  <a:srgbClr val="2A9B69"/>
                </a:solidFill>
                <a:latin typeface="Segoe UI"/>
              </a:rPr>
              <a:t>›  </a:t>
            </a:r>
            <a:r>
              <a:rPr sz="1600" b="1">
                <a:solidFill>
                  <a:srgbClr val="0F172A"/>
                </a:solidFill>
                <a:latin typeface="Segoe UI"/>
              </a:rPr>
              <a:t>Suivi de l'évolution </a:t>
            </a:r>
            <a:r>
              <a:rPr sz="1600" b="0">
                <a:solidFill>
                  <a:srgbClr val="64748B"/>
                </a:solidFill>
                <a:latin typeface="Segoe UI"/>
              </a:rPr>
              <a:t>du patient dans le temps.</a:t>
            </a:r>
          </a:p>
        </p:txBody>
      </p:sp>
      <p:pic>
        <p:nvPicPr>
          <p:cNvPr id="7" name="Picture 6" descr="09-medecin-fiche-patient.png"/>
          <p:cNvPicPr>
            <a:picLocks noChangeAspect="1"/>
          </p:cNvPicPr>
          <p:nvPr/>
        </p:nvPicPr>
        <p:blipFill>
          <a:blip r:embed="rId2"/>
          <a:stretch>
            <a:fillRect/>
          </a:stretch>
        </p:blipFill>
        <p:spPr>
          <a:xfrm>
            <a:off x="5888736" y="2223706"/>
            <a:ext cx="5650992" cy="3178683"/>
          </a:xfrm>
          <a:prstGeom prst="rect">
            <a:avLst/>
          </a:prstGeom>
          <a:ln w="9525">
            <a:solidFill>
              <a:srgbClr val="E2E8F0"/>
            </a:solidFill>
          </a:ln>
          <a:effectLst/>
        </p:spPr>
      </p:pic>
      <p:sp>
        <p:nvSpPr>
          <p:cNvPr id="8" name="Rectangle 7"/>
          <p:cNvSpPr/>
          <p:nvPr/>
        </p:nvSpPr>
        <p:spPr>
          <a:xfrm>
            <a:off x="548640" y="6419088"/>
            <a:ext cx="11091672" cy="127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9" name="Picture 8" descr="00-icone-curamedical.png"/>
          <p:cNvPicPr>
            <a:picLocks noChangeAspect="1"/>
          </p:cNvPicPr>
          <p:nvPr/>
        </p:nvPicPr>
        <p:blipFill>
          <a:blip r:embed="rId3"/>
          <a:stretch>
            <a:fillRect/>
          </a:stretch>
        </p:blipFill>
        <p:spPr>
          <a:xfrm>
            <a:off x="548640" y="6510528"/>
            <a:ext cx="329184" cy="219456"/>
          </a:xfrm>
          <a:prstGeom prst="rect">
            <a:avLst/>
          </a:prstGeom>
        </p:spPr>
      </p:pic>
      <p:sp>
        <p:nvSpPr>
          <p:cNvPr id="10" name="TextBox 9"/>
          <p:cNvSpPr txBox="1"/>
          <p:nvPr/>
        </p:nvSpPr>
        <p:spPr>
          <a:xfrm>
            <a:off x="868680" y="6519672"/>
            <a:ext cx="4572000" cy="274320"/>
          </a:xfrm>
          <a:prstGeom prst="rect">
            <a:avLst/>
          </a:prstGeom>
          <a:noFill/>
        </p:spPr>
        <p:txBody>
          <a:bodyPr wrap="square" lIns="0" tIns="0" rIns="0" bIns="0" anchor="t">
            <a:noAutofit/>
          </a:bodyPr>
          <a:lstStyle/>
          <a:p>
            <a:pPr algn="l"/>
            <a:r>
              <a:rPr sz="1050" b="1">
                <a:solidFill>
                  <a:srgbClr val="2A9B69"/>
                </a:solidFill>
                <a:latin typeface="Segoe UI"/>
              </a:rPr>
              <a:t>CuraMedical</a:t>
            </a:r>
          </a:p>
        </p:txBody>
      </p:sp>
      <p:sp>
        <p:nvSpPr>
          <p:cNvPr id="11" name="TextBox 10"/>
          <p:cNvSpPr txBox="1"/>
          <p:nvPr/>
        </p:nvSpPr>
        <p:spPr>
          <a:xfrm>
            <a:off x="7315200" y="6519672"/>
            <a:ext cx="4325112" cy="274320"/>
          </a:xfrm>
          <a:prstGeom prst="rect">
            <a:avLst/>
          </a:prstGeom>
          <a:noFill/>
        </p:spPr>
        <p:txBody>
          <a:bodyPr wrap="square" lIns="0" tIns="0" rIns="0" bIns="0" anchor="t">
            <a:noAutofit/>
          </a:bodyPr>
          <a:lstStyle/>
          <a:p>
            <a:pPr algn="r"/>
            <a:r>
              <a:rPr sz="1050" b="0">
                <a:solidFill>
                  <a:srgbClr val="64748B"/>
                </a:solidFill>
                <a:latin typeface="Segoe UI"/>
              </a:rPr>
              <a:t>09 / 18</a:t>
            </a:r>
          </a:p>
        </p:txBody>
      </p:sp>
      <p:pic>
        <p:nvPicPr>
          <p:cNvPr id="12" name="Image 11">
            <a:extLst>
              <a:ext uri="{FF2B5EF4-FFF2-40B4-BE49-F238E27FC236}">
                <a16:creationId xmlns:a16="http://schemas.microsoft.com/office/drawing/2014/main" id="{F5C0B710-BD80-4F8A-8127-F2FCDB8D51FB}"/>
              </a:ext>
            </a:extLst>
          </p:cNvPr>
          <p:cNvPicPr>
            <a:picLocks noChangeAspect="1"/>
          </p:cNvPicPr>
          <p:nvPr/>
        </p:nvPicPr>
        <p:blipFill>
          <a:blip r:embed="rId3"/>
          <a:stretch>
            <a:fillRect/>
          </a:stretch>
        </p:blipFill>
        <p:spPr>
          <a:xfrm>
            <a:off x="10357326" y="-249298"/>
            <a:ext cx="2584890" cy="1723260"/>
          </a:xfrm>
          <a:prstGeom prst="rect">
            <a:avLst/>
          </a:prstGeom>
        </p:spPr>
      </p:pic>
      <p:sp>
        <p:nvSpPr>
          <p:cNvPr id="13" name="TextBox 12"/>
          <p:cNvSpPr txBox="1"/>
          <p:nvPr/>
        </p:nvSpPr>
        <p:spPr>
          <a:xfrm>
            <a:off x="3657600" y="6528816"/>
            <a:ext cx="4873752" cy="274320"/>
          </a:xfrm>
          <a:prstGeom prst="rect">
            <a:avLst/>
          </a:prstGeom>
          <a:noFill/>
        </p:spPr>
        <p:txBody>
          <a:bodyPr wrap="square" lIns="0" tIns="0" rIns="0" bIns="0" anchor="t">
            <a:noAutofit/>
          </a:bodyPr>
          <a:lstStyle/>
          <a:p>
            <a:pPr algn="ctr"/>
            <a:r>
              <a:rPr sz="900" b="1">
                <a:solidFill>
                  <a:srgbClr val="64748B"/>
                </a:solidFill>
                <a:latin typeface="Segoe UI"/>
              </a:rPr>
              <a:t>PARTIE 3 · L'APPLICATION PAR RÔLE</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0F1419"/>
        </a:solidFill>
        <a:effectLst/>
      </p:bgPr>
    </p:bg>
    <p:spTree>
      <p:nvGrpSpPr>
        <p:cNvPr id="1" name=""/>
        <p:cNvGrpSpPr/>
        <p:nvPr/>
      </p:nvGrpSpPr>
      <p:grpSpPr>
        <a:xfrm>
          <a:off x="0" y="0"/>
          <a:ext cx="0" cy="0"/>
          <a:chOff x="0" y="0"/>
          <a:chExt cx="0" cy="0"/>
        </a:xfrm>
      </p:grpSpPr>
      <p:sp>
        <p:nvSpPr>
          <p:cNvPr id="2" name="TextBox 1"/>
          <p:cNvSpPr txBox="1"/>
          <p:nvPr/>
        </p:nvSpPr>
        <p:spPr>
          <a:xfrm>
            <a:off x="566928" y="475488"/>
            <a:ext cx="10972800" cy="274320"/>
          </a:xfrm>
          <a:prstGeom prst="rect">
            <a:avLst/>
          </a:prstGeom>
          <a:noFill/>
        </p:spPr>
        <p:txBody>
          <a:bodyPr wrap="square" lIns="0" tIns="0" rIns="0" bIns="0" anchor="t">
            <a:noAutofit/>
          </a:bodyPr>
          <a:lstStyle/>
          <a:p>
            <a:pPr algn="l"/>
            <a:r>
              <a:rPr sz="1250" b="1">
                <a:solidFill>
                  <a:srgbClr val="8900FF"/>
                </a:solidFill>
                <a:latin typeface="Segoe UI"/>
              </a:rPr>
              <a:t>INTELLIGENCE ARTIFICIELLE</a:t>
            </a:r>
          </a:p>
        </p:txBody>
      </p:sp>
      <p:sp>
        <p:nvSpPr>
          <p:cNvPr id="3" name="TextBox 2"/>
          <p:cNvSpPr txBox="1"/>
          <p:nvPr/>
        </p:nvSpPr>
        <p:spPr>
          <a:xfrm>
            <a:off x="548640" y="768096"/>
            <a:ext cx="11064240" cy="868680"/>
          </a:xfrm>
          <a:prstGeom prst="rect">
            <a:avLst/>
          </a:prstGeom>
          <a:noFill/>
        </p:spPr>
        <p:txBody>
          <a:bodyPr wrap="square" lIns="0" tIns="0" rIns="0" bIns="0" anchor="t">
            <a:noAutofit/>
          </a:bodyPr>
          <a:lstStyle/>
          <a:p>
            <a:pPr algn="l"/>
            <a:r>
              <a:rPr sz="3800" b="1">
                <a:solidFill>
                  <a:srgbClr val="FFFFFF"/>
                </a:solidFill>
                <a:latin typeface="Segoe UI"/>
              </a:rPr>
              <a:t>Assistance au diagnostic par </a:t>
            </a:r>
            <a:r>
              <a:rPr sz="3800" b="1">
                <a:solidFill>
                  <a:srgbClr val="8900FF"/>
                </a:solidFill>
                <a:latin typeface="Segoe UI"/>
              </a:rPr>
              <a:t>IA</a:t>
            </a:r>
          </a:p>
        </p:txBody>
      </p:sp>
      <p:sp>
        <p:nvSpPr>
          <p:cNvPr id="4" name="TextBox 3"/>
          <p:cNvSpPr txBox="1"/>
          <p:nvPr/>
        </p:nvSpPr>
        <p:spPr>
          <a:xfrm>
            <a:off x="566928" y="1517904"/>
            <a:ext cx="10789920" cy="548640"/>
          </a:xfrm>
          <a:prstGeom prst="rect">
            <a:avLst/>
          </a:prstGeom>
          <a:noFill/>
        </p:spPr>
        <p:txBody>
          <a:bodyPr wrap="square" lIns="0" tIns="0" rIns="0" bIns="0" anchor="t">
            <a:noAutofit/>
          </a:bodyPr>
          <a:lstStyle/>
          <a:p>
            <a:pPr algn="l"/>
            <a:r>
              <a:rPr sz="1700" b="0">
                <a:solidFill>
                  <a:srgbClr val="94A3B8"/>
                </a:solidFill>
                <a:latin typeface="Segoe UI"/>
              </a:rPr>
              <a:t>Le cœur de CuraMedical : aider le médecin à décider.</a:t>
            </a:r>
          </a:p>
        </p:txBody>
      </p:sp>
      <p:sp>
        <p:nvSpPr>
          <p:cNvPr id="5" name="TextBox 4"/>
          <p:cNvSpPr txBox="1"/>
          <p:nvPr/>
        </p:nvSpPr>
        <p:spPr>
          <a:xfrm>
            <a:off x="566928" y="2377440"/>
            <a:ext cx="5074920" cy="3749039"/>
          </a:xfrm>
          <a:prstGeom prst="rect">
            <a:avLst/>
          </a:prstGeom>
          <a:noFill/>
        </p:spPr>
        <p:txBody>
          <a:bodyPr wrap="square" lIns="0" tIns="0" rIns="0" bIns="0" anchor="t">
            <a:noAutofit/>
          </a:bodyPr>
          <a:lstStyle/>
          <a:p>
            <a:pPr algn="l">
              <a:lnSpc>
                <a:spcPct val="112000"/>
              </a:lnSpc>
              <a:spcAft>
                <a:spcPts val="1400"/>
              </a:spcAft>
            </a:pPr>
            <a:r>
              <a:rPr sz="1600" b="1">
                <a:solidFill>
                  <a:srgbClr val="8900FF"/>
                </a:solidFill>
                <a:latin typeface="Segoe UI"/>
              </a:rPr>
              <a:t>›  </a:t>
            </a:r>
            <a:r>
              <a:rPr sz="1600" b="1">
                <a:solidFill>
                  <a:srgbClr val="FFFFFF"/>
                </a:solidFill>
                <a:latin typeface="Segoe UI"/>
              </a:rPr>
              <a:t>Le médecin </a:t>
            </a:r>
            <a:r>
              <a:rPr sz="1600" b="0">
                <a:solidFill>
                  <a:srgbClr val="94A3B8"/>
                </a:solidFill>
                <a:latin typeface="Segoe UI"/>
              </a:rPr>
              <a:t>sélectionne les symptômes observés.</a:t>
            </a:r>
          </a:p>
          <a:p>
            <a:pPr algn="l">
              <a:lnSpc>
                <a:spcPct val="112000"/>
              </a:lnSpc>
              <a:spcAft>
                <a:spcPts val="1400"/>
              </a:spcAft>
            </a:pPr>
            <a:r>
              <a:rPr sz="1600" b="1">
                <a:solidFill>
                  <a:srgbClr val="8900FF"/>
                </a:solidFill>
                <a:latin typeface="Segoe UI"/>
              </a:rPr>
              <a:t>›  </a:t>
            </a:r>
            <a:r>
              <a:rPr sz="1600" b="1">
                <a:solidFill>
                  <a:srgbClr val="FFFFFF"/>
                </a:solidFill>
                <a:latin typeface="Segoe UI"/>
              </a:rPr>
              <a:t>L'IA propose instantanément </a:t>
            </a:r>
            <a:r>
              <a:rPr sz="1600" b="0">
                <a:solidFill>
                  <a:srgbClr val="94A3B8"/>
                </a:solidFill>
                <a:latin typeface="Segoe UI"/>
              </a:rPr>
              <a:t>les maladies les plus probables.</a:t>
            </a:r>
          </a:p>
          <a:p>
            <a:pPr algn="l">
              <a:lnSpc>
                <a:spcPct val="112000"/>
              </a:lnSpc>
              <a:spcAft>
                <a:spcPts val="1400"/>
              </a:spcAft>
            </a:pPr>
            <a:r>
              <a:rPr sz="1600" b="1">
                <a:solidFill>
                  <a:srgbClr val="8900FF"/>
                </a:solidFill>
                <a:latin typeface="Segoe UI"/>
              </a:rPr>
              <a:t>›  </a:t>
            </a:r>
            <a:r>
              <a:rPr sz="1600" b="1">
                <a:solidFill>
                  <a:srgbClr val="FFFFFF"/>
                </a:solidFill>
                <a:latin typeface="Segoe UI"/>
              </a:rPr>
              <a:t>Un appui à la décision </a:t>
            </a:r>
            <a:r>
              <a:rPr sz="1600" b="0">
                <a:solidFill>
                  <a:srgbClr val="94A3B8"/>
                </a:solidFill>
                <a:latin typeface="Segoe UI"/>
              </a:rPr>
              <a:t>: le médecin garde toujours le dernier mot.</a:t>
            </a:r>
          </a:p>
        </p:txBody>
      </p:sp>
      <p:sp>
        <p:nvSpPr>
          <p:cNvPr id="8" name="Rectangle 7"/>
          <p:cNvSpPr/>
          <p:nvPr/>
        </p:nvSpPr>
        <p:spPr>
          <a:xfrm>
            <a:off x="548640" y="6419088"/>
            <a:ext cx="11091672" cy="12700"/>
          </a:xfrm>
          <a:prstGeom prst="rect">
            <a:avLst/>
          </a:prstGeom>
          <a:solidFill>
            <a:srgbClr val="2430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9" name="Picture 8" descr="00-icone-curamedical.png"/>
          <p:cNvPicPr>
            <a:picLocks noChangeAspect="1"/>
          </p:cNvPicPr>
          <p:nvPr/>
        </p:nvPicPr>
        <p:blipFill>
          <a:blip r:embed="rId2"/>
          <a:stretch>
            <a:fillRect/>
          </a:stretch>
        </p:blipFill>
        <p:spPr>
          <a:xfrm>
            <a:off x="548640" y="6510528"/>
            <a:ext cx="329184" cy="219456"/>
          </a:xfrm>
          <a:prstGeom prst="rect">
            <a:avLst/>
          </a:prstGeom>
        </p:spPr>
      </p:pic>
      <p:sp>
        <p:nvSpPr>
          <p:cNvPr id="10" name="TextBox 9"/>
          <p:cNvSpPr txBox="1"/>
          <p:nvPr/>
        </p:nvSpPr>
        <p:spPr>
          <a:xfrm>
            <a:off x="868680" y="6519672"/>
            <a:ext cx="4572000" cy="274320"/>
          </a:xfrm>
          <a:prstGeom prst="rect">
            <a:avLst/>
          </a:prstGeom>
          <a:noFill/>
        </p:spPr>
        <p:txBody>
          <a:bodyPr wrap="square" lIns="0" tIns="0" rIns="0" bIns="0" anchor="t">
            <a:noAutofit/>
          </a:bodyPr>
          <a:lstStyle/>
          <a:p>
            <a:pPr algn="l"/>
            <a:r>
              <a:rPr sz="1050" b="1">
                <a:solidFill>
                  <a:srgbClr val="2A9B69"/>
                </a:solidFill>
                <a:latin typeface="Segoe UI"/>
              </a:rPr>
              <a:t>CuraMedical</a:t>
            </a:r>
          </a:p>
        </p:txBody>
      </p:sp>
      <p:sp>
        <p:nvSpPr>
          <p:cNvPr id="11" name="TextBox 10"/>
          <p:cNvSpPr txBox="1"/>
          <p:nvPr/>
        </p:nvSpPr>
        <p:spPr>
          <a:xfrm>
            <a:off x="7315200" y="6519672"/>
            <a:ext cx="4325112" cy="274320"/>
          </a:xfrm>
          <a:prstGeom prst="rect">
            <a:avLst/>
          </a:prstGeom>
          <a:noFill/>
        </p:spPr>
        <p:txBody>
          <a:bodyPr wrap="square" lIns="0" tIns="0" rIns="0" bIns="0" anchor="t">
            <a:noAutofit/>
          </a:bodyPr>
          <a:lstStyle/>
          <a:p>
            <a:pPr algn="r"/>
            <a:r>
              <a:rPr sz="1050" b="0">
                <a:solidFill>
                  <a:srgbClr val="94A3B8"/>
                </a:solidFill>
                <a:latin typeface="Segoe UI"/>
              </a:rPr>
              <a:t>10 / 18</a:t>
            </a:r>
          </a:p>
        </p:txBody>
      </p:sp>
      <p:pic>
        <p:nvPicPr>
          <p:cNvPr id="12" name="Image 11">
            <a:extLst>
              <a:ext uri="{FF2B5EF4-FFF2-40B4-BE49-F238E27FC236}">
                <a16:creationId xmlns:a16="http://schemas.microsoft.com/office/drawing/2014/main" id="{98B9563D-EA78-4BDE-846A-C0F817625088}"/>
              </a:ext>
            </a:extLst>
          </p:cNvPr>
          <p:cNvPicPr>
            <a:picLocks noChangeAspect="1"/>
          </p:cNvPicPr>
          <p:nvPr/>
        </p:nvPicPr>
        <p:blipFill>
          <a:blip r:embed="rId2"/>
          <a:stretch>
            <a:fillRect/>
          </a:stretch>
        </p:blipFill>
        <p:spPr>
          <a:xfrm>
            <a:off x="10357326" y="-249298"/>
            <a:ext cx="2584890" cy="1723260"/>
          </a:xfrm>
          <a:prstGeom prst="rect">
            <a:avLst/>
          </a:prstGeom>
        </p:spPr>
      </p:pic>
      <p:sp>
        <p:nvSpPr>
          <p:cNvPr id="13" name="TextBox 12"/>
          <p:cNvSpPr txBox="1"/>
          <p:nvPr/>
        </p:nvSpPr>
        <p:spPr>
          <a:xfrm>
            <a:off x="3657600" y="6528816"/>
            <a:ext cx="4873752" cy="274320"/>
          </a:xfrm>
          <a:prstGeom prst="rect">
            <a:avLst/>
          </a:prstGeom>
          <a:noFill/>
        </p:spPr>
        <p:txBody>
          <a:bodyPr wrap="square" lIns="0" tIns="0" rIns="0" bIns="0" anchor="t">
            <a:noAutofit/>
          </a:bodyPr>
          <a:lstStyle/>
          <a:p>
            <a:pPr algn="ctr"/>
            <a:r>
              <a:rPr sz="900" b="1">
                <a:solidFill>
                  <a:srgbClr val="94A3B8"/>
                </a:solidFill>
                <a:latin typeface="Segoe UI"/>
              </a:rPr>
              <a:t>PARTIE 4 · INTELLIGENCE ARTIFICIELLE</a:t>
            </a:r>
          </a:p>
        </p:txBody>
      </p:sp>
      <p:pic>
        <p:nvPicPr>
          <p:cNvPr id="14" name="Picture 13" descr="10-ia-brain-cutout.png"/>
          <p:cNvPicPr>
            <a:picLocks noChangeAspect="1"/>
          </p:cNvPicPr>
          <p:nvPr/>
        </p:nvPicPr>
        <p:blipFill>
          <a:blip r:embed="rId3"/>
          <a:stretch>
            <a:fillRect/>
          </a:stretch>
        </p:blipFill>
        <p:spPr>
          <a:xfrm>
            <a:off x="5641848" y="1368248"/>
            <a:ext cx="6227064" cy="4907890"/>
          </a:xfrm>
          <a:prstGeom prst="rect">
            <a:avLst/>
          </a:prstGeom>
          <a:effectLst/>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7F8FA"/>
        </a:solidFill>
        <a:effectLst/>
      </p:bgPr>
    </p:bg>
    <p:spTree>
      <p:nvGrpSpPr>
        <p:cNvPr id="1" name=""/>
        <p:cNvGrpSpPr/>
        <p:nvPr/>
      </p:nvGrpSpPr>
      <p:grpSpPr>
        <a:xfrm>
          <a:off x="0" y="0"/>
          <a:ext cx="0" cy="0"/>
          <a:chOff x="0" y="0"/>
          <a:chExt cx="0" cy="0"/>
        </a:xfrm>
      </p:grpSpPr>
      <p:sp>
        <p:nvSpPr>
          <p:cNvPr id="2" name="TextBox 1"/>
          <p:cNvSpPr txBox="1"/>
          <p:nvPr/>
        </p:nvSpPr>
        <p:spPr>
          <a:xfrm>
            <a:off x="566928" y="475488"/>
            <a:ext cx="10972800" cy="274320"/>
          </a:xfrm>
          <a:prstGeom prst="rect">
            <a:avLst/>
          </a:prstGeom>
          <a:noFill/>
        </p:spPr>
        <p:txBody>
          <a:bodyPr wrap="square" lIns="0" tIns="0" rIns="0" bIns="0" anchor="t">
            <a:noAutofit/>
          </a:bodyPr>
          <a:lstStyle/>
          <a:p>
            <a:pPr algn="l"/>
            <a:r>
              <a:rPr sz="1250" b="1">
                <a:solidFill>
                  <a:srgbClr val="8900FF"/>
                </a:solidFill>
                <a:latin typeface="Segoe UI"/>
              </a:rPr>
              <a:t>INTELLIGENCE ARTIFICIELLE · ÉVALUATION</a:t>
            </a:r>
          </a:p>
        </p:txBody>
      </p:sp>
      <p:sp>
        <p:nvSpPr>
          <p:cNvPr id="3" name="TextBox 2"/>
          <p:cNvSpPr txBox="1"/>
          <p:nvPr/>
        </p:nvSpPr>
        <p:spPr>
          <a:xfrm>
            <a:off x="548640" y="768096"/>
            <a:ext cx="11064240" cy="868680"/>
          </a:xfrm>
          <a:prstGeom prst="rect">
            <a:avLst/>
          </a:prstGeom>
          <a:noFill/>
        </p:spPr>
        <p:txBody>
          <a:bodyPr wrap="square" lIns="0" tIns="0" rIns="0" bIns="0" anchor="t">
            <a:noAutofit/>
          </a:bodyPr>
          <a:lstStyle/>
          <a:p>
            <a:pPr algn="l"/>
            <a:r>
              <a:rPr sz="3800" b="1">
                <a:solidFill>
                  <a:srgbClr val="0F172A"/>
                </a:solidFill>
                <a:latin typeface="Segoe UI"/>
              </a:rPr>
              <a:t>Performances du modèle IA</a:t>
            </a:r>
          </a:p>
        </p:txBody>
      </p:sp>
      <p:sp>
        <p:nvSpPr>
          <p:cNvPr id="4" name="TextBox 3"/>
          <p:cNvSpPr txBox="1"/>
          <p:nvPr/>
        </p:nvSpPr>
        <p:spPr>
          <a:xfrm>
            <a:off x="566928" y="1828800"/>
            <a:ext cx="4572000" cy="1828800"/>
          </a:xfrm>
          <a:prstGeom prst="rect">
            <a:avLst/>
          </a:prstGeom>
          <a:noFill/>
        </p:spPr>
        <p:txBody>
          <a:bodyPr wrap="square" lIns="0" tIns="0" rIns="0" bIns="0" anchor="t">
            <a:noAutofit/>
          </a:bodyPr>
          <a:lstStyle/>
          <a:p>
            <a:pPr algn="l"/>
            <a:r>
              <a:rPr sz="9600" b="1">
                <a:solidFill>
                  <a:srgbClr val="8900FF"/>
                </a:solidFill>
                <a:latin typeface="Segoe UI"/>
              </a:rPr>
              <a:t>77,3</a:t>
            </a:r>
            <a:r>
              <a:rPr sz="4400" b="1">
                <a:solidFill>
                  <a:srgbClr val="8900FF"/>
                </a:solidFill>
                <a:latin typeface="Segoe UI"/>
              </a:rPr>
              <a:t> %</a:t>
            </a:r>
          </a:p>
        </p:txBody>
      </p:sp>
      <p:sp>
        <p:nvSpPr>
          <p:cNvPr id="5" name="TextBox 4"/>
          <p:cNvSpPr txBox="1"/>
          <p:nvPr/>
        </p:nvSpPr>
        <p:spPr>
          <a:xfrm>
            <a:off x="603504" y="3520440"/>
            <a:ext cx="4572000" cy="548640"/>
          </a:xfrm>
          <a:prstGeom prst="rect">
            <a:avLst/>
          </a:prstGeom>
          <a:noFill/>
        </p:spPr>
        <p:txBody>
          <a:bodyPr wrap="square" lIns="0" tIns="0" rIns="0" bIns="0" anchor="t">
            <a:noAutofit/>
          </a:bodyPr>
          <a:lstStyle/>
          <a:p>
            <a:pPr algn="l"/>
            <a:r>
              <a:rPr sz="1700" b="0">
                <a:solidFill>
                  <a:srgbClr val="64748B"/>
                </a:solidFill>
                <a:latin typeface="Segoe UI"/>
              </a:rPr>
              <a:t>de précision sur 1 500 cas de test</a:t>
            </a:r>
          </a:p>
        </p:txBody>
      </p:sp>
      <p:sp>
        <p:nvSpPr>
          <p:cNvPr id="6" name="Rounded Rectangle 5"/>
          <p:cNvSpPr/>
          <p:nvPr/>
        </p:nvSpPr>
        <p:spPr>
          <a:xfrm>
            <a:off x="5852160" y="1828800"/>
            <a:ext cx="2788920" cy="1417320"/>
          </a:xfrm>
          <a:prstGeom prst="round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6080760" y="2029968"/>
            <a:ext cx="2331720" cy="1051560"/>
          </a:xfrm>
          <a:prstGeom prst="rect">
            <a:avLst/>
          </a:prstGeom>
          <a:noFill/>
        </p:spPr>
        <p:txBody>
          <a:bodyPr wrap="square" lIns="0" tIns="0" rIns="0" bIns="0" anchor="t">
            <a:noAutofit/>
          </a:bodyPr>
          <a:lstStyle/>
          <a:p>
            <a:pPr algn="l">
              <a:spcAft>
                <a:spcPts val="300"/>
              </a:spcAft>
            </a:pPr>
            <a:r>
              <a:rPr sz="2600" b="1">
                <a:solidFill>
                  <a:srgbClr val="0F172A"/>
                </a:solidFill>
                <a:latin typeface="Segoe UI"/>
              </a:rPr>
              <a:t>15 000</a:t>
            </a:r>
          </a:p>
          <a:p>
            <a:pPr algn="l">
              <a:lnSpc>
                <a:spcPct val="105000"/>
              </a:lnSpc>
            </a:pPr>
            <a:r>
              <a:rPr sz="1250" b="0">
                <a:solidFill>
                  <a:srgbClr val="64748B"/>
                </a:solidFill>
                <a:latin typeface="Segoe UI"/>
              </a:rPr>
              <a:t>cas cliniques (entraînement)</a:t>
            </a:r>
          </a:p>
        </p:txBody>
      </p:sp>
      <p:sp>
        <p:nvSpPr>
          <p:cNvPr id="8" name="Rounded Rectangle 7"/>
          <p:cNvSpPr/>
          <p:nvPr/>
        </p:nvSpPr>
        <p:spPr>
          <a:xfrm>
            <a:off x="8869680" y="1828800"/>
            <a:ext cx="2788920" cy="1417320"/>
          </a:xfrm>
          <a:prstGeom prst="round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9098280" y="2029968"/>
            <a:ext cx="2331720" cy="1051560"/>
          </a:xfrm>
          <a:prstGeom prst="rect">
            <a:avLst/>
          </a:prstGeom>
          <a:noFill/>
        </p:spPr>
        <p:txBody>
          <a:bodyPr wrap="square" lIns="0" tIns="0" rIns="0" bIns="0" anchor="t">
            <a:noAutofit/>
          </a:bodyPr>
          <a:lstStyle/>
          <a:p>
            <a:pPr algn="l">
              <a:spcAft>
                <a:spcPts val="300"/>
              </a:spcAft>
            </a:pPr>
            <a:r>
              <a:rPr sz="2600" b="1">
                <a:solidFill>
                  <a:srgbClr val="0F172A"/>
                </a:solidFill>
                <a:latin typeface="Segoe UI"/>
              </a:rPr>
              <a:t>377</a:t>
            </a:r>
          </a:p>
          <a:p>
            <a:pPr algn="l">
              <a:lnSpc>
                <a:spcPct val="105000"/>
              </a:lnSpc>
            </a:pPr>
            <a:r>
              <a:rPr sz="1250" b="0">
                <a:solidFill>
                  <a:srgbClr val="64748B"/>
                </a:solidFill>
                <a:latin typeface="Segoe UI"/>
              </a:rPr>
              <a:t>symptômes en entrée</a:t>
            </a:r>
          </a:p>
        </p:txBody>
      </p:sp>
      <p:sp>
        <p:nvSpPr>
          <p:cNvPr id="10" name="Rounded Rectangle 9"/>
          <p:cNvSpPr/>
          <p:nvPr/>
        </p:nvSpPr>
        <p:spPr>
          <a:xfrm>
            <a:off x="5852160" y="3474720"/>
            <a:ext cx="2788920" cy="1417320"/>
          </a:xfrm>
          <a:prstGeom prst="round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6080760" y="3675887"/>
            <a:ext cx="2331720" cy="1051560"/>
          </a:xfrm>
          <a:prstGeom prst="rect">
            <a:avLst/>
          </a:prstGeom>
          <a:noFill/>
        </p:spPr>
        <p:txBody>
          <a:bodyPr wrap="square" lIns="0" tIns="0" rIns="0" bIns="0" anchor="t">
            <a:noAutofit/>
          </a:bodyPr>
          <a:lstStyle/>
          <a:p>
            <a:pPr algn="l">
              <a:spcAft>
                <a:spcPts val="300"/>
              </a:spcAft>
            </a:pPr>
            <a:r>
              <a:rPr sz="2600" b="1">
                <a:solidFill>
                  <a:srgbClr val="0F172A"/>
                </a:solidFill>
                <a:latin typeface="Segoe UI"/>
              </a:rPr>
              <a:t>655</a:t>
            </a:r>
          </a:p>
          <a:p>
            <a:pPr algn="l">
              <a:lnSpc>
                <a:spcPct val="105000"/>
              </a:lnSpc>
            </a:pPr>
            <a:r>
              <a:rPr sz="1250" b="0">
                <a:solidFill>
                  <a:srgbClr val="64748B"/>
                </a:solidFill>
                <a:latin typeface="Segoe UI"/>
              </a:rPr>
              <a:t>maladies possibles</a:t>
            </a:r>
          </a:p>
        </p:txBody>
      </p:sp>
      <p:sp>
        <p:nvSpPr>
          <p:cNvPr id="12" name="Rounded Rectangle 11"/>
          <p:cNvSpPr/>
          <p:nvPr/>
        </p:nvSpPr>
        <p:spPr>
          <a:xfrm>
            <a:off x="8869680" y="3474720"/>
            <a:ext cx="2788920" cy="1417320"/>
          </a:xfrm>
          <a:prstGeom prst="round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9098280" y="3675887"/>
            <a:ext cx="2331720" cy="1051560"/>
          </a:xfrm>
          <a:prstGeom prst="rect">
            <a:avLst/>
          </a:prstGeom>
          <a:noFill/>
        </p:spPr>
        <p:txBody>
          <a:bodyPr wrap="square" lIns="0" tIns="0" rIns="0" bIns="0" anchor="t">
            <a:noAutofit/>
          </a:bodyPr>
          <a:lstStyle/>
          <a:p>
            <a:pPr algn="l">
              <a:spcAft>
                <a:spcPts val="300"/>
              </a:spcAft>
            </a:pPr>
            <a:r>
              <a:rPr sz="2600" b="1">
                <a:solidFill>
                  <a:srgbClr val="0F172A"/>
                </a:solidFill>
                <a:latin typeface="Segoe UI"/>
              </a:rPr>
              <a:t>Random Forest</a:t>
            </a:r>
          </a:p>
          <a:p>
            <a:pPr algn="l">
              <a:lnSpc>
                <a:spcPct val="105000"/>
              </a:lnSpc>
            </a:pPr>
            <a:r>
              <a:rPr sz="1250" b="0">
                <a:solidFill>
                  <a:srgbClr val="64748B"/>
                </a:solidFill>
                <a:latin typeface="Segoe UI"/>
              </a:rPr>
              <a:t>Scikit-learn · 30 arbres</a:t>
            </a:r>
          </a:p>
        </p:txBody>
      </p:sp>
      <p:sp>
        <p:nvSpPr>
          <p:cNvPr id="14" name="Rounded Rectangle 13"/>
          <p:cNvSpPr/>
          <p:nvPr/>
        </p:nvSpPr>
        <p:spPr>
          <a:xfrm>
            <a:off x="548640" y="5074920"/>
            <a:ext cx="11091672" cy="914400"/>
          </a:xfrm>
          <a:prstGeom prst="roundRect">
            <a:avLst/>
          </a:prstGeom>
          <a:solidFill>
            <a:srgbClr val="F3E8FF"/>
          </a:solidFill>
          <a:ln w="12700">
            <a:solidFill>
              <a:srgbClr val="F3E8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868680" y="5230368"/>
            <a:ext cx="10515600" cy="640080"/>
          </a:xfrm>
          <a:prstGeom prst="rect">
            <a:avLst/>
          </a:prstGeom>
          <a:noFill/>
        </p:spPr>
        <p:txBody>
          <a:bodyPr wrap="square" lIns="0" tIns="0" rIns="0" bIns="0" anchor="ctr">
            <a:noAutofit/>
          </a:bodyPr>
          <a:lstStyle/>
          <a:p>
            <a:pPr algn="l">
              <a:lnSpc>
                <a:spcPct val="110000"/>
              </a:lnSpc>
            </a:pPr>
            <a:r>
              <a:rPr sz="1400" b="1">
                <a:solidFill>
                  <a:srgbClr val="8900FF"/>
                </a:solidFill>
                <a:latin typeface="Segoe UI"/>
              </a:rPr>
              <a:t>Mise en perspective : </a:t>
            </a:r>
            <a:r>
              <a:rPr sz="1400" b="0">
                <a:solidFill>
                  <a:srgbClr val="0F172A"/>
                </a:solidFill>
                <a:latin typeface="Segoe UI"/>
              </a:rPr>
              <a:t>655 classes possibles (baseline aléatoire ≈ 0,15 %). Une aide à la décision, jamais un diagnostic automatique.</a:t>
            </a:r>
          </a:p>
        </p:txBody>
      </p:sp>
      <p:sp>
        <p:nvSpPr>
          <p:cNvPr id="16" name="Rectangle 15"/>
          <p:cNvSpPr/>
          <p:nvPr/>
        </p:nvSpPr>
        <p:spPr>
          <a:xfrm>
            <a:off x="548640" y="6419088"/>
            <a:ext cx="11091672" cy="127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7" name="Picture 16" descr="00-icone-curamedical.png"/>
          <p:cNvPicPr>
            <a:picLocks noChangeAspect="1"/>
          </p:cNvPicPr>
          <p:nvPr/>
        </p:nvPicPr>
        <p:blipFill>
          <a:blip r:embed="rId2"/>
          <a:stretch>
            <a:fillRect/>
          </a:stretch>
        </p:blipFill>
        <p:spPr>
          <a:xfrm>
            <a:off x="548640" y="6510528"/>
            <a:ext cx="329184" cy="219456"/>
          </a:xfrm>
          <a:prstGeom prst="rect">
            <a:avLst/>
          </a:prstGeom>
        </p:spPr>
      </p:pic>
      <p:sp>
        <p:nvSpPr>
          <p:cNvPr id="18" name="TextBox 17"/>
          <p:cNvSpPr txBox="1"/>
          <p:nvPr/>
        </p:nvSpPr>
        <p:spPr>
          <a:xfrm>
            <a:off x="868680" y="6519672"/>
            <a:ext cx="4572000" cy="274320"/>
          </a:xfrm>
          <a:prstGeom prst="rect">
            <a:avLst/>
          </a:prstGeom>
          <a:noFill/>
        </p:spPr>
        <p:txBody>
          <a:bodyPr wrap="square" lIns="0" tIns="0" rIns="0" bIns="0" anchor="t">
            <a:noAutofit/>
          </a:bodyPr>
          <a:lstStyle/>
          <a:p>
            <a:pPr algn="l"/>
            <a:r>
              <a:rPr sz="1050" b="1">
                <a:solidFill>
                  <a:srgbClr val="2A9B69"/>
                </a:solidFill>
                <a:latin typeface="Segoe UI"/>
              </a:rPr>
              <a:t>CuraMedical</a:t>
            </a:r>
          </a:p>
        </p:txBody>
      </p:sp>
      <p:sp>
        <p:nvSpPr>
          <p:cNvPr id="19" name="TextBox 18"/>
          <p:cNvSpPr txBox="1"/>
          <p:nvPr/>
        </p:nvSpPr>
        <p:spPr>
          <a:xfrm>
            <a:off x="7315200" y="6519672"/>
            <a:ext cx="4325112" cy="274320"/>
          </a:xfrm>
          <a:prstGeom prst="rect">
            <a:avLst/>
          </a:prstGeom>
          <a:noFill/>
        </p:spPr>
        <p:txBody>
          <a:bodyPr wrap="square" lIns="0" tIns="0" rIns="0" bIns="0" anchor="t">
            <a:noAutofit/>
          </a:bodyPr>
          <a:lstStyle/>
          <a:p>
            <a:pPr algn="r"/>
            <a:r>
              <a:rPr sz="1050" b="0">
                <a:solidFill>
                  <a:srgbClr val="64748B"/>
                </a:solidFill>
                <a:latin typeface="Segoe UI"/>
              </a:rPr>
              <a:t>11 / 18</a:t>
            </a:r>
          </a:p>
        </p:txBody>
      </p:sp>
      <p:pic>
        <p:nvPicPr>
          <p:cNvPr id="20" name="Image 19">
            <a:extLst>
              <a:ext uri="{FF2B5EF4-FFF2-40B4-BE49-F238E27FC236}">
                <a16:creationId xmlns:a16="http://schemas.microsoft.com/office/drawing/2014/main" id="{36C8D1D0-0601-478D-ADBD-70929CB40CEB}"/>
              </a:ext>
            </a:extLst>
          </p:cNvPr>
          <p:cNvPicPr>
            <a:picLocks noChangeAspect="1"/>
          </p:cNvPicPr>
          <p:nvPr/>
        </p:nvPicPr>
        <p:blipFill>
          <a:blip r:embed="rId2"/>
          <a:stretch>
            <a:fillRect/>
          </a:stretch>
        </p:blipFill>
        <p:spPr>
          <a:xfrm>
            <a:off x="10357326" y="-249298"/>
            <a:ext cx="2584890" cy="1723260"/>
          </a:xfrm>
          <a:prstGeom prst="rect">
            <a:avLst/>
          </a:prstGeom>
        </p:spPr>
      </p:pic>
      <p:sp>
        <p:nvSpPr>
          <p:cNvPr id="21" name="TextBox 20"/>
          <p:cNvSpPr txBox="1"/>
          <p:nvPr/>
        </p:nvSpPr>
        <p:spPr>
          <a:xfrm>
            <a:off x="3657600" y="6528816"/>
            <a:ext cx="4873752" cy="274320"/>
          </a:xfrm>
          <a:prstGeom prst="rect">
            <a:avLst/>
          </a:prstGeom>
          <a:noFill/>
        </p:spPr>
        <p:txBody>
          <a:bodyPr wrap="square" lIns="0" tIns="0" rIns="0" bIns="0" anchor="t">
            <a:noAutofit/>
          </a:bodyPr>
          <a:lstStyle/>
          <a:p>
            <a:pPr algn="ctr"/>
            <a:r>
              <a:rPr sz="900" b="1">
                <a:solidFill>
                  <a:srgbClr val="64748B"/>
                </a:solidFill>
                <a:latin typeface="Segoe UI"/>
              </a:rPr>
              <a:t>PARTIE 4 · INTELLIGENCE ARTIFICIELLE</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7F8FA"/>
        </a:solidFill>
        <a:effectLst/>
      </p:bgPr>
    </p:bg>
    <p:spTree>
      <p:nvGrpSpPr>
        <p:cNvPr id="1" name=""/>
        <p:cNvGrpSpPr/>
        <p:nvPr/>
      </p:nvGrpSpPr>
      <p:grpSpPr>
        <a:xfrm>
          <a:off x="0" y="0"/>
          <a:ext cx="0" cy="0"/>
          <a:chOff x="0" y="0"/>
          <a:chExt cx="0" cy="0"/>
        </a:xfrm>
      </p:grpSpPr>
      <p:sp>
        <p:nvSpPr>
          <p:cNvPr id="2" name="TextBox 1"/>
          <p:cNvSpPr txBox="1"/>
          <p:nvPr/>
        </p:nvSpPr>
        <p:spPr>
          <a:xfrm>
            <a:off x="566928" y="475488"/>
            <a:ext cx="10972800" cy="274320"/>
          </a:xfrm>
          <a:prstGeom prst="rect">
            <a:avLst/>
          </a:prstGeom>
          <a:noFill/>
        </p:spPr>
        <p:txBody>
          <a:bodyPr wrap="square" lIns="0" tIns="0" rIns="0" bIns="0" anchor="t">
            <a:noAutofit/>
          </a:bodyPr>
          <a:lstStyle/>
          <a:p>
            <a:pPr algn="l"/>
            <a:r>
              <a:rPr sz="1250" b="1">
                <a:solidFill>
                  <a:srgbClr val="2A9B69"/>
                </a:solidFill>
                <a:latin typeface="Segoe UI"/>
              </a:rPr>
              <a:t>DOCUMENTS MÉDICAUX</a:t>
            </a:r>
          </a:p>
        </p:txBody>
      </p:sp>
      <p:sp>
        <p:nvSpPr>
          <p:cNvPr id="3" name="TextBox 2"/>
          <p:cNvSpPr txBox="1"/>
          <p:nvPr/>
        </p:nvSpPr>
        <p:spPr>
          <a:xfrm>
            <a:off x="548640" y="768096"/>
            <a:ext cx="11064240" cy="868680"/>
          </a:xfrm>
          <a:prstGeom prst="rect">
            <a:avLst/>
          </a:prstGeom>
          <a:noFill/>
        </p:spPr>
        <p:txBody>
          <a:bodyPr wrap="square" lIns="0" tIns="0" rIns="0" bIns="0" anchor="t">
            <a:noAutofit/>
          </a:bodyPr>
          <a:lstStyle/>
          <a:p>
            <a:pPr algn="l"/>
            <a:r>
              <a:rPr sz="3800" b="1">
                <a:solidFill>
                  <a:srgbClr val="0F172A"/>
                </a:solidFill>
                <a:latin typeface="Segoe UI"/>
              </a:rPr>
              <a:t>Ordonnances &amp; documents</a:t>
            </a:r>
          </a:p>
        </p:txBody>
      </p:sp>
      <p:sp>
        <p:nvSpPr>
          <p:cNvPr id="4" name="TextBox 3"/>
          <p:cNvSpPr txBox="1"/>
          <p:nvPr/>
        </p:nvSpPr>
        <p:spPr>
          <a:xfrm>
            <a:off x="566928" y="1517904"/>
            <a:ext cx="10789920" cy="548640"/>
          </a:xfrm>
          <a:prstGeom prst="rect">
            <a:avLst/>
          </a:prstGeom>
          <a:noFill/>
        </p:spPr>
        <p:txBody>
          <a:bodyPr wrap="square" lIns="0" tIns="0" rIns="0" bIns="0" anchor="t">
            <a:noAutofit/>
          </a:bodyPr>
          <a:lstStyle/>
          <a:p>
            <a:pPr algn="l"/>
            <a:r>
              <a:rPr sz="1700" b="0">
                <a:solidFill>
                  <a:srgbClr val="64748B"/>
                </a:solidFill>
                <a:latin typeface="Segoe UI"/>
              </a:rPr>
              <a:t>De la saisie au document professionnel, en un clic.</a:t>
            </a:r>
          </a:p>
        </p:txBody>
      </p:sp>
      <p:sp>
        <p:nvSpPr>
          <p:cNvPr id="5" name="TextBox 4"/>
          <p:cNvSpPr txBox="1"/>
          <p:nvPr/>
        </p:nvSpPr>
        <p:spPr>
          <a:xfrm>
            <a:off x="566928" y="2240280"/>
            <a:ext cx="5074920" cy="3749039"/>
          </a:xfrm>
          <a:prstGeom prst="rect">
            <a:avLst/>
          </a:prstGeom>
          <a:noFill/>
        </p:spPr>
        <p:txBody>
          <a:bodyPr wrap="square" lIns="0" tIns="0" rIns="0" bIns="0" anchor="t">
            <a:noAutofit/>
          </a:bodyPr>
          <a:lstStyle/>
          <a:p>
            <a:pPr algn="l">
              <a:lnSpc>
                <a:spcPct val="112000"/>
              </a:lnSpc>
              <a:spcAft>
                <a:spcPts val="1100"/>
              </a:spcAft>
            </a:pPr>
            <a:r>
              <a:rPr sz="1600" b="1">
                <a:solidFill>
                  <a:srgbClr val="2A9B69"/>
                </a:solidFill>
                <a:latin typeface="Segoe UI"/>
              </a:rPr>
              <a:t>›  </a:t>
            </a:r>
            <a:r>
              <a:rPr sz="1600" b="1">
                <a:solidFill>
                  <a:srgbClr val="0F172A"/>
                </a:solidFill>
                <a:latin typeface="Segoe UI"/>
              </a:rPr>
              <a:t>Saisie structurée </a:t>
            </a:r>
            <a:r>
              <a:rPr sz="1600" b="0">
                <a:solidFill>
                  <a:srgbClr val="64748B"/>
                </a:solidFill>
                <a:latin typeface="Segoe UI"/>
              </a:rPr>
              <a:t>des médicaments et posologies.</a:t>
            </a:r>
          </a:p>
          <a:p>
            <a:pPr algn="l">
              <a:lnSpc>
                <a:spcPct val="112000"/>
              </a:lnSpc>
              <a:spcAft>
                <a:spcPts val="1100"/>
              </a:spcAft>
            </a:pPr>
            <a:r>
              <a:rPr sz="1600" b="1">
                <a:solidFill>
                  <a:srgbClr val="2A9B69"/>
                </a:solidFill>
                <a:latin typeface="Segoe UI"/>
              </a:rPr>
              <a:t>›  </a:t>
            </a:r>
            <a:r>
              <a:rPr sz="1600" b="1">
                <a:solidFill>
                  <a:srgbClr val="0F172A"/>
                </a:solidFill>
                <a:latin typeface="Segoe UI"/>
              </a:rPr>
              <a:t>Ordonnance PDF </a:t>
            </a:r>
            <a:r>
              <a:rPr sz="1600" b="0">
                <a:solidFill>
                  <a:srgbClr val="64748B"/>
                </a:solidFill>
                <a:latin typeface="Segoe UI"/>
              </a:rPr>
              <a:t>générée automatiquement.</a:t>
            </a:r>
          </a:p>
          <a:p>
            <a:pPr algn="l">
              <a:lnSpc>
                <a:spcPct val="112000"/>
              </a:lnSpc>
              <a:spcAft>
                <a:spcPts val="1100"/>
              </a:spcAft>
            </a:pPr>
            <a:r>
              <a:rPr sz="1600" b="1">
                <a:solidFill>
                  <a:srgbClr val="2A9B69"/>
                </a:solidFill>
                <a:latin typeface="Segoe UI"/>
              </a:rPr>
              <a:t>›  </a:t>
            </a:r>
            <a:r>
              <a:rPr sz="1600" b="1">
                <a:solidFill>
                  <a:srgbClr val="0F172A"/>
                </a:solidFill>
                <a:latin typeface="Segoe UI"/>
              </a:rPr>
              <a:t>Cachet et signature </a:t>
            </a:r>
            <a:r>
              <a:rPr sz="1600" b="0">
                <a:solidFill>
                  <a:srgbClr val="64748B"/>
                </a:solidFill>
                <a:latin typeface="Segoe UI"/>
              </a:rPr>
              <a:t>du médecin intégrés.</a:t>
            </a:r>
          </a:p>
          <a:p>
            <a:pPr algn="l">
              <a:lnSpc>
                <a:spcPct val="112000"/>
              </a:lnSpc>
              <a:spcAft>
                <a:spcPts val="1100"/>
              </a:spcAft>
            </a:pPr>
            <a:r>
              <a:rPr sz="1600" b="1">
                <a:solidFill>
                  <a:srgbClr val="2A9B69"/>
                </a:solidFill>
                <a:latin typeface="Segoe UI"/>
              </a:rPr>
              <a:t>›  </a:t>
            </a:r>
            <a:r>
              <a:rPr sz="1600" b="1">
                <a:solidFill>
                  <a:srgbClr val="0F172A"/>
                </a:solidFill>
                <a:latin typeface="Segoe UI"/>
              </a:rPr>
              <a:t>Comptes-rendus </a:t>
            </a:r>
            <a:r>
              <a:rPr sz="1600" b="0">
                <a:solidFill>
                  <a:srgbClr val="64748B"/>
                </a:solidFill>
                <a:latin typeface="Segoe UI"/>
              </a:rPr>
              <a:t>également exportés en PDF.</a:t>
            </a:r>
          </a:p>
        </p:txBody>
      </p:sp>
      <p:pic>
        <p:nvPicPr>
          <p:cNvPr id="7" name="Picture 6" descr="12a-saisie-ordonnance.png"/>
          <p:cNvPicPr>
            <a:picLocks noChangeAspect="1"/>
          </p:cNvPicPr>
          <p:nvPr/>
        </p:nvPicPr>
        <p:blipFill>
          <a:blip r:embed="rId2"/>
          <a:stretch>
            <a:fillRect/>
          </a:stretch>
        </p:blipFill>
        <p:spPr>
          <a:xfrm>
            <a:off x="6983861" y="1453896"/>
            <a:ext cx="4576064" cy="2574036"/>
          </a:xfrm>
          <a:prstGeom prst="rect">
            <a:avLst/>
          </a:prstGeom>
          <a:ln w="9525">
            <a:solidFill>
              <a:srgbClr val="E2E8F0"/>
            </a:solidFill>
          </a:ln>
          <a:effectLst/>
        </p:spPr>
      </p:pic>
      <p:pic>
        <p:nvPicPr>
          <p:cNvPr id="9" name="Picture 8" descr="12b-ordonnance-pdf-genere.png"/>
          <p:cNvPicPr>
            <a:picLocks noChangeAspect="1"/>
          </p:cNvPicPr>
          <p:nvPr/>
        </p:nvPicPr>
        <p:blipFill>
          <a:blip r:embed="rId3"/>
          <a:stretch>
            <a:fillRect/>
          </a:stretch>
        </p:blipFill>
        <p:spPr>
          <a:xfrm>
            <a:off x="4870383" y="3756005"/>
            <a:ext cx="1821292" cy="2575199"/>
          </a:xfrm>
          <a:prstGeom prst="rect">
            <a:avLst/>
          </a:prstGeom>
          <a:ln w="9525">
            <a:solidFill>
              <a:srgbClr val="E2E8F0"/>
            </a:solidFill>
          </a:ln>
          <a:effectLst/>
        </p:spPr>
      </p:pic>
      <p:sp>
        <p:nvSpPr>
          <p:cNvPr id="10" name="Rectangle 9"/>
          <p:cNvSpPr/>
          <p:nvPr/>
        </p:nvSpPr>
        <p:spPr>
          <a:xfrm>
            <a:off x="548640" y="6419088"/>
            <a:ext cx="11091672" cy="127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1" name="Picture 10" descr="00-icone-curamedical.png"/>
          <p:cNvPicPr>
            <a:picLocks noChangeAspect="1"/>
          </p:cNvPicPr>
          <p:nvPr/>
        </p:nvPicPr>
        <p:blipFill>
          <a:blip r:embed="rId4"/>
          <a:stretch>
            <a:fillRect/>
          </a:stretch>
        </p:blipFill>
        <p:spPr>
          <a:xfrm>
            <a:off x="548640" y="6510528"/>
            <a:ext cx="329184" cy="219456"/>
          </a:xfrm>
          <a:prstGeom prst="rect">
            <a:avLst/>
          </a:prstGeom>
        </p:spPr>
      </p:pic>
      <p:sp>
        <p:nvSpPr>
          <p:cNvPr id="12" name="TextBox 11"/>
          <p:cNvSpPr txBox="1"/>
          <p:nvPr/>
        </p:nvSpPr>
        <p:spPr>
          <a:xfrm>
            <a:off x="868680" y="6519672"/>
            <a:ext cx="4572000" cy="274320"/>
          </a:xfrm>
          <a:prstGeom prst="rect">
            <a:avLst/>
          </a:prstGeom>
          <a:noFill/>
        </p:spPr>
        <p:txBody>
          <a:bodyPr wrap="square" lIns="0" tIns="0" rIns="0" bIns="0" anchor="t">
            <a:noAutofit/>
          </a:bodyPr>
          <a:lstStyle/>
          <a:p>
            <a:pPr algn="l"/>
            <a:r>
              <a:rPr sz="1050" b="1">
                <a:solidFill>
                  <a:srgbClr val="2A9B69"/>
                </a:solidFill>
                <a:latin typeface="Segoe UI"/>
              </a:rPr>
              <a:t>CuraMedical</a:t>
            </a:r>
          </a:p>
        </p:txBody>
      </p:sp>
      <p:sp>
        <p:nvSpPr>
          <p:cNvPr id="13" name="TextBox 12"/>
          <p:cNvSpPr txBox="1"/>
          <p:nvPr/>
        </p:nvSpPr>
        <p:spPr>
          <a:xfrm>
            <a:off x="7315200" y="6519672"/>
            <a:ext cx="4325112" cy="274320"/>
          </a:xfrm>
          <a:prstGeom prst="rect">
            <a:avLst/>
          </a:prstGeom>
          <a:noFill/>
        </p:spPr>
        <p:txBody>
          <a:bodyPr wrap="square" lIns="0" tIns="0" rIns="0" bIns="0" anchor="t">
            <a:noAutofit/>
          </a:bodyPr>
          <a:lstStyle/>
          <a:p>
            <a:pPr algn="r"/>
            <a:r>
              <a:rPr sz="1050" b="0">
                <a:solidFill>
                  <a:srgbClr val="64748B"/>
                </a:solidFill>
                <a:latin typeface="Segoe UI"/>
              </a:rPr>
              <a:t>12 / 18</a:t>
            </a:r>
          </a:p>
        </p:txBody>
      </p:sp>
      <p:pic>
        <p:nvPicPr>
          <p:cNvPr id="14" name="Image 13">
            <a:extLst>
              <a:ext uri="{FF2B5EF4-FFF2-40B4-BE49-F238E27FC236}">
                <a16:creationId xmlns:a16="http://schemas.microsoft.com/office/drawing/2014/main" id="{939844E4-B5F5-4A4D-958A-07BD2E2E2B33}"/>
              </a:ext>
            </a:extLst>
          </p:cNvPr>
          <p:cNvPicPr>
            <a:picLocks noChangeAspect="1"/>
          </p:cNvPicPr>
          <p:nvPr/>
        </p:nvPicPr>
        <p:blipFill>
          <a:blip r:embed="rId4"/>
          <a:stretch>
            <a:fillRect/>
          </a:stretch>
        </p:blipFill>
        <p:spPr>
          <a:xfrm>
            <a:off x="10357326" y="-249298"/>
            <a:ext cx="2584890" cy="1723260"/>
          </a:xfrm>
          <a:prstGeom prst="rect">
            <a:avLst/>
          </a:prstGeom>
        </p:spPr>
      </p:pic>
      <p:sp>
        <p:nvSpPr>
          <p:cNvPr id="15" name="TextBox 14"/>
          <p:cNvSpPr txBox="1"/>
          <p:nvPr/>
        </p:nvSpPr>
        <p:spPr>
          <a:xfrm>
            <a:off x="3657600" y="6528816"/>
            <a:ext cx="4873752" cy="274320"/>
          </a:xfrm>
          <a:prstGeom prst="rect">
            <a:avLst/>
          </a:prstGeom>
          <a:noFill/>
        </p:spPr>
        <p:txBody>
          <a:bodyPr wrap="square" lIns="0" tIns="0" rIns="0" bIns="0" anchor="t">
            <a:noAutofit/>
          </a:bodyPr>
          <a:lstStyle/>
          <a:p>
            <a:pPr algn="ctr"/>
            <a:r>
              <a:rPr sz="900" b="1">
                <a:solidFill>
                  <a:srgbClr val="64748B"/>
                </a:solidFill>
                <a:latin typeface="Segoe UI"/>
              </a:rPr>
              <a:t>PARTIE 5 · SERVICES &amp; AUTOMATISATION</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7F8FA"/>
        </a:solidFill>
        <a:effectLst/>
      </p:bgPr>
    </p:bg>
    <p:spTree>
      <p:nvGrpSpPr>
        <p:cNvPr id="1" name=""/>
        <p:cNvGrpSpPr/>
        <p:nvPr/>
      </p:nvGrpSpPr>
      <p:grpSpPr>
        <a:xfrm>
          <a:off x="0" y="0"/>
          <a:ext cx="0" cy="0"/>
          <a:chOff x="0" y="0"/>
          <a:chExt cx="0" cy="0"/>
        </a:xfrm>
      </p:grpSpPr>
      <p:sp>
        <p:nvSpPr>
          <p:cNvPr id="2" name="TextBox 1"/>
          <p:cNvSpPr txBox="1"/>
          <p:nvPr/>
        </p:nvSpPr>
        <p:spPr>
          <a:xfrm>
            <a:off x="566928" y="475488"/>
            <a:ext cx="10972800" cy="274320"/>
          </a:xfrm>
          <a:prstGeom prst="rect">
            <a:avLst/>
          </a:prstGeom>
          <a:noFill/>
        </p:spPr>
        <p:txBody>
          <a:bodyPr wrap="square" lIns="0" tIns="0" rIns="0" bIns="0" anchor="t">
            <a:noAutofit/>
          </a:bodyPr>
          <a:lstStyle/>
          <a:p>
            <a:pPr algn="l"/>
            <a:r>
              <a:rPr sz="1250" b="1">
                <a:solidFill>
                  <a:srgbClr val="2A9B69"/>
                </a:solidFill>
                <a:latin typeface="Segoe UI"/>
              </a:rPr>
              <a:t>SERVICES AVANCÉS</a:t>
            </a:r>
          </a:p>
        </p:txBody>
      </p:sp>
      <p:sp>
        <p:nvSpPr>
          <p:cNvPr id="3" name="TextBox 2"/>
          <p:cNvSpPr txBox="1"/>
          <p:nvPr/>
        </p:nvSpPr>
        <p:spPr>
          <a:xfrm>
            <a:off x="548640" y="768096"/>
            <a:ext cx="11064240" cy="868680"/>
          </a:xfrm>
          <a:prstGeom prst="rect">
            <a:avLst/>
          </a:prstGeom>
          <a:noFill/>
        </p:spPr>
        <p:txBody>
          <a:bodyPr wrap="square" lIns="0" tIns="0" rIns="0" bIns="0" anchor="t">
            <a:noAutofit/>
          </a:bodyPr>
          <a:lstStyle/>
          <a:p>
            <a:pPr algn="l"/>
            <a:r>
              <a:rPr sz="3800" b="1">
                <a:solidFill>
                  <a:srgbClr val="0F172A"/>
                </a:solidFill>
                <a:latin typeface="Segoe UI"/>
              </a:rPr>
              <a:t>Téléconsultation</a:t>
            </a:r>
          </a:p>
        </p:txBody>
      </p:sp>
      <p:sp>
        <p:nvSpPr>
          <p:cNvPr id="4" name="TextBox 3"/>
          <p:cNvSpPr txBox="1"/>
          <p:nvPr/>
        </p:nvSpPr>
        <p:spPr>
          <a:xfrm>
            <a:off x="566928" y="1517904"/>
            <a:ext cx="10789920" cy="548640"/>
          </a:xfrm>
          <a:prstGeom prst="rect">
            <a:avLst/>
          </a:prstGeom>
          <a:noFill/>
        </p:spPr>
        <p:txBody>
          <a:bodyPr wrap="square" lIns="0" tIns="0" rIns="0" bIns="0" anchor="t">
            <a:noAutofit/>
          </a:bodyPr>
          <a:lstStyle/>
          <a:p>
            <a:pPr algn="l"/>
            <a:r>
              <a:rPr sz="1700" b="0">
                <a:solidFill>
                  <a:srgbClr val="64748B"/>
                </a:solidFill>
                <a:latin typeface="Segoe UI"/>
              </a:rPr>
              <a:t>L'accès aux soins à distance, en visioconférence sécurisée.</a:t>
            </a:r>
          </a:p>
        </p:txBody>
      </p:sp>
      <p:sp>
        <p:nvSpPr>
          <p:cNvPr id="5" name="TextBox 4"/>
          <p:cNvSpPr txBox="1"/>
          <p:nvPr/>
        </p:nvSpPr>
        <p:spPr>
          <a:xfrm>
            <a:off x="566928" y="2240280"/>
            <a:ext cx="5074920" cy="3749039"/>
          </a:xfrm>
          <a:prstGeom prst="rect">
            <a:avLst/>
          </a:prstGeom>
          <a:noFill/>
        </p:spPr>
        <p:txBody>
          <a:bodyPr wrap="square" lIns="0" tIns="0" rIns="0" bIns="0" anchor="t">
            <a:noAutofit/>
          </a:bodyPr>
          <a:lstStyle/>
          <a:p>
            <a:pPr algn="l">
              <a:lnSpc>
                <a:spcPct val="112000"/>
              </a:lnSpc>
              <a:spcAft>
                <a:spcPts val="1100"/>
              </a:spcAft>
            </a:pPr>
            <a:r>
              <a:rPr sz="1600" b="1">
                <a:solidFill>
                  <a:srgbClr val="2A9B69"/>
                </a:solidFill>
                <a:latin typeface="Segoe UI"/>
              </a:rPr>
              <a:t>›  </a:t>
            </a:r>
            <a:r>
              <a:rPr sz="1600" b="1">
                <a:solidFill>
                  <a:srgbClr val="0F172A"/>
                </a:solidFill>
                <a:latin typeface="Segoe UI"/>
              </a:rPr>
              <a:t>Visioconférence intégrée </a:t>
            </a:r>
            <a:r>
              <a:rPr sz="1600" b="0">
                <a:solidFill>
                  <a:srgbClr val="64748B"/>
                </a:solidFill>
                <a:latin typeface="Segoe UI"/>
              </a:rPr>
              <a:t>(Jitsi).</a:t>
            </a:r>
          </a:p>
          <a:p>
            <a:pPr algn="l">
              <a:lnSpc>
                <a:spcPct val="112000"/>
              </a:lnSpc>
              <a:spcAft>
                <a:spcPts val="1100"/>
              </a:spcAft>
            </a:pPr>
            <a:r>
              <a:rPr sz="1600" b="1">
                <a:solidFill>
                  <a:srgbClr val="2A9B69"/>
                </a:solidFill>
                <a:latin typeface="Segoe UI"/>
              </a:rPr>
              <a:t>›  </a:t>
            </a:r>
            <a:r>
              <a:rPr sz="1600" b="1">
                <a:solidFill>
                  <a:srgbClr val="0F172A"/>
                </a:solidFill>
                <a:latin typeface="Segoe UI"/>
              </a:rPr>
              <a:t>Salle dédiée </a:t>
            </a:r>
            <a:r>
              <a:rPr sz="1600" b="0">
                <a:solidFill>
                  <a:srgbClr val="64748B"/>
                </a:solidFill>
                <a:latin typeface="Segoe UI"/>
              </a:rPr>
              <a:t>par rendez-vous.</a:t>
            </a:r>
          </a:p>
          <a:p>
            <a:pPr algn="l">
              <a:lnSpc>
                <a:spcPct val="112000"/>
              </a:lnSpc>
              <a:spcAft>
                <a:spcPts val="1100"/>
              </a:spcAft>
            </a:pPr>
            <a:r>
              <a:rPr sz="1600" b="1">
                <a:solidFill>
                  <a:srgbClr val="2A9B69"/>
                </a:solidFill>
                <a:latin typeface="Segoe UI"/>
              </a:rPr>
              <a:t>›  </a:t>
            </a:r>
            <a:r>
              <a:rPr sz="1600" b="1">
                <a:solidFill>
                  <a:srgbClr val="0F172A"/>
                </a:solidFill>
                <a:latin typeface="Segoe UI"/>
              </a:rPr>
              <a:t>Prise de notes en direct </a:t>
            </a:r>
            <a:r>
              <a:rPr sz="1600" b="0">
                <a:solidFill>
                  <a:srgbClr val="64748B"/>
                </a:solidFill>
                <a:latin typeface="Segoe UI"/>
              </a:rPr>
              <a:t>par le médecin.</a:t>
            </a:r>
          </a:p>
          <a:p>
            <a:pPr algn="l">
              <a:lnSpc>
                <a:spcPct val="112000"/>
              </a:lnSpc>
              <a:spcAft>
                <a:spcPts val="1100"/>
              </a:spcAft>
            </a:pPr>
            <a:r>
              <a:rPr sz="1600" b="1">
                <a:solidFill>
                  <a:srgbClr val="2A9B69"/>
                </a:solidFill>
                <a:latin typeface="Segoe UI"/>
              </a:rPr>
              <a:t>›  </a:t>
            </a:r>
            <a:r>
              <a:rPr sz="1600" b="1">
                <a:solidFill>
                  <a:srgbClr val="0F172A"/>
                </a:solidFill>
                <a:latin typeface="Segoe UI"/>
              </a:rPr>
              <a:t>Accès aux soins à distance </a:t>
            </a:r>
            <a:r>
              <a:rPr sz="1600" b="0">
                <a:solidFill>
                  <a:srgbClr val="64748B"/>
                </a:solidFill>
                <a:latin typeface="Segoe UI"/>
              </a:rPr>
              <a:t>pour le patient.</a:t>
            </a:r>
          </a:p>
        </p:txBody>
      </p:sp>
      <p:pic>
        <p:nvPicPr>
          <p:cNvPr id="7" name="Picture 6" descr="13-teleconsultation.png"/>
          <p:cNvPicPr>
            <a:picLocks noChangeAspect="1"/>
          </p:cNvPicPr>
          <p:nvPr/>
        </p:nvPicPr>
        <p:blipFill>
          <a:blip r:embed="rId2"/>
          <a:stretch>
            <a:fillRect/>
          </a:stretch>
        </p:blipFill>
        <p:spPr>
          <a:xfrm>
            <a:off x="5225516" y="2152396"/>
            <a:ext cx="6314212" cy="3551744"/>
          </a:xfrm>
          <a:prstGeom prst="rect">
            <a:avLst/>
          </a:prstGeom>
          <a:ln w="9525">
            <a:solidFill>
              <a:srgbClr val="E2E8F0"/>
            </a:solidFill>
          </a:ln>
          <a:effectLst/>
        </p:spPr>
      </p:pic>
      <p:sp>
        <p:nvSpPr>
          <p:cNvPr id="8" name="Rectangle 7"/>
          <p:cNvSpPr/>
          <p:nvPr/>
        </p:nvSpPr>
        <p:spPr>
          <a:xfrm>
            <a:off x="548640" y="6419088"/>
            <a:ext cx="11091672" cy="127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9" name="Picture 8" descr="00-icone-curamedical.png"/>
          <p:cNvPicPr>
            <a:picLocks noChangeAspect="1"/>
          </p:cNvPicPr>
          <p:nvPr/>
        </p:nvPicPr>
        <p:blipFill>
          <a:blip r:embed="rId3"/>
          <a:stretch>
            <a:fillRect/>
          </a:stretch>
        </p:blipFill>
        <p:spPr>
          <a:xfrm>
            <a:off x="548640" y="6510528"/>
            <a:ext cx="329184" cy="219456"/>
          </a:xfrm>
          <a:prstGeom prst="rect">
            <a:avLst/>
          </a:prstGeom>
        </p:spPr>
      </p:pic>
      <p:sp>
        <p:nvSpPr>
          <p:cNvPr id="10" name="TextBox 9"/>
          <p:cNvSpPr txBox="1"/>
          <p:nvPr/>
        </p:nvSpPr>
        <p:spPr>
          <a:xfrm>
            <a:off x="868680" y="6519672"/>
            <a:ext cx="4572000" cy="274320"/>
          </a:xfrm>
          <a:prstGeom prst="rect">
            <a:avLst/>
          </a:prstGeom>
          <a:noFill/>
        </p:spPr>
        <p:txBody>
          <a:bodyPr wrap="square" lIns="0" tIns="0" rIns="0" bIns="0" anchor="t">
            <a:noAutofit/>
          </a:bodyPr>
          <a:lstStyle/>
          <a:p>
            <a:pPr algn="l"/>
            <a:r>
              <a:rPr sz="1050" b="1">
                <a:solidFill>
                  <a:srgbClr val="2A9B69"/>
                </a:solidFill>
                <a:latin typeface="Segoe UI"/>
              </a:rPr>
              <a:t>CuraMedical</a:t>
            </a:r>
          </a:p>
        </p:txBody>
      </p:sp>
      <p:sp>
        <p:nvSpPr>
          <p:cNvPr id="11" name="TextBox 10"/>
          <p:cNvSpPr txBox="1"/>
          <p:nvPr/>
        </p:nvSpPr>
        <p:spPr>
          <a:xfrm>
            <a:off x="7315200" y="6519672"/>
            <a:ext cx="4325112" cy="274320"/>
          </a:xfrm>
          <a:prstGeom prst="rect">
            <a:avLst/>
          </a:prstGeom>
          <a:noFill/>
        </p:spPr>
        <p:txBody>
          <a:bodyPr wrap="square" lIns="0" tIns="0" rIns="0" bIns="0" anchor="t">
            <a:noAutofit/>
          </a:bodyPr>
          <a:lstStyle/>
          <a:p>
            <a:pPr algn="r"/>
            <a:r>
              <a:rPr sz="1050" b="0">
                <a:solidFill>
                  <a:srgbClr val="64748B"/>
                </a:solidFill>
                <a:latin typeface="Segoe UI"/>
              </a:rPr>
              <a:t>13 / 18</a:t>
            </a:r>
          </a:p>
        </p:txBody>
      </p:sp>
      <p:pic>
        <p:nvPicPr>
          <p:cNvPr id="12" name="Image 11">
            <a:extLst>
              <a:ext uri="{FF2B5EF4-FFF2-40B4-BE49-F238E27FC236}">
                <a16:creationId xmlns:a16="http://schemas.microsoft.com/office/drawing/2014/main" id="{0B0F4F7D-B05C-48F8-B83C-7E62D4DDEB5B}"/>
              </a:ext>
            </a:extLst>
          </p:cNvPr>
          <p:cNvPicPr>
            <a:picLocks noChangeAspect="1"/>
          </p:cNvPicPr>
          <p:nvPr/>
        </p:nvPicPr>
        <p:blipFill>
          <a:blip r:embed="rId3"/>
          <a:stretch>
            <a:fillRect/>
          </a:stretch>
        </p:blipFill>
        <p:spPr>
          <a:xfrm>
            <a:off x="10357326" y="-249298"/>
            <a:ext cx="2584890" cy="1723260"/>
          </a:xfrm>
          <a:prstGeom prst="rect">
            <a:avLst/>
          </a:prstGeom>
        </p:spPr>
      </p:pic>
      <p:sp>
        <p:nvSpPr>
          <p:cNvPr id="13" name="TextBox 12"/>
          <p:cNvSpPr txBox="1"/>
          <p:nvPr/>
        </p:nvSpPr>
        <p:spPr>
          <a:xfrm>
            <a:off x="3657600" y="6528816"/>
            <a:ext cx="4873752" cy="274320"/>
          </a:xfrm>
          <a:prstGeom prst="rect">
            <a:avLst/>
          </a:prstGeom>
          <a:noFill/>
        </p:spPr>
        <p:txBody>
          <a:bodyPr wrap="square" lIns="0" tIns="0" rIns="0" bIns="0" anchor="t">
            <a:noAutofit/>
          </a:bodyPr>
          <a:lstStyle/>
          <a:p>
            <a:pPr algn="ctr"/>
            <a:r>
              <a:rPr sz="900" b="1">
                <a:solidFill>
                  <a:srgbClr val="64748B"/>
                </a:solidFill>
                <a:latin typeface="Segoe UI"/>
              </a:rPr>
              <a:t>PARTIE 5 · SERVICES &amp; AUTOMATISATION</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7F8FA"/>
        </a:solidFill>
        <a:effectLst/>
      </p:bgPr>
    </p:bg>
    <p:spTree>
      <p:nvGrpSpPr>
        <p:cNvPr id="1" name=""/>
        <p:cNvGrpSpPr/>
        <p:nvPr/>
      </p:nvGrpSpPr>
      <p:grpSpPr>
        <a:xfrm>
          <a:off x="0" y="0"/>
          <a:ext cx="0" cy="0"/>
          <a:chOff x="0" y="0"/>
          <a:chExt cx="0" cy="0"/>
        </a:xfrm>
      </p:grpSpPr>
      <p:sp>
        <p:nvSpPr>
          <p:cNvPr id="2" name="TextBox 1"/>
          <p:cNvSpPr txBox="1"/>
          <p:nvPr/>
        </p:nvSpPr>
        <p:spPr>
          <a:xfrm>
            <a:off x="566928" y="475488"/>
            <a:ext cx="10972800" cy="274320"/>
          </a:xfrm>
          <a:prstGeom prst="rect">
            <a:avLst/>
          </a:prstGeom>
          <a:noFill/>
        </p:spPr>
        <p:txBody>
          <a:bodyPr wrap="square" lIns="0" tIns="0" rIns="0" bIns="0" anchor="t">
            <a:noAutofit/>
          </a:bodyPr>
          <a:lstStyle/>
          <a:p>
            <a:pPr algn="l"/>
            <a:r>
              <a:rPr sz="1250" b="1">
                <a:solidFill>
                  <a:srgbClr val="2A9B69"/>
                </a:solidFill>
                <a:latin typeface="Segoe UI"/>
              </a:rPr>
              <a:t>SERVICES AVANCÉS · IA</a:t>
            </a:r>
          </a:p>
        </p:txBody>
      </p:sp>
      <p:sp>
        <p:nvSpPr>
          <p:cNvPr id="3" name="TextBox 2"/>
          <p:cNvSpPr txBox="1"/>
          <p:nvPr/>
        </p:nvSpPr>
        <p:spPr>
          <a:xfrm>
            <a:off x="548640" y="768096"/>
            <a:ext cx="11064240" cy="868680"/>
          </a:xfrm>
          <a:prstGeom prst="rect">
            <a:avLst/>
          </a:prstGeom>
          <a:noFill/>
        </p:spPr>
        <p:txBody>
          <a:bodyPr wrap="square" lIns="0" tIns="0" rIns="0" bIns="0" anchor="t">
            <a:noAutofit/>
          </a:bodyPr>
          <a:lstStyle/>
          <a:p>
            <a:pPr algn="l"/>
            <a:r>
              <a:rPr sz="3800" b="1">
                <a:solidFill>
                  <a:srgbClr val="0F172A"/>
                </a:solidFill>
                <a:latin typeface="Segoe UI"/>
              </a:rPr>
              <a:t>Chatbot IA</a:t>
            </a:r>
          </a:p>
        </p:txBody>
      </p:sp>
      <p:sp>
        <p:nvSpPr>
          <p:cNvPr id="4" name="TextBox 3"/>
          <p:cNvSpPr txBox="1"/>
          <p:nvPr/>
        </p:nvSpPr>
        <p:spPr>
          <a:xfrm>
            <a:off x="566928" y="1517904"/>
            <a:ext cx="10789920" cy="548640"/>
          </a:xfrm>
          <a:prstGeom prst="rect">
            <a:avLst/>
          </a:prstGeom>
          <a:noFill/>
        </p:spPr>
        <p:txBody>
          <a:bodyPr wrap="square" lIns="0" tIns="0" rIns="0" bIns="0" anchor="t">
            <a:noAutofit/>
          </a:bodyPr>
          <a:lstStyle/>
          <a:p>
            <a:pPr algn="l"/>
            <a:r>
              <a:rPr sz="1700" b="0">
                <a:solidFill>
                  <a:srgbClr val="64748B"/>
                </a:solidFill>
                <a:latin typeface="Segoe UI"/>
              </a:rPr>
              <a:t>Interroger le cabinet en langage naturel.</a:t>
            </a:r>
          </a:p>
        </p:txBody>
      </p:sp>
      <p:sp>
        <p:nvSpPr>
          <p:cNvPr id="5" name="TextBox 4"/>
          <p:cNvSpPr txBox="1"/>
          <p:nvPr/>
        </p:nvSpPr>
        <p:spPr>
          <a:xfrm>
            <a:off x="566928" y="2240280"/>
            <a:ext cx="5074920" cy="3749039"/>
          </a:xfrm>
          <a:prstGeom prst="rect">
            <a:avLst/>
          </a:prstGeom>
          <a:noFill/>
        </p:spPr>
        <p:txBody>
          <a:bodyPr wrap="square" lIns="0" tIns="0" rIns="0" bIns="0" anchor="t">
            <a:noAutofit/>
          </a:bodyPr>
          <a:lstStyle/>
          <a:p>
            <a:pPr algn="l">
              <a:lnSpc>
                <a:spcPct val="112000"/>
              </a:lnSpc>
              <a:spcAft>
                <a:spcPts val="1100"/>
              </a:spcAft>
            </a:pPr>
            <a:r>
              <a:rPr sz="1600" b="1">
                <a:solidFill>
                  <a:srgbClr val="2A9B69"/>
                </a:solidFill>
                <a:latin typeface="Segoe UI"/>
              </a:rPr>
              <a:t>›  </a:t>
            </a:r>
            <a:r>
              <a:rPr sz="1600" b="1">
                <a:solidFill>
                  <a:srgbClr val="0F172A"/>
                </a:solidFill>
                <a:latin typeface="Segoe UI"/>
              </a:rPr>
              <a:t>Questions en français courant </a:t>
            </a:r>
            <a:r>
              <a:rPr sz="1600" b="0">
                <a:solidFill>
                  <a:srgbClr val="64748B"/>
                </a:solidFill>
                <a:latin typeface="Segoe UI"/>
              </a:rPr>
              <a:t>: statistiques, patients, rendez-vous.</a:t>
            </a:r>
          </a:p>
          <a:p>
            <a:pPr algn="l">
              <a:lnSpc>
                <a:spcPct val="112000"/>
              </a:lnSpc>
              <a:spcAft>
                <a:spcPts val="1100"/>
              </a:spcAft>
            </a:pPr>
            <a:r>
              <a:rPr sz="1600" b="1">
                <a:solidFill>
                  <a:srgbClr val="2A9B69"/>
                </a:solidFill>
                <a:latin typeface="Segoe UI"/>
              </a:rPr>
              <a:t>›  </a:t>
            </a:r>
            <a:r>
              <a:rPr sz="1600" b="1">
                <a:solidFill>
                  <a:srgbClr val="0F172A"/>
                </a:solidFill>
                <a:latin typeface="Segoe UI"/>
              </a:rPr>
              <a:t>Réponses instantanées </a:t>
            </a:r>
            <a:r>
              <a:rPr sz="1600" b="0">
                <a:solidFill>
                  <a:srgbClr val="64748B"/>
                </a:solidFill>
                <a:latin typeface="Segoe UI"/>
              </a:rPr>
              <a:t>: nombre de patients, RDV du jour…</a:t>
            </a:r>
          </a:p>
          <a:p>
            <a:pPr algn="l">
              <a:lnSpc>
                <a:spcPct val="112000"/>
              </a:lnSpc>
              <a:spcAft>
                <a:spcPts val="1100"/>
              </a:spcAft>
            </a:pPr>
            <a:r>
              <a:rPr sz="1600" b="1">
                <a:solidFill>
                  <a:srgbClr val="2A9B69"/>
                </a:solidFill>
                <a:latin typeface="Segoe UI"/>
              </a:rPr>
              <a:t>›  </a:t>
            </a:r>
            <a:r>
              <a:rPr sz="1600" b="1">
                <a:solidFill>
                  <a:srgbClr val="0F172A"/>
                </a:solidFill>
                <a:latin typeface="Segoe UI"/>
              </a:rPr>
              <a:t>Propulsé par un LLM </a:t>
            </a:r>
            <a:r>
              <a:rPr sz="1600" b="0">
                <a:solidFill>
                  <a:srgbClr val="64748B"/>
                </a:solidFill>
                <a:latin typeface="Segoe UI"/>
              </a:rPr>
              <a:t>(Groq).</a:t>
            </a:r>
          </a:p>
        </p:txBody>
      </p:sp>
      <p:pic>
        <p:nvPicPr>
          <p:cNvPr id="7" name="Picture 6" descr="14-chatbot-ia.png"/>
          <p:cNvPicPr>
            <a:picLocks noChangeAspect="1"/>
          </p:cNvPicPr>
          <p:nvPr/>
        </p:nvPicPr>
        <p:blipFill>
          <a:blip r:embed="rId2"/>
          <a:stretch>
            <a:fillRect/>
          </a:stretch>
        </p:blipFill>
        <p:spPr>
          <a:xfrm>
            <a:off x="5888736" y="2496313"/>
            <a:ext cx="5650992" cy="3178683"/>
          </a:xfrm>
          <a:prstGeom prst="rect">
            <a:avLst/>
          </a:prstGeom>
          <a:ln w="9525">
            <a:solidFill>
              <a:srgbClr val="E2E8F0"/>
            </a:solidFill>
          </a:ln>
          <a:effectLst/>
        </p:spPr>
      </p:pic>
      <p:sp>
        <p:nvSpPr>
          <p:cNvPr id="8" name="Rectangle 7"/>
          <p:cNvSpPr/>
          <p:nvPr/>
        </p:nvSpPr>
        <p:spPr>
          <a:xfrm>
            <a:off x="548640" y="6419088"/>
            <a:ext cx="11091672" cy="127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9" name="Picture 8" descr="00-icone-curamedical.png"/>
          <p:cNvPicPr>
            <a:picLocks noChangeAspect="1"/>
          </p:cNvPicPr>
          <p:nvPr/>
        </p:nvPicPr>
        <p:blipFill>
          <a:blip r:embed="rId3"/>
          <a:stretch>
            <a:fillRect/>
          </a:stretch>
        </p:blipFill>
        <p:spPr>
          <a:xfrm>
            <a:off x="548640" y="6510528"/>
            <a:ext cx="329184" cy="219456"/>
          </a:xfrm>
          <a:prstGeom prst="rect">
            <a:avLst/>
          </a:prstGeom>
        </p:spPr>
      </p:pic>
      <p:sp>
        <p:nvSpPr>
          <p:cNvPr id="10" name="TextBox 9"/>
          <p:cNvSpPr txBox="1"/>
          <p:nvPr/>
        </p:nvSpPr>
        <p:spPr>
          <a:xfrm>
            <a:off x="868680" y="6519672"/>
            <a:ext cx="4572000" cy="274320"/>
          </a:xfrm>
          <a:prstGeom prst="rect">
            <a:avLst/>
          </a:prstGeom>
          <a:noFill/>
        </p:spPr>
        <p:txBody>
          <a:bodyPr wrap="square" lIns="0" tIns="0" rIns="0" bIns="0" anchor="t">
            <a:noAutofit/>
          </a:bodyPr>
          <a:lstStyle/>
          <a:p>
            <a:pPr algn="l"/>
            <a:r>
              <a:rPr sz="1050" b="1">
                <a:solidFill>
                  <a:srgbClr val="2A9B69"/>
                </a:solidFill>
                <a:latin typeface="Segoe UI"/>
              </a:rPr>
              <a:t>CuraMedical</a:t>
            </a:r>
          </a:p>
        </p:txBody>
      </p:sp>
      <p:sp>
        <p:nvSpPr>
          <p:cNvPr id="11" name="TextBox 10"/>
          <p:cNvSpPr txBox="1"/>
          <p:nvPr/>
        </p:nvSpPr>
        <p:spPr>
          <a:xfrm>
            <a:off x="7315200" y="6519672"/>
            <a:ext cx="4325112" cy="274320"/>
          </a:xfrm>
          <a:prstGeom prst="rect">
            <a:avLst/>
          </a:prstGeom>
          <a:noFill/>
        </p:spPr>
        <p:txBody>
          <a:bodyPr wrap="square" lIns="0" tIns="0" rIns="0" bIns="0" anchor="t">
            <a:noAutofit/>
          </a:bodyPr>
          <a:lstStyle/>
          <a:p>
            <a:pPr algn="r"/>
            <a:r>
              <a:rPr sz="1050" b="0">
                <a:solidFill>
                  <a:srgbClr val="64748B"/>
                </a:solidFill>
                <a:latin typeface="Segoe UI"/>
              </a:rPr>
              <a:t>14 / 18</a:t>
            </a:r>
          </a:p>
        </p:txBody>
      </p:sp>
      <p:pic>
        <p:nvPicPr>
          <p:cNvPr id="12" name="Image 11">
            <a:extLst>
              <a:ext uri="{FF2B5EF4-FFF2-40B4-BE49-F238E27FC236}">
                <a16:creationId xmlns:a16="http://schemas.microsoft.com/office/drawing/2014/main" id="{0DD0516E-A55A-409C-BABC-7C7BBED87340}"/>
              </a:ext>
            </a:extLst>
          </p:cNvPr>
          <p:cNvPicPr>
            <a:picLocks noChangeAspect="1"/>
          </p:cNvPicPr>
          <p:nvPr/>
        </p:nvPicPr>
        <p:blipFill>
          <a:blip r:embed="rId3"/>
          <a:stretch>
            <a:fillRect/>
          </a:stretch>
        </p:blipFill>
        <p:spPr>
          <a:xfrm>
            <a:off x="10357326" y="-249298"/>
            <a:ext cx="2584890" cy="1723260"/>
          </a:xfrm>
          <a:prstGeom prst="rect">
            <a:avLst/>
          </a:prstGeom>
        </p:spPr>
      </p:pic>
      <p:sp>
        <p:nvSpPr>
          <p:cNvPr id="13" name="TextBox 12"/>
          <p:cNvSpPr txBox="1"/>
          <p:nvPr/>
        </p:nvSpPr>
        <p:spPr>
          <a:xfrm>
            <a:off x="3657600" y="6528816"/>
            <a:ext cx="4873752" cy="274320"/>
          </a:xfrm>
          <a:prstGeom prst="rect">
            <a:avLst/>
          </a:prstGeom>
          <a:noFill/>
        </p:spPr>
        <p:txBody>
          <a:bodyPr wrap="square" lIns="0" tIns="0" rIns="0" bIns="0" anchor="t">
            <a:noAutofit/>
          </a:bodyPr>
          <a:lstStyle/>
          <a:p>
            <a:pPr algn="ctr"/>
            <a:r>
              <a:rPr sz="900" b="1">
                <a:solidFill>
                  <a:srgbClr val="64748B"/>
                </a:solidFill>
                <a:latin typeface="Segoe UI"/>
              </a:rPr>
              <a:t>PARTIE 5 · SERVICES &amp; AUTOMATISATION</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7F8FA"/>
        </a:solidFill>
        <a:effectLst/>
      </p:bgPr>
    </p:bg>
    <p:spTree>
      <p:nvGrpSpPr>
        <p:cNvPr id="1" name=""/>
        <p:cNvGrpSpPr/>
        <p:nvPr/>
      </p:nvGrpSpPr>
      <p:grpSpPr>
        <a:xfrm>
          <a:off x="0" y="0"/>
          <a:ext cx="0" cy="0"/>
          <a:chOff x="0" y="0"/>
          <a:chExt cx="0" cy="0"/>
        </a:xfrm>
      </p:grpSpPr>
      <p:sp>
        <p:nvSpPr>
          <p:cNvPr id="2" name="TextBox 1"/>
          <p:cNvSpPr txBox="1"/>
          <p:nvPr/>
        </p:nvSpPr>
        <p:spPr>
          <a:xfrm>
            <a:off x="566928" y="475488"/>
            <a:ext cx="10972800" cy="274320"/>
          </a:xfrm>
          <a:prstGeom prst="rect">
            <a:avLst/>
          </a:prstGeom>
          <a:noFill/>
        </p:spPr>
        <p:txBody>
          <a:bodyPr wrap="square" lIns="0" tIns="0" rIns="0" bIns="0" anchor="t">
            <a:noAutofit/>
          </a:bodyPr>
          <a:lstStyle/>
          <a:p>
            <a:pPr algn="l"/>
            <a:r>
              <a:rPr sz="1250" b="1">
                <a:solidFill>
                  <a:srgbClr val="2A9B69"/>
                </a:solidFill>
                <a:latin typeface="Segoe UI"/>
              </a:rPr>
              <a:t>AUTOMATISATION · N8N</a:t>
            </a:r>
          </a:p>
        </p:txBody>
      </p:sp>
      <p:sp>
        <p:nvSpPr>
          <p:cNvPr id="3" name="TextBox 2"/>
          <p:cNvSpPr txBox="1"/>
          <p:nvPr/>
        </p:nvSpPr>
        <p:spPr>
          <a:xfrm>
            <a:off x="548640" y="768096"/>
            <a:ext cx="11064240" cy="868680"/>
          </a:xfrm>
          <a:prstGeom prst="rect">
            <a:avLst/>
          </a:prstGeom>
          <a:noFill/>
        </p:spPr>
        <p:txBody>
          <a:bodyPr wrap="square" lIns="0" tIns="0" rIns="0" bIns="0" anchor="t">
            <a:noAutofit/>
          </a:bodyPr>
          <a:lstStyle/>
          <a:p>
            <a:pPr algn="l"/>
            <a:r>
              <a:rPr sz="3800" b="1">
                <a:solidFill>
                  <a:srgbClr val="0F172A"/>
                </a:solidFill>
                <a:latin typeface="Segoe UI"/>
              </a:rPr>
              <a:t>Notifications WhatsApp</a:t>
            </a:r>
          </a:p>
        </p:txBody>
      </p:sp>
      <p:sp>
        <p:nvSpPr>
          <p:cNvPr id="4" name="TextBox 3"/>
          <p:cNvSpPr txBox="1"/>
          <p:nvPr/>
        </p:nvSpPr>
        <p:spPr>
          <a:xfrm>
            <a:off x="566928" y="1517904"/>
            <a:ext cx="10789920" cy="548640"/>
          </a:xfrm>
          <a:prstGeom prst="rect">
            <a:avLst/>
          </a:prstGeom>
          <a:noFill/>
        </p:spPr>
        <p:txBody>
          <a:bodyPr wrap="square" lIns="0" tIns="0" rIns="0" bIns="0" anchor="t">
            <a:noAutofit/>
          </a:bodyPr>
          <a:lstStyle/>
          <a:p>
            <a:pPr algn="l"/>
            <a:r>
              <a:rPr sz="1700" b="0">
                <a:solidFill>
                  <a:srgbClr val="64748B"/>
                </a:solidFill>
                <a:latin typeface="Segoe UI"/>
              </a:rPr>
              <a:t>Rejoindre le patient là où il est, automatiquement.</a:t>
            </a:r>
          </a:p>
        </p:txBody>
      </p:sp>
      <p:sp>
        <p:nvSpPr>
          <p:cNvPr id="5" name="TextBox 4"/>
          <p:cNvSpPr txBox="1"/>
          <p:nvPr/>
        </p:nvSpPr>
        <p:spPr>
          <a:xfrm>
            <a:off x="566928" y="2240280"/>
            <a:ext cx="5074920" cy="3749039"/>
          </a:xfrm>
          <a:prstGeom prst="rect">
            <a:avLst/>
          </a:prstGeom>
          <a:noFill/>
        </p:spPr>
        <p:txBody>
          <a:bodyPr wrap="square" lIns="0" tIns="0" rIns="0" bIns="0" anchor="t">
            <a:noAutofit/>
          </a:bodyPr>
          <a:lstStyle/>
          <a:p>
            <a:pPr algn="l">
              <a:lnSpc>
                <a:spcPct val="112000"/>
              </a:lnSpc>
              <a:spcAft>
                <a:spcPts val="1100"/>
              </a:spcAft>
            </a:pPr>
            <a:r>
              <a:rPr sz="1600" b="1" dirty="0">
                <a:solidFill>
                  <a:srgbClr val="2A9B69"/>
                </a:solidFill>
                <a:latin typeface="Segoe UI"/>
              </a:rPr>
              <a:t>›  </a:t>
            </a:r>
            <a:r>
              <a:rPr sz="1600" b="1" dirty="0">
                <a:solidFill>
                  <a:srgbClr val="0F172A"/>
                </a:solidFill>
                <a:latin typeface="Segoe UI"/>
              </a:rPr>
              <a:t>Rappels de </a:t>
            </a:r>
            <a:r>
              <a:rPr sz="1600" b="1" dirty="0" err="1">
                <a:solidFill>
                  <a:srgbClr val="0F172A"/>
                </a:solidFill>
                <a:latin typeface="Segoe UI"/>
              </a:rPr>
              <a:t>rendez</a:t>
            </a:r>
            <a:r>
              <a:rPr sz="1600" b="1" dirty="0">
                <a:solidFill>
                  <a:srgbClr val="0F172A"/>
                </a:solidFill>
                <a:latin typeface="Segoe UI"/>
              </a:rPr>
              <a:t>-vous </a:t>
            </a:r>
            <a:r>
              <a:rPr sz="1600" b="0" dirty="0" err="1">
                <a:solidFill>
                  <a:srgbClr val="64748B"/>
                </a:solidFill>
                <a:latin typeface="Segoe UI"/>
              </a:rPr>
              <a:t>automatiques</a:t>
            </a:r>
            <a:r>
              <a:rPr sz="1600" b="0" dirty="0">
                <a:solidFill>
                  <a:srgbClr val="64748B"/>
                </a:solidFill>
                <a:latin typeface="Segoe UI"/>
              </a:rPr>
              <a:t>.</a:t>
            </a:r>
          </a:p>
          <a:p>
            <a:pPr algn="l">
              <a:lnSpc>
                <a:spcPct val="112000"/>
              </a:lnSpc>
              <a:spcAft>
                <a:spcPts val="1100"/>
              </a:spcAft>
            </a:pPr>
            <a:r>
              <a:rPr sz="1600" b="1" dirty="0">
                <a:solidFill>
                  <a:srgbClr val="2A9B69"/>
                </a:solidFill>
                <a:latin typeface="Segoe UI"/>
              </a:rPr>
              <a:t>›  </a:t>
            </a:r>
            <a:r>
              <a:rPr sz="1600" b="1" dirty="0">
                <a:solidFill>
                  <a:srgbClr val="0F172A"/>
                </a:solidFill>
                <a:latin typeface="Segoe UI"/>
              </a:rPr>
              <a:t>Envoi des ordonnances </a:t>
            </a:r>
            <a:r>
              <a:rPr sz="1600" b="0" dirty="0" err="1">
                <a:solidFill>
                  <a:srgbClr val="64748B"/>
                </a:solidFill>
                <a:latin typeface="Segoe UI"/>
              </a:rPr>
              <a:t>directement</a:t>
            </a:r>
            <a:r>
              <a:rPr sz="1600" b="0" dirty="0">
                <a:solidFill>
                  <a:srgbClr val="64748B"/>
                </a:solidFill>
                <a:latin typeface="Segoe UI"/>
              </a:rPr>
              <a:t> au patient.</a:t>
            </a:r>
          </a:p>
          <a:p>
            <a:pPr algn="l">
              <a:lnSpc>
                <a:spcPct val="112000"/>
              </a:lnSpc>
              <a:spcAft>
                <a:spcPts val="1100"/>
              </a:spcAft>
            </a:pPr>
            <a:r>
              <a:rPr sz="1600" b="1" dirty="0">
                <a:solidFill>
                  <a:srgbClr val="2A9B69"/>
                </a:solidFill>
                <a:latin typeface="Segoe UI"/>
              </a:rPr>
              <a:t>›  </a:t>
            </a:r>
            <a:r>
              <a:rPr sz="1600" b="1" dirty="0">
                <a:solidFill>
                  <a:srgbClr val="0F172A"/>
                </a:solidFill>
                <a:latin typeface="Segoe UI"/>
              </a:rPr>
              <a:t>Orchestration </a:t>
            </a:r>
            <a:r>
              <a:rPr sz="1600" b="0" dirty="0">
                <a:solidFill>
                  <a:srgbClr val="64748B"/>
                </a:solidFill>
                <a:latin typeface="Segoe UI"/>
              </a:rPr>
              <a:t>via workflow n8n + Twilio.</a:t>
            </a:r>
          </a:p>
          <a:p>
            <a:pPr algn="l">
              <a:lnSpc>
                <a:spcPct val="112000"/>
              </a:lnSpc>
              <a:spcAft>
                <a:spcPts val="1100"/>
              </a:spcAft>
            </a:pPr>
            <a:r>
              <a:rPr sz="1600" b="1" dirty="0">
                <a:solidFill>
                  <a:srgbClr val="2A9B69"/>
                </a:solidFill>
                <a:latin typeface="Segoe UI"/>
              </a:rPr>
              <a:t>›  </a:t>
            </a:r>
            <a:r>
              <a:rPr sz="1600" b="1" dirty="0" err="1">
                <a:solidFill>
                  <a:srgbClr val="0F172A"/>
                </a:solidFill>
                <a:latin typeface="Segoe UI"/>
              </a:rPr>
              <a:t>Moins</a:t>
            </a:r>
            <a:r>
              <a:rPr sz="1600" b="1" dirty="0">
                <a:solidFill>
                  <a:srgbClr val="0F172A"/>
                </a:solidFill>
                <a:latin typeface="Segoe UI"/>
              </a:rPr>
              <a:t> </a:t>
            </a:r>
            <a:r>
              <a:rPr sz="1600" b="1" dirty="0" err="1">
                <a:solidFill>
                  <a:srgbClr val="0F172A"/>
                </a:solidFill>
                <a:latin typeface="Segoe UI"/>
              </a:rPr>
              <a:t>d'absences</a:t>
            </a:r>
            <a:r>
              <a:rPr sz="1600" b="0" dirty="0">
                <a:solidFill>
                  <a:srgbClr val="64748B"/>
                </a:solidFill>
                <a:latin typeface="Segoe UI"/>
              </a:rPr>
              <a:t>, Meilleur relation patient.</a:t>
            </a:r>
          </a:p>
        </p:txBody>
      </p:sp>
      <p:sp>
        <p:nvSpPr>
          <p:cNvPr id="8" name="Rectangle 7"/>
          <p:cNvSpPr/>
          <p:nvPr/>
        </p:nvSpPr>
        <p:spPr>
          <a:xfrm>
            <a:off x="548640" y="6419088"/>
            <a:ext cx="11091672" cy="127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9" name="Picture 8" descr="00-icone-curamedical.png"/>
          <p:cNvPicPr>
            <a:picLocks noChangeAspect="1"/>
          </p:cNvPicPr>
          <p:nvPr/>
        </p:nvPicPr>
        <p:blipFill>
          <a:blip r:embed="rId2"/>
          <a:stretch>
            <a:fillRect/>
          </a:stretch>
        </p:blipFill>
        <p:spPr>
          <a:xfrm>
            <a:off x="548640" y="6510528"/>
            <a:ext cx="329184" cy="219456"/>
          </a:xfrm>
          <a:prstGeom prst="rect">
            <a:avLst/>
          </a:prstGeom>
        </p:spPr>
      </p:pic>
      <p:sp>
        <p:nvSpPr>
          <p:cNvPr id="10" name="TextBox 9"/>
          <p:cNvSpPr txBox="1"/>
          <p:nvPr/>
        </p:nvSpPr>
        <p:spPr>
          <a:xfrm>
            <a:off x="868680" y="6519672"/>
            <a:ext cx="4572000" cy="274320"/>
          </a:xfrm>
          <a:prstGeom prst="rect">
            <a:avLst/>
          </a:prstGeom>
          <a:noFill/>
        </p:spPr>
        <p:txBody>
          <a:bodyPr wrap="square" lIns="0" tIns="0" rIns="0" bIns="0" anchor="t">
            <a:noAutofit/>
          </a:bodyPr>
          <a:lstStyle/>
          <a:p>
            <a:pPr algn="l"/>
            <a:r>
              <a:rPr sz="1050" b="1">
                <a:solidFill>
                  <a:srgbClr val="2A9B69"/>
                </a:solidFill>
                <a:latin typeface="Segoe UI"/>
              </a:rPr>
              <a:t>CuraMedical</a:t>
            </a:r>
          </a:p>
        </p:txBody>
      </p:sp>
      <p:sp>
        <p:nvSpPr>
          <p:cNvPr id="11" name="TextBox 10"/>
          <p:cNvSpPr txBox="1"/>
          <p:nvPr/>
        </p:nvSpPr>
        <p:spPr>
          <a:xfrm>
            <a:off x="7315200" y="6519672"/>
            <a:ext cx="4325112" cy="274320"/>
          </a:xfrm>
          <a:prstGeom prst="rect">
            <a:avLst/>
          </a:prstGeom>
          <a:noFill/>
        </p:spPr>
        <p:txBody>
          <a:bodyPr wrap="square" lIns="0" tIns="0" rIns="0" bIns="0" anchor="t">
            <a:noAutofit/>
          </a:bodyPr>
          <a:lstStyle/>
          <a:p>
            <a:pPr algn="r"/>
            <a:r>
              <a:rPr sz="1050" b="0">
                <a:solidFill>
                  <a:srgbClr val="64748B"/>
                </a:solidFill>
                <a:latin typeface="Segoe UI"/>
              </a:rPr>
              <a:t>15 / 18</a:t>
            </a:r>
          </a:p>
        </p:txBody>
      </p:sp>
      <p:pic>
        <p:nvPicPr>
          <p:cNvPr id="12" name="Image 11">
            <a:extLst>
              <a:ext uri="{FF2B5EF4-FFF2-40B4-BE49-F238E27FC236}">
                <a16:creationId xmlns:a16="http://schemas.microsoft.com/office/drawing/2014/main" id="{6F935D47-6885-40EE-9611-2811B6AEF1C3}"/>
              </a:ext>
            </a:extLst>
          </p:cNvPr>
          <p:cNvPicPr>
            <a:picLocks noChangeAspect="1"/>
          </p:cNvPicPr>
          <p:nvPr/>
        </p:nvPicPr>
        <p:blipFill>
          <a:blip r:embed="rId2"/>
          <a:stretch>
            <a:fillRect/>
          </a:stretch>
        </p:blipFill>
        <p:spPr>
          <a:xfrm>
            <a:off x="10357326" y="-249298"/>
            <a:ext cx="2584890" cy="1723260"/>
          </a:xfrm>
          <a:prstGeom prst="rect">
            <a:avLst/>
          </a:prstGeom>
        </p:spPr>
      </p:pic>
      <p:sp>
        <p:nvSpPr>
          <p:cNvPr id="13" name="TextBox 12"/>
          <p:cNvSpPr txBox="1"/>
          <p:nvPr/>
        </p:nvSpPr>
        <p:spPr>
          <a:xfrm>
            <a:off x="3657600" y="6528816"/>
            <a:ext cx="4873752" cy="274320"/>
          </a:xfrm>
          <a:prstGeom prst="rect">
            <a:avLst/>
          </a:prstGeom>
          <a:noFill/>
        </p:spPr>
        <p:txBody>
          <a:bodyPr wrap="square" lIns="0" tIns="0" rIns="0" bIns="0" anchor="t">
            <a:noAutofit/>
          </a:bodyPr>
          <a:lstStyle/>
          <a:p>
            <a:pPr algn="ctr"/>
            <a:r>
              <a:rPr sz="900" b="1">
                <a:solidFill>
                  <a:srgbClr val="64748B"/>
                </a:solidFill>
                <a:latin typeface="Segoe UI"/>
              </a:rPr>
              <a:t>PARTIE 5 · SERVICES &amp; AUTOMATISATION</a:t>
            </a:r>
          </a:p>
        </p:txBody>
      </p:sp>
      <p:sp>
        <p:nvSpPr>
          <p:cNvPr id="16" name="TextBox 15"/>
          <p:cNvSpPr txBox="1"/>
          <p:nvPr/>
        </p:nvSpPr>
        <p:spPr>
          <a:xfrm>
            <a:off x="5852160" y="5514780"/>
            <a:ext cx="3657600" cy="365760"/>
          </a:xfrm>
          <a:prstGeom prst="rect">
            <a:avLst/>
          </a:prstGeom>
          <a:noFill/>
        </p:spPr>
        <p:txBody>
          <a:bodyPr wrap="square" lIns="0" tIns="0">
            <a:spAutoFit/>
          </a:bodyPr>
          <a:lstStyle/>
          <a:p>
            <a:r>
              <a:rPr sz="1050">
                <a:solidFill>
                  <a:srgbClr val="64748B"/>
                </a:solidFill>
                <a:latin typeface="Segoe UI"/>
              </a:rPr>
              <a:t>Workflow n8n réel · rappels &amp; documents envoyés</a:t>
            </a:r>
          </a:p>
        </p:txBody>
      </p:sp>
      <p:pic>
        <p:nvPicPr>
          <p:cNvPr id="18" name="Picture 17" descr="image.jpg"/>
          <p:cNvPicPr>
            <a:picLocks noChangeAspect="1"/>
          </p:cNvPicPr>
          <p:nvPr/>
        </p:nvPicPr>
        <p:blipFill>
          <a:blip r:embed="rId3"/>
          <a:stretch>
            <a:fillRect/>
          </a:stretch>
        </p:blipFill>
        <p:spPr>
          <a:xfrm>
            <a:off x="9540848" y="1543686"/>
            <a:ext cx="2019905" cy="3902752"/>
          </a:xfrm>
          <a:prstGeom prst="rect">
            <a:avLst/>
          </a:prstGeom>
          <a:ln w="9525">
            <a:solidFill>
              <a:srgbClr val="E2E8F0"/>
            </a:solidFill>
          </a:ln>
          <a:effectLst/>
        </p:spPr>
      </p:pic>
      <p:pic>
        <p:nvPicPr>
          <p:cNvPr id="7" name="Image 6">
            <a:extLst>
              <a:ext uri="{FF2B5EF4-FFF2-40B4-BE49-F238E27FC236}">
                <a16:creationId xmlns:a16="http://schemas.microsoft.com/office/drawing/2014/main" id="{A10BDDC8-6DE3-4221-87D2-D3251EB14364}"/>
              </a:ext>
            </a:extLst>
          </p:cNvPr>
          <p:cNvPicPr>
            <a:picLocks noChangeAspect="1"/>
          </p:cNvPicPr>
          <p:nvPr/>
        </p:nvPicPr>
        <p:blipFill>
          <a:blip r:embed="rId4"/>
          <a:stretch>
            <a:fillRect/>
          </a:stretch>
        </p:blipFill>
        <p:spPr>
          <a:xfrm>
            <a:off x="5449834" y="1562459"/>
            <a:ext cx="4091014" cy="3883979"/>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7F8FA"/>
        </a:solidFill>
        <a:effectLst/>
      </p:bgPr>
    </p:bg>
    <p:spTree>
      <p:nvGrpSpPr>
        <p:cNvPr id="1" name=""/>
        <p:cNvGrpSpPr/>
        <p:nvPr/>
      </p:nvGrpSpPr>
      <p:grpSpPr>
        <a:xfrm>
          <a:off x="0" y="0"/>
          <a:ext cx="0" cy="0"/>
          <a:chOff x="0" y="0"/>
          <a:chExt cx="0" cy="0"/>
        </a:xfrm>
      </p:grpSpPr>
      <p:sp>
        <p:nvSpPr>
          <p:cNvPr id="2" name="TextBox 1"/>
          <p:cNvSpPr txBox="1"/>
          <p:nvPr/>
        </p:nvSpPr>
        <p:spPr>
          <a:xfrm>
            <a:off x="566928" y="475488"/>
            <a:ext cx="10972800" cy="274320"/>
          </a:xfrm>
          <a:prstGeom prst="rect">
            <a:avLst/>
          </a:prstGeom>
          <a:noFill/>
        </p:spPr>
        <p:txBody>
          <a:bodyPr wrap="square" lIns="0" tIns="0" rIns="0" bIns="0" anchor="t">
            <a:noAutofit/>
          </a:bodyPr>
          <a:lstStyle/>
          <a:p>
            <a:pPr algn="l"/>
            <a:r>
              <a:rPr sz="1250" b="1">
                <a:solidFill>
                  <a:srgbClr val="2A9B69"/>
                </a:solidFill>
                <a:latin typeface="Segoe UI"/>
              </a:rPr>
              <a:t>RÔLE · PATIENT</a:t>
            </a:r>
          </a:p>
        </p:txBody>
      </p:sp>
      <p:sp>
        <p:nvSpPr>
          <p:cNvPr id="3" name="TextBox 2"/>
          <p:cNvSpPr txBox="1"/>
          <p:nvPr/>
        </p:nvSpPr>
        <p:spPr>
          <a:xfrm>
            <a:off x="548640" y="768096"/>
            <a:ext cx="11064240" cy="868680"/>
          </a:xfrm>
          <a:prstGeom prst="rect">
            <a:avLst/>
          </a:prstGeom>
          <a:noFill/>
        </p:spPr>
        <p:txBody>
          <a:bodyPr wrap="square" lIns="0" tIns="0" rIns="0" bIns="0" anchor="t">
            <a:noAutofit/>
          </a:bodyPr>
          <a:lstStyle/>
          <a:p>
            <a:pPr algn="l"/>
            <a:r>
              <a:rPr sz="3800" b="1">
                <a:solidFill>
                  <a:srgbClr val="0F172A"/>
                </a:solidFill>
                <a:latin typeface="Segoe UI"/>
              </a:rPr>
              <a:t>Espace patient</a:t>
            </a:r>
          </a:p>
        </p:txBody>
      </p:sp>
      <p:sp>
        <p:nvSpPr>
          <p:cNvPr id="4" name="TextBox 3"/>
          <p:cNvSpPr txBox="1"/>
          <p:nvPr/>
        </p:nvSpPr>
        <p:spPr>
          <a:xfrm>
            <a:off x="566928" y="1517904"/>
            <a:ext cx="10789920" cy="548640"/>
          </a:xfrm>
          <a:prstGeom prst="rect">
            <a:avLst/>
          </a:prstGeom>
          <a:noFill/>
        </p:spPr>
        <p:txBody>
          <a:bodyPr wrap="square" lIns="0" tIns="0" rIns="0" bIns="0" anchor="t">
            <a:noAutofit/>
          </a:bodyPr>
          <a:lstStyle/>
          <a:p>
            <a:pPr algn="l"/>
            <a:r>
              <a:rPr sz="1700" b="0">
                <a:solidFill>
                  <a:srgbClr val="64748B"/>
                </a:solidFill>
                <a:latin typeface="Segoe UI"/>
              </a:rPr>
              <a:t>Le patient, acteur de son propre parcours de soins.</a:t>
            </a:r>
          </a:p>
        </p:txBody>
      </p:sp>
      <p:sp>
        <p:nvSpPr>
          <p:cNvPr id="5" name="TextBox 4"/>
          <p:cNvSpPr txBox="1"/>
          <p:nvPr/>
        </p:nvSpPr>
        <p:spPr>
          <a:xfrm>
            <a:off x="566928" y="2240280"/>
            <a:ext cx="5074920" cy="3749039"/>
          </a:xfrm>
          <a:prstGeom prst="rect">
            <a:avLst/>
          </a:prstGeom>
          <a:noFill/>
        </p:spPr>
        <p:txBody>
          <a:bodyPr wrap="square" lIns="0" tIns="0" rIns="0" bIns="0" anchor="t">
            <a:noAutofit/>
          </a:bodyPr>
          <a:lstStyle/>
          <a:p>
            <a:pPr algn="l">
              <a:lnSpc>
                <a:spcPct val="112000"/>
              </a:lnSpc>
              <a:spcAft>
                <a:spcPts val="1100"/>
              </a:spcAft>
            </a:pPr>
            <a:r>
              <a:rPr sz="1600" b="1">
                <a:solidFill>
                  <a:srgbClr val="2A9B69"/>
                </a:solidFill>
                <a:latin typeface="Segoe UI"/>
              </a:rPr>
              <a:t>›  </a:t>
            </a:r>
            <a:r>
              <a:rPr sz="1600" b="1">
                <a:solidFill>
                  <a:srgbClr val="0F172A"/>
                </a:solidFill>
                <a:latin typeface="Segoe UI"/>
              </a:rPr>
              <a:t>Inscription en ligne </a:t>
            </a:r>
            <a:r>
              <a:rPr sz="1600" b="0">
                <a:solidFill>
                  <a:srgbClr val="64748B"/>
                </a:solidFill>
                <a:latin typeface="Segoe UI"/>
              </a:rPr>
              <a:t>du patient.</a:t>
            </a:r>
          </a:p>
          <a:p>
            <a:pPr algn="l">
              <a:lnSpc>
                <a:spcPct val="112000"/>
              </a:lnSpc>
              <a:spcAft>
                <a:spcPts val="1100"/>
              </a:spcAft>
            </a:pPr>
            <a:r>
              <a:rPr sz="1600" b="1">
                <a:solidFill>
                  <a:srgbClr val="2A9B69"/>
                </a:solidFill>
                <a:latin typeface="Segoe UI"/>
              </a:rPr>
              <a:t>›  </a:t>
            </a:r>
            <a:r>
              <a:rPr sz="1600" b="1">
                <a:solidFill>
                  <a:srgbClr val="0F172A"/>
                </a:solidFill>
                <a:latin typeface="Segoe UI"/>
              </a:rPr>
              <a:t>Consultation de ses rendez-vous</a:t>
            </a:r>
            <a:r>
              <a:rPr sz="1600" b="0">
                <a:solidFill>
                  <a:srgbClr val="64748B"/>
                </a:solidFill>
                <a:latin typeface="Segoe UI"/>
              </a:rPr>
              <a:t>.</a:t>
            </a:r>
          </a:p>
          <a:p>
            <a:pPr algn="l">
              <a:lnSpc>
                <a:spcPct val="112000"/>
              </a:lnSpc>
              <a:spcAft>
                <a:spcPts val="1100"/>
              </a:spcAft>
            </a:pPr>
            <a:r>
              <a:rPr sz="1600" b="1">
                <a:solidFill>
                  <a:srgbClr val="2A9B69"/>
                </a:solidFill>
                <a:latin typeface="Segoe UI"/>
              </a:rPr>
              <a:t>›  </a:t>
            </a:r>
            <a:r>
              <a:rPr sz="1600" b="1">
                <a:solidFill>
                  <a:srgbClr val="0F172A"/>
                </a:solidFill>
                <a:latin typeface="Segoe UI"/>
              </a:rPr>
              <a:t>Accès à ses consultations </a:t>
            </a:r>
            <a:r>
              <a:rPr sz="1600" b="0">
                <a:solidFill>
                  <a:srgbClr val="64748B"/>
                </a:solidFill>
                <a:latin typeface="Segoe UI"/>
              </a:rPr>
              <a:t>et ordonnances.</a:t>
            </a:r>
          </a:p>
          <a:p>
            <a:pPr algn="l">
              <a:lnSpc>
                <a:spcPct val="112000"/>
              </a:lnSpc>
              <a:spcAft>
                <a:spcPts val="1100"/>
              </a:spcAft>
            </a:pPr>
            <a:r>
              <a:rPr sz="1600" b="1">
                <a:solidFill>
                  <a:srgbClr val="2A9B69"/>
                </a:solidFill>
                <a:latin typeface="Segoe UI"/>
              </a:rPr>
              <a:t>›  </a:t>
            </a:r>
            <a:r>
              <a:rPr sz="1600" b="1">
                <a:solidFill>
                  <a:srgbClr val="0F172A"/>
                </a:solidFill>
                <a:latin typeface="Segoe UI"/>
              </a:rPr>
              <a:t>Gestion de son profil </a:t>
            </a:r>
            <a:r>
              <a:rPr sz="1600" b="0">
                <a:solidFill>
                  <a:srgbClr val="64748B"/>
                </a:solidFill>
                <a:latin typeface="Segoe UI"/>
              </a:rPr>
              <a:t>personnel.</a:t>
            </a:r>
          </a:p>
        </p:txBody>
      </p:sp>
      <p:pic>
        <p:nvPicPr>
          <p:cNvPr id="7" name="Picture 6" descr="16-patient-espace-personnel.png"/>
          <p:cNvPicPr>
            <a:picLocks noChangeAspect="1"/>
          </p:cNvPicPr>
          <p:nvPr/>
        </p:nvPicPr>
        <p:blipFill>
          <a:blip r:embed="rId2"/>
          <a:stretch>
            <a:fillRect/>
          </a:stretch>
        </p:blipFill>
        <p:spPr>
          <a:xfrm>
            <a:off x="5285232" y="1997855"/>
            <a:ext cx="6199632" cy="3487293"/>
          </a:xfrm>
          <a:prstGeom prst="rect">
            <a:avLst/>
          </a:prstGeom>
          <a:ln w="9525">
            <a:solidFill>
              <a:srgbClr val="E2E8F0"/>
            </a:solidFill>
          </a:ln>
          <a:effectLst/>
        </p:spPr>
      </p:pic>
      <p:sp>
        <p:nvSpPr>
          <p:cNvPr id="8" name="Rectangle 7"/>
          <p:cNvSpPr/>
          <p:nvPr/>
        </p:nvSpPr>
        <p:spPr>
          <a:xfrm>
            <a:off x="548640" y="6419088"/>
            <a:ext cx="11091672" cy="127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9" name="Picture 8" descr="00-icone-curamedical.png"/>
          <p:cNvPicPr>
            <a:picLocks noChangeAspect="1"/>
          </p:cNvPicPr>
          <p:nvPr/>
        </p:nvPicPr>
        <p:blipFill>
          <a:blip r:embed="rId3"/>
          <a:stretch>
            <a:fillRect/>
          </a:stretch>
        </p:blipFill>
        <p:spPr>
          <a:xfrm>
            <a:off x="548640" y="6510528"/>
            <a:ext cx="329184" cy="219456"/>
          </a:xfrm>
          <a:prstGeom prst="rect">
            <a:avLst/>
          </a:prstGeom>
        </p:spPr>
      </p:pic>
      <p:sp>
        <p:nvSpPr>
          <p:cNvPr id="10" name="TextBox 9"/>
          <p:cNvSpPr txBox="1"/>
          <p:nvPr/>
        </p:nvSpPr>
        <p:spPr>
          <a:xfrm>
            <a:off x="868680" y="6519672"/>
            <a:ext cx="4572000" cy="274320"/>
          </a:xfrm>
          <a:prstGeom prst="rect">
            <a:avLst/>
          </a:prstGeom>
          <a:noFill/>
        </p:spPr>
        <p:txBody>
          <a:bodyPr wrap="square" lIns="0" tIns="0" rIns="0" bIns="0" anchor="t">
            <a:noAutofit/>
          </a:bodyPr>
          <a:lstStyle/>
          <a:p>
            <a:pPr algn="l"/>
            <a:r>
              <a:rPr sz="1050" b="1">
                <a:solidFill>
                  <a:srgbClr val="2A9B69"/>
                </a:solidFill>
                <a:latin typeface="Segoe UI"/>
              </a:rPr>
              <a:t>CuraMedical</a:t>
            </a:r>
          </a:p>
        </p:txBody>
      </p:sp>
      <p:sp>
        <p:nvSpPr>
          <p:cNvPr id="11" name="TextBox 10"/>
          <p:cNvSpPr txBox="1"/>
          <p:nvPr/>
        </p:nvSpPr>
        <p:spPr>
          <a:xfrm>
            <a:off x="7315200" y="6519672"/>
            <a:ext cx="4325112" cy="274320"/>
          </a:xfrm>
          <a:prstGeom prst="rect">
            <a:avLst/>
          </a:prstGeom>
          <a:noFill/>
        </p:spPr>
        <p:txBody>
          <a:bodyPr wrap="square" lIns="0" tIns="0" rIns="0" bIns="0" anchor="t">
            <a:noAutofit/>
          </a:bodyPr>
          <a:lstStyle/>
          <a:p>
            <a:pPr algn="r"/>
            <a:r>
              <a:rPr sz="1050" b="0">
                <a:solidFill>
                  <a:srgbClr val="64748B"/>
                </a:solidFill>
                <a:latin typeface="Segoe UI"/>
              </a:rPr>
              <a:t>16 / 18</a:t>
            </a:r>
          </a:p>
        </p:txBody>
      </p:sp>
      <p:pic>
        <p:nvPicPr>
          <p:cNvPr id="12" name="Image 11">
            <a:extLst>
              <a:ext uri="{FF2B5EF4-FFF2-40B4-BE49-F238E27FC236}">
                <a16:creationId xmlns:a16="http://schemas.microsoft.com/office/drawing/2014/main" id="{7B35CD1E-6BA5-42FF-B360-5A2D4BFE077E}"/>
              </a:ext>
            </a:extLst>
          </p:cNvPr>
          <p:cNvPicPr>
            <a:picLocks noChangeAspect="1"/>
          </p:cNvPicPr>
          <p:nvPr/>
        </p:nvPicPr>
        <p:blipFill>
          <a:blip r:embed="rId3"/>
          <a:stretch>
            <a:fillRect/>
          </a:stretch>
        </p:blipFill>
        <p:spPr>
          <a:xfrm>
            <a:off x="10357326" y="-249298"/>
            <a:ext cx="2584890" cy="1723260"/>
          </a:xfrm>
          <a:prstGeom prst="rect">
            <a:avLst/>
          </a:prstGeom>
        </p:spPr>
      </p:pic>
      <p:sp>
        <p:nvSpPr>
          <p:cNvPr id="13" name="TextBox 12"/>
          <p:cNvSpPr txBox="1"/>
          <p:nvPr/>
        </p:nvSpPr>
        <p:spPr>
          <a:xfrm>
            <a:off x="3657600" y="6528816"/>
            <a:ext cx="4873752" cy="274320"/>
          </a:xfrm>
          <a:prstGeom prst="rect">
            <a:avLst/>
          </a:prstGeom>
          <a:noFill/>
        </p:spPr>
        <p:txBody>
          <a:bodyPr wrap="square" lIns="0" tIns="0" rIns="0" bIns="0" anchor="t">
            <a:noAutofit/>
          </a:bodyPr>
          <a:lstStyle/>
          <a:p>
            <a:pPr algn="ctr"/>
            <a:r>
              <a:rPr sz="900" b="1">
                <a:solidFill>
                  <a:srgbClr val="64748B"/>
                </a:solidFill>
                <a:latin typeface="Segoe UI"/>
              </a:rPr>
              <a:t>PARTIE 6 · ESPACE PATIENT &amp; CONCLUSION</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66928" y="475488"/>
            <a:ext cx="10972800" cy="274320"/>
          </a:xfrm>
          <a:prstGeom prst="rect">
            <a:avLst/>
          </a:prstGeom>
          <a:noFill/>
        </p:spPr>
        <p:txBody>
          <a:bodyPr wrap="square" lIns="0" tIns="0" rIns="0" bIns="0" anchor="t">
            <a:noAutofit/>
          </a:bodyPr>
          <a:lstStyle/>
          <a:p>
            <a:pPr algn="l"/>
            <a:r>
              <a:rPr sz="1250" b="1">
                <a:solidFill>
                  <a:srgbClr val="2A9B69"/>
                </a:solidFill>
                <a:latin typeface="Segoe UI"/>
              </a:rPr>
              <a:t>RETOUR D'EXPÉRIENCE</a:t>
            </a:r>
          </a:p>
        </p:txBody>
      </p:sp>
      <p:sp>
        <p:nvSpPr>
          <p:cNvPr id="3" name="TextBox 2"/>
          <p:cNvSpPr txBox="1"/>
          <p:nvPr/>
        </p:nvSpPr>
        <p:spPr>
          <a:xfrm>
            <a:off x="548640" y="768096"/>
            <a:ext cx="11064240" cy="868680"/>
          </a:xfrm>
          <a:prstGeom prst="rect">
            <a:avLst/>
          </a:prstGeom>
          <a:noFill/>
        </p:spPr>
        <p:txBody>
          <a:bodyPr wrap="square" lIns="0" tIns="0" rIns="0" bIns="0" anchor="t">
            <a:noAutofit/>
          </a:bodyPr>
          <a:lstStyle/>
          <a:p>
            <a:pPr algn="l"/>
            <a:r>
              <a:rPr sz="3800" b="1" dirty="0" err="1">
                <a:solidFill>
                  <a:srgbClr val="0F172A"/>
                </a:solidFill>
                <a:latin typeface="Segoe UI"/>
              </a:rPr>
              <a:t>Difficultés</a:t>
            </a:r>
            <a:r>
              <a:rPr sz="3800" b="1" dirty="0">
                <a:solidFill>
                  <a:srgbClr val="0F172A"/>
                </a:solidFill>
                <a:latin typeface="Segoe UI"/>
              </a:rPr>
              <a:t> techniques </a:t>
            </a:r>
            <a:r>
              <a:rPr sz="3800" b="1" dirty="0" err="1">
                <a:solidFill>
                  <a:srgbClr val="0F172A"/>
                </a:solidFill>
                <a:latin typeface="Segoe UI"/>
              </a:rPr>
              <a:t>rencontrées</a:t>
            </a:r>
            <a:endParaRPr sz="3800" b="1" dirty="0">
              <a:solidFill>
                <a:srgbClr val="0F172A"/>
              </a:solidFill>
              <a:latin typeface="Segoe UI"/>
            </a:endParaRPr>
          </a:p>
        </p:txBody>
      </p:sp>
      <p:sp>
        <p:nvSpPr>
          <p:cNvPr id="4" name="TextBox 3"/>
          <p:cNvSpPr txBox="1"/>
          <p:nvPr/>
        </p:nvSpPr>
        <p:spPr>
          <a:xfrm>
            <a:off x="566928" y="1517904"/>
            <a:ext cx="10789920" cy="548640"/>
          </a:xfrm>
          <a:prstGeom prst="rect">
            <a:avLst/>
          </a:prstGeom>
          <a:noFill/>
        </p:spPr>
        <p:txBody>
          <a:bodyPr wrap="square" lIns="0" tIns="0" rIns="0" bIns="0" anchor="t">
            <a:noAutofit/>
          </a:bodyPr>
          <a:lstStyle/>
          <a:p>
            <a:pPr algn="l"/>
            <a:r>
              <a:rPr sz="1700" b="0">
                <a:solidFill>
                  <a:srgbClr val="64748B"/>
                </a:solidFill>
                <a:latin typeface="Segoe UI"/>
              </a:rPr>
              <a:t>Des défis concrets, analysés et résolus.</a:t>
            </a:r>
          </a:p>
        </p:txBody>
      </p:sp>
      <p:sp>
        <p:nvSpPr>
          <p:cNvPr id="8" name="Rectangle 7"/>
          <p:cNvSpPr/>
          <p:nvPr/>
        </p:nvSpPr>
        <p:spPr>
          <a:xfrm>
            <a:off x="548640" y="6419088"/>
            <a:ext cx="11091672" cy="127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868680" y="6519672"/>
            <a:ext cx="4572000" cy="274320"/>
          </a:xfrm>
          <a:prstGeom prst="rect">
            <a:avLst/>
          </a:prstGeom>
          <a:noFill/>
        </p:spPr>
        <p:txBody>
          <a:bodyPr wrap="square" lIns="0" tIns="0" rIns="0" bIns="0" anchor="t">
            <a:noAutofit/>
          </a:bodyPr>
          <a:lstStyle/>
          <a:p>
            <a:pPr algn="l"/>
            <a:r>
              <a:rPr sz="1050" b="1">
                <a:solidFill>
                  <a:srgbClr val="2A9B69"/>
                </a:solidFill>
                <a:latin typeface="Segoe UI"/>
              </a:rPr>
              <a:t>CuraMedical</a:t>
            </a:r>
          </a:p>
        </p:txBody>
      </p:sp>
      <p:sp>
        <p:nvSpPr>
          <p:cNvPr id="11" name="TextBox 10"/>
          <p:cNvSpPr txBox="1"/>
          <p:nvPr/>
        </p:nvSpPr>
        <p:spPr>
          <a:xfrm>
            <a:off x="7315200" y="6519672"/>
            <a:ext cx="4325112" cy="274320"/>
          </a:xfrm>
          <a:prstGeom prst="rect">
            <a:avLst/>
          </a:prstGeom>
          <a:noFill/>
        </p:spPr>
        <p:txBody>
          <a:bodyPr wrap="square" lIns="0" tIns="0" rIns="0" bIns="0" anchor="t">
            <a:noAutofit/>
          </a:bodyPr>
          <a:lstStyle/>
          <a:p>
            <a:pPr algn="r"/>
            <a:r>
              <a:rPr sz="1050" b="0">
                <a:solidFill>
                  <a:srgbClr val="64748B"/>
                </a:solidFill>
                <a:latin typeface="Segoe UI"/>
              </a:rPr>
              <a:t>17 / 18</a:t>
            </a:r>
          </a:p>
        </p:txBody>
      </p:sp>
      <p:sp>
        <p:nvSpPr>
          <p:cNvPr id="13" name="TextBox 12"/>
          <p:cNvSpPr txBox="1"/>
          <p:nvPr/>
        </p:nvSpPr>
        <p:spPr>
          <a:xfrm>
            <a:off x="3657600" y="6528816"/>
            <a:ext cx="4873752" cy="274320"/>
          </a:xfrm>
          <a:prstGeom prst="rect">
            <a:avLst/>
          </a:prstGeom>
          <a:noFill/>
        </p:spPr>
        <p:txBody>
          <a:bodyPr wrap="square" lIns="0" tIns="0" rIns="0" bIns="0" anchor="t">
            <a:noAutofit/>
          </a:bodyPr>
          <a:lstStyle/>
          <a:p>
            <a:pPr algn="ctr"/>
            <a:r>
              <a:rPr sz="900" b="1">
                <a:solidFill>
                  <a:srgbClr val="64748B"/>
                </a:solidFill>
                <a:latin typeface="Segoe UI"/>
              </a:rPr>
              <a:t>PARTIE 6 · ESPACE PATIENT &amp; CONCLUSION</a:t>
            </a:r>
          </a:p>
        </p:txBody>
      </p:sp>
      <p:sp>
        <p:nvSpPr>
          <p:cNvPr id="5" name="Rounded Rectangle 4"/>
          <p:cNvSpPr/>
          <p:nvPr/>
        </p:nvSpPr>
        <p:spPr>
          <a:xfrm>
            <a:off x="547200" y="2412000"/>
            <a:ext cx="2736000" cy="990000"/>
          </a:xfrm>
          <a:prstGeom prst="roundRect">
            <a:avLst/>
          </a:prstGeom>
          <a:solidFill>
            <a:srgbClr val="FFFFFF"/>
          </a:solidFill>
          <a:ln w="12700">
            <a:solidFill>
              <a:srgbClr val="F1D7B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27200" y="2520000"/>
            <a:ext cx="2376000" cy="792000"/>
          </a:xfrm>
          <a:prstGeom prst="rect">
            <a:avLst/>
          </a:prstGeom>
          <a:noFill/>
        </p:spPr>
        <p:txBody>
          <a:bodyPr wrap="square" lIns="0" tIns="0" rIns="0" bIns="0" anchor="t">
            <a:noAutofit/>
          </a:bodyPr>
          <a:lstStyle/>
          <a:p>
            <a:pPr algn="l">
              <a:spcAft>
                <a:spcPts val="600"/>
              </a:spcAft>
            </a:pPr>
            <a:r>
              <a:rPr sz="1250" b="1">
                <a:solidFill>
                  <a:srgbClr val="2A9B69"/>
                </a:solidFill>
                <a:latin typeface="Segoe UI"/>
              </a:rPr>
              <a:t>IA médicale</a:t>
            </a:r>
          </a:p>
          <a:p>
            <a:pPr algn="l">
              <a:lnSpc>
                <a:spcPct val="110000"/>
              </a:lnSpc>
            </a:pPr>
            <a:r>
              <a:rPr sz="900" b="0">
                <a:solidFill>
                  <a:srgbClr val="64748B"/>
                </a:solidFill>
                <a:latin typeface="Segoe UI"/>
              </a:rPr>
              <a:t>Aligner un dataset anglophone avec une saisie en français.</a:t>
            </a:r>
          </a:p>
        </p:txBody>
      </p:sp>
      <p:sp>
        <p:nvSpPr>
          <p:cNvPr id="7" name="Rounded Rectangle 6"/>
          <p:cNvSpPr/>
          <p:nvPr/>
        </p:nvSpPr>
        <p:spPr>
          <a:xfrm>
            <a:off x="3427200" y="2412000"/>
            <a:ext cx="2736000" cy="990000"/>
          </a:xfrm>
          <a:prstGeom prst="round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7"/>
          <p:cNvSpPr txBox="1"/>
          <p:nvPr/>
        </p:nvSpPr>
        <p:spPr>
          <a:xfrm>
            <a:off x="3607200" y="2520000"/>
            <a:ext cx="2376000" cy="792000"/>
          </a:xfrm>
          <a:prstGeom prst="rect">
            <a:avLst/>
          </a:prstGeom>
          <a:noFill/>
        </p:spPr>
        <p:txBody>
          <a:bodyPr wrap="square" lIns="0" tIns="0" rIns="0" bIns="0" anchor="t">
            <a:noAutofit/>
          </a:bodyPr>
          <a:lstStyle/>
          <a:p>
            <a:pPr algn="l">
              <a:spcAft>
                <a:spcPts val="600"/>
              </a:spcAft>
            </a:pPr>
            <a:r>
              <a:rPr sz="1250" b="1">
                <a:solidFill>
                  <a:srgbClr val="2A9B69"/>
                </a:solidFill>
                <a:latin typeface="Segoe UI"/>
              </a:rPr>
              <a:t>Sécurité</a:t>
            </a:r>
          </a:p>
          <a:p>
            <a:pPr algn="l">
              <a:lnSpc>
                <a:spcPct val="110000"/>
              </a:lnSpc>
            </a:pPr>
            <a:r>
              <a:rPr sz="900" b="0">
                <a:solidFill>
                  <a:srgbClr val="64748B"/>
                </a:solidFill>
                <a:latin typeface="Segoe UI"/>
              </a:rPr>
              <a:t>Cloisonner les données par rôle sans bloquer les parcours.</a:t>
            </a:r>
          </a:p>
        </p:txBody>
      </p:sp>
      <p:sp>
        <p:nvSpPr>
          <p:cNvPr id="9" name="Rounded Rectangle 8"/>
          <p:cNvSpPr/>
          <p:nvPr/>
        </p:nvSpPr>
        <p:spPr>
          <a:xfrm>
            <a:off x="547200" y="3510000"/>
            <a:ext cx="2736000" cy="990000"/>
          </a:xfrm>
          <a:prstGeom prst="round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9"/>
          <p:cNvSpPr txBox="1"/>
          <p:nvPr/>
        </p:nvSpPr>
        <p:spPr>
          <a:xfrm>
            <a:off x="727200" y="3618000"/>
            <a:ext cx="2376000" cy="792000"/>
          </a:xfrm>
          <a:prstGeom prst="rect">
            <a:avLst/>
          </a:prstGeom>
          <a:noFill/>
        </p:spPr>
        <p:txBody>
          <a:bodyPr wrap="square" lIns="0" tIns="0" rIns="0" bIns="0" anchor="t">
            <a:noAutofit/>
          </a:bodyPr>
          <a:lstStyle/>
          <a:p>
            <a:pPr algn="l">
              <a:spcAft>
                <a:spcPts val="600"/>
              </a:spcAft>
            </a:pPr>
            <a:r>
              <a:rPr sz="1250" b="1">
                <a:solidFill>
                  <a:srgbClr val="2A9B69"/>
                </a:solidFill>
                <a:latin typeface="Segoe UI"/>
              </a:rPr>
              <a:t>PDF médicaux</a:t>
            </a:r>
          </a:p>
          <a:p>
            <a:pPr algn="l">
              <a:lnSpc>
                <a:spcPct val="110000"/>
              </a:lnSpc>
            </a:pPr>
            <a:r>
              <a:rPr sz="900" b="0">
                <a:solidFill>
                  <a:srgbClr val="64748B"/>
                </a:solidFill>
                <a:latin typeface="Segoe UI"/>
              </a:rPr>
              <a:t>Produire des documents lisibles et réutilisables patient.</a:t>
            </a:r>
          </a:p>
        </p:txBody>
      </p:sp>
      <p:sp>
        <p:nvSpPr>
          <p:cNvPr id="20" name="Rounded Rectangle 10"/>
          <p:cNvSpPr/>
          <p:nvPr/>
        </p:nvSpPr>
        <p:spPr>
          <a:xfrm>
            <a:off x="3427200" y="3510000"/>
            <a:ext cx="2736000" cy="990000"/>
          </a:xfrm>
          <a:prstGeom prst="roundRect">
            <a:avLst/>
          </a:prstGeom>
          <a:solidFill>
            <a:srgbClr val="FFFFFF"/>
          </a:solidFill>
          <a:ln w="12700">
            <a:solidFill>
              <a:srgbClr val="F1D7B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3607200" y="3618000"/>
            <a:ext cx="2376000" cy="792000"/>
          </a:xfrm>
          <a:prstGeom prst="rect">
            <a:avLst/>
          </a:prstGeom>
          <a:noFill/>
        </p:spPr>
        <p:txBody>
          <a:bodyPr wrap="square" lIns="0" tIns="0" rIns="0" bIns="0" anchor="t">
            <a:noAutofit/>
          </a:bodyPr>
          <a:lstStyle/>
          <a:p>
            <a:pPr algn="l">
              <a:spcAft>
                <a:spcPts val="600"/>
              </a:spcAft>
            </a:pPr>
            <a:r>
              <a:rPr sz="1250" b="1">
                <a:solidFill>
                  <a:srgbClr val="2A9B69"/>
                </a:solidFill>
                <a:latin typeface="Segoe UI"/>
              </a:rPr>
              <a:t>Automatisation</a:t>
            </a:r>
          </a:p>
          <a:p>
            <a:pPr algn="l">
              <a:lnSpc>
                <a:spcPct val="110000"/>
              </a:lnSpc>
            </a:pPr>
            <a:r>
              <a:rPr sz="900" b="0">
                <a:solidFill>
                  <a:srgbClr val="64748B"/>
                </a:solidFill>
                <a:latin typeface="Segoe UI"/>
              </a:rPr>
              <a:t>Découpler les envois via Celery, n8n, Twilio et e-mail.</a:t>
            </a:r>
          </a:p>
        </p:txBody>
      </p:sp>
      <p:sp>
        <p:nvSpPr>
          <p:cNvPr id="21" name="Rounded Rectangle 12"/>
          <p:cNvSpPr/>
          <p:nvPr/>
        </p:nvSpPr>
        <p:spPr>
          <a:xfrm>
            <a:off x="547200" y="4608000"/>
            <a:ext cx="2736000" cy="990000"/>
          </a:xfrm>
          <a:prstGeom prst="round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727200" y="4716000"/>
            <a:ext cx="2376000" cy="792000"/>
          </a:xfrm>
          <a:prstGeom prst="rect">
            <a:avLst/>
          </a:prstGeom>
          <a:noFill/>
        </p:spPr>
        <p:txBody>
          <a:bodyPr wrap="square" lIns="0" tIns="0" rIns="0" bIns="0" anchor="t">
            <a:noAutofit/>
          </a:bodyPr>
          <a:lstStyle/>
          <a:p>
            <a:pPr algn="l">
              <a:spcAft>
                <a:spcPts val="600"/>
              </a:spcAft>
            </a:pPr>
            <a:r>
              <a:rPr sz="1250" b="1">
                <a:solidFill>
                  <a:srgbClr val="2A9B69"/>
                </a:solidFill>
                <a:latin typeface="Segoe UI"/>
              </a:rPr>
              <a:t>Déploiement</a:t>
            </a:r>
          </a:p>
          <a:p>
            <a:pPr algn="l">
              <a:lnSpc>
                <a:spcPct val="110000"/>
              </a:lnSpc>
            </a:pPr>
            <a:r>
              <a:rPr sz="900" b="0">
                <a:solidFill>
                  <a:srgbClr val="64748B"/>
                </a:solidFill>
                <a:latin typeface="Segoe UI"/>
              </a:rPr>
              <a:t>Faire tourner plusieurs services conteneurisés ensemble.</a:t>
            </a:r>
          </a:p>
        </p:txBody>
      </p:sp>
      <p:sp>
        <p:nvSpPr>
          <p:cNvPr id="15" name="Rounded Rectangle 14"/>
          <p:cNvSpPr/>
          <p:nvPr/>
        </p:nvSpPr>
        <p:spPr>
          <a:xfrm>
            <a:off x="3427200" y="4608000"/>
            <a:ext cx="2736000" cy="990000"/>
          </a:xfrm>
          <a:prstGeom prst="round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3607200" y="4716000"/>
            <a:ext cx="2376000" cy="792000"/>
          </a:xfrm>
          <a:prstGeom prst="rect">
            <a:avLst/>
          </a:prstGeom>
          <a:noFill/>
        </p:spPr>
        <p:txBody>
          <a:bodyPr wrap="square" lIns="0" tIns="0" rIns="0" bIns="0" anchor="t">
            <a:noAutofit/>
          </a:bodyPr>
          <a:lstStyle/>
          <a:p>
            <a:pPr algn="l">
              <a:spcAft>
                <a:spcPts val="600"/>
              </a:spcAft>
            </a:pPr>
            <a:r>
              <a:rPr sz="1250" b="1">
                <a:solidFill>
                  <a:srgbClr val="2A9B69"/>
                </a:solidFill>
                <a:latin typeface="Segoe UI"/>
              </a:rPr>
              <a:t>Expérience</a:t>
            </a:r>
          </a:p>
          <a:p>
            <a:pPr algn="l">
              <a:lnSpc>
                <a:spcPct val="110000"/>
              </a:lnSpc>
            </a:pPr>
            <a:r>
              <a:rPr sz="900" b="0">
                <a:solidFill>
                  <a:srgbClr val="64748B"/>
                </a:solidFill>
                <a:latin typeface="Segoe UI"/>
              </a:rPr>
              <a:t>Garder une interface claire malgré 4 profils utilisateurs.</a:t>
            </a:r>
          </a:p>
        </p:txBody>
      </p:sp>
      <p:sp>
        <p:nvSpPr>
          <p:cNvPr id="23" name="Oval 22"/>
          <p:cNvSpPr/>
          <p:nvPr/>
        </p:nvSpPr>
        <p:spPr>
          <a:xfrm>
            <a:off x="7225200" y="2113199"/>
            <a:ext cx="4053600" cy="4053600"/>
          </a:xfrm>
          <a:prstGeom prst="ellipse">
            <a:avLst/>
          </a:prstGeom>
          <a:solidFill>
            <a:srgbClr val="D9EE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7" name="Picture 16" descr="18-difficultes-illustration.png"/>
          <p:cNvPicPr>
            <a:picLocks noChangeAspect="1"/>
          </p:cNvPicPr>
          <p:nvPr/>
        </p:nvPicPr>
        <p:blipFill>
          <a:blip r:embed="rId2"/>
          <a:srcRect l="12500" r="12500"/>
          <a:stretch>
            <a:fillRect/>
          </a:stretch>
        </p:blipFill>
        <p:spPr>
          <a:xfrm>
            <a:off x="7307999" y="2196000"/>
            <a:ext cx="3888000" cy="3888000"/>
          </a:xfrm>
          <a:prstGeom prst="ellipse">
            <a:avLst/>
          </a:prstGeom>
          <a:ln w="19050">
            <a:solidFill>
              <a:srgbClr val="FFFFFF"/>
            </a:solidFill>
          </a:ln>
        </p:spPr>
      </p:pic>
      <p:pic>
        <p:nvPicPr>
          <p:cNvPr id="22" name="Image 21">
            <a:extLst>
              <a:ext uri="{FF2B5EF4-FFF2-40B4-BE49-F238E27FC236}">
                <a16:creationId xmlns:a16="http://schemas.microsoft.com/office/drawing/2014/main" id="{11C6B5E9-965A-4A35-87F6-267ED373BDC3}"/>
              </a:ext>
            </a:extLst>
          </p:cNvPr>
          <p:cNvPicPr>
            <a:picLocks noChangeAspect="1"/>
          </p:cNvPicPr>
          <p:nvPr/>
        </p:nvPicPr>
        <p:blipFill>
          <a:blip r:embed="rId3"/>
          <a:stretch>
            <a:fillRect/>
          </a:stretch>
        </p:blipFill>
        <p:spPr>
          <a:xfrm>
            <a:off x="10357326" y="-249298"/>
            <a:ext cx="2584890" cy="1723260"/>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7F8FA"/>
        </a:solidFill>
        <a:effectLst/>
      </p:bgPr>
    </p:bg>
    <p:spTree>
      <p:nvGrpSpPr>
        <p:cNvPr id="1" name=""/>
        <p:cNvGrpSpPr/>
        <p:nvPr/>
      </p:nvGrpSpPr>
      <p:grpSpPr>
        <a:xfrm>
          <a:off x="0" y="0"/>
          <a:ext cx="0" cy="0"/>
          <a:chOff x="0" y="0"/>
          <a:chExt cx="0" cy="0"/>
        </a:xfrm>
      </p:grpSpPr>
      <p:sp>
        <p:nvSpPr>
          <p:cNvPr id="2" name="TextBox 1"/>
          <p:cNvSpPr txBox="1"/>
          <p:nvPr/>
        </p:nvSpPr>
        <p:spPr>
          <a:xfrm>
            <a:off x="566928" y="475488"/>
            <a:ext cx="10972800" cy="274320"/>
          </a:xfrm>
          <a:prstGeom prst="rect">
            <a:avLst/>
          </a:prstGeom>
          <a:noFill/>
        </p:spPr>
        <p:txBody>
          <a:bodyPr wrap="square" lIns="0" tIns="0" rIns="0" bIns="0" anchor="t">
            <a:noAutofit/>
          </a:bodyPr>
          <a:lstStyle/>
          <a:p>
            <a:pPr algn="l"/>
            <a:r>
              <a:rPr sz="1250" b="1">
                <a:solidFill>
                  <a:srgbClr val="2A9B69"/>
                </a:solidFill>
                <a:latin typeface="Segoe UI"/>
              </a:rPr>
              <a:t>CONCLUSION</a:t>
            </a:r>
          </a:p>
        </p:txBody>
      </p:sp>
      <p:sp>
        <p:nvSpPr>
          <p:cNvPr id="3" name="TextBox 2"/>
          <p:cNvSpPr txBox="1"/>
          <p:nvPr/>
        </p:nvSpPr>
        <p:spPr>
          <a:xfrm>
            <a:off x="548640" y="768096"/>
            <a:ext cx="11064240" cy="868680"/>
          </a:xfrm>
          <a:prstGeom prst="rect">
            <a:avLst/>
          </a:prstGeom>
          <a:noFill/>
        </p:spPr>
        <p:txBody>
          <a:bodyPr wrap="square" lIns="0" tIns="0" rIns="0" bIns="0" anchor="t">
            <a:noAutofit/>
          </a:bodyPr>
          <a:lstStyle/>
          <a:p>
            <a:pPr algn="l"/>
            <a:r>
              <a:rPr sz="3800" b="1">
                <a:solidFill>
                  <a:srgbClr val="0F172A"/>
                </a:solidFill>
                <a:latin typeface="Segoe UI"/>
              </a:rPr>
              <a:t>Bilan &amp; perspectives</a:t>
            </a:r>
          </a:p>
        </p:txBody>
      </p:sp>
      <p:sp>
        <p:nvSpPr>
          <p:cNvPr id="4" name="TextBox 3"/>
          <p:cNvSpPr txBox="1"/>
          <p:nvPr/>
        </p:nvSpPr>
        <p:spPr>
          <a:xfrm>
            <a:off x="566928" y="1517904"/>
            <a:ext cx="10789920" cy="548640"/>
          </a:xfrm>
          <a:prstGeom prst="rect">
            <a:avLst/>
          </a:prstGeom>
          <a:noFill/>
        </p:spPr>
        <p:txBody>
          <a:bodyPr wrap="square" lIns="0" tIns="0" rIns="0" bIns="0" anchor="t">
            <a:noAutofit/>
          </a:bodyPr>
          <a:lstStyle/>
          <a:p>
            <a:pPr algn="l"/>
            <a:r>
              <a:rPr sz="1700" b="0">
                <a:solidFill>
                  <a:srgbClr val="64748B"/>
                </a:solidFill>
                <a:latin typeface="Segoe UI"/>
              </a:rPr>
              <a:t>Un projet mené de bout en bout, de l'analyse au déploiement.</a:t>
            </a:r>
          </a:p>
        </p:txBody>
      </p:sp>
      <p:sp>
        <p:nvSpPr>
          <p:cNvPr id="5" name="Rounded Rectangle 4"/>
          <p:cNvSpPr/>
          <p:nvPr/>
        </p:nvSpPr>
        <p:spPr>
          <a:xfrm>
            <a:off x="548640" y="2286000"/>
            <a:ext cx="5394960" cy="3657600"/>
          </a:xfrm>
          <a:prstGeom prst="round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68680" y="2560320"/>
            <a:ext cx="4846320" cy="3200400"/>
          </a:xfrm>
          <a:prstGeom prst="rect">
            <a:avLst/>
          </a:prstGeom>
          <a:noFill/>
        </p:spPr>
        <p:txBody>
          <a:bodyPr wrap="square" lIns="0" tIns="0" rIns="0" bIns="0" anchor="t">
            <a:noAutofit/>
          </a:bodyPr>
          <a:lstStyle/>
          <a:p>
            <a:pPr algn="l">
              <a:spcAft>
                <a:spcPts val="1200"/>
              </a:spcAft>
            </a:pPr>
            <a:r>
              <a:rPr sz="1400" b="1">
                <a:solidFill>
                  <a:srgbClr val="2A9B69"/>
                </a:solidFill>
                <a:latin typeface="Segoe UI"/>
              </a:rPr>
              <a:t>BILAN</a:t>
            </a:r>
          </a:p>
          <a:p>
            <a:pPr algn="l">
              <a:lnSpc>
                <a:spcPct val="110000"/>
              </a:lnSpc>
              <a:spcAft>
                <a:spcPts val="1000"/>
              </a:spcAft>
            </a:pPr>
            <a:r>
              <a:rPr sz="1500" b="1">
                <a:solidFill>
                  <a:srgbClr val="2A9B69"/>
                </a:solidFill>
                <a:latin typeface="Segoe UI"/>
              </a:rPr>
              <a:t>✓  </a:t>
            </a:r>
            <a:r>
              <a:rPr sz="1500" b="1">
                <a:solidFill>
                  <a:srgbClr val="0F172A"/>
                </a:solidFill>
                <a:latin typeface="Segoe UI"/>
              </a:rPr>
              <a:t>Une plateforme </a:t>
            </a:r>
            <a:r>
              <a:rPr sz="1500" b="0">
                <a:solidFill>
                  <a:srgbClr val="64748B"/>
                </a:solidFill>
                <a:latin typeface="Segoe UI"/>
              </a:rPr>
              <a:t>fonctionnelle de bout en bout.</a:t>
            </a:r>
          </a:p>
          <a:p>
            <a:pPr algn="l">
              <a:lnSpc>
                <a:spcPct val="110000"/>
              </a:lnSpc>
              <a:spcAft>
                <a:spcPts val="1000"/>
              </a:spcAft>
            </a:pPr>
            <a:r>
              <a:rPr sz="1500" b="1">
                <a:solidFill>
                  <a:srgbClr val="2A9B69"/>
                </a:solidFill>
                <a:latin typeface="Segoe UI"/>
              </a:rPr>
              <a:t>✓  </a:t>
            </a:r>
            <a:r>
              <a:rPr sz="1500" b="1">
                <a:solidFill>
                  <a:srgbClr val="0F172A"/>
                </a:solidFill>
                <a:latin typeface="Segoe UI"/>
              </a:rPr>
              <a:t>4 rôles </a:t>
            </a:r>
            <a:r>
              <a:rPr sz="1500" b="0">
                <a:solidFill>
                  <a:srgbClr val="64748B"/>
                </a:solidFill>
                <a:latin typeface="Segoe UI"/>
              </a:rPr>
              <a:t>et une IA opérationnelle.</a:t>
            </a:r>
          </a:p>
          <a:p>
            <a:pPr algn="l">
              <a:lnSpc>
                <a:spcPct val="110000"/>
              </a:lnSpc>
              <a:spcAft>
                <a:spcPts val="1000"/>
              </a:spcAft>
            </a:pPr>
            <a:r>
              <a:rPr sz="1500" b="1">
                <a:solidFill>
                  <a:srgbClr val="2A9B69"/>
                </a:solidFill>
                <a:latin typeface="Segoe UI"/>
              </a:rPr>
              <a:t>✓  </a:t>
            </a:r>
            <a:r>
              <a:rPr sz="1500" b="1">
                <a:solidFill>
                  <a:srgbClr val="0F172A"/>
                </a:solidFill>
                <a:latin typeface="Segoe UI"/>
              </a:rPr>
              <a:t>Documents automatisés </a:t>
            </a:r>
            <a:r>
              <a:rPr sz="1500" b="0">
                <a:solidFill>
                  <a:srgbClr val="64748B"/>
                </a:solidFill>
                <a:latin typeface="Segoe UI"/>
              </a:rPr>
              <a:t>et intégrations réelles.</a:t>
            </a:r>
          </a:p>
        </p:txBody>
      </p:sp>
      <p:sp>
        <p:nvSpPr>
          <p:cNvPr id="7" name="Rounded Rectangle 6"/>
          <p:cNvSpPr/>
          <p:nvPr/>
        </p:nvSpPr>
        <p:spPr>
          <a:xfrm>
            <a:off x="6245352" y="2286000"/>
            <a:ext cx="5394960" cy="3657600"/>
          </a:xfrm>
          <a:prstGeom prst="round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565392" y="2560320"/>
            <a:ext cx="4846320" cy="3200400"/>
          </a:xfrm>
          <a:prstGeom prst="rect">
            <a:avLst/>
          </a:prstGeom>
          <a:noFill/>
        </p:spPr>
        <p:txBody>
          <a:bodyPr wrap="square" lIns="0" tIns="0" rIns="0" bIns="0" anchor="t">
            <a:noAutofit/>
          </a:bodyPr>
          <a:lstStyle/>
          <a:p>
            <a:pPr algn="l">
              <a:spcAft>
                <a:spcPts val="1200"/>
              </a:spcAft>
            </a:pPr>
            <a:r>
              <a:rPr sz="1400" b="1">
                <a:solidFill>
                  <a:srgbClr val="8900FF"/>
                </a:solidFill>
                <a:latin typeface="Segoe UI"/>
              </a:rPr>
              <a:t>PERSPECTIVES</a:t>
            </a:r>
          </a:p>
          <a:p>
            <a:pPr algn="l">
              <a:lnSpc>
                <a:spcPct val="110000"/>
              </a:lnSpc>
              <a:spcAft>
                <a:spcPts val="1000"/>
              </a:spcAft>
            </a:pPr>
            <a:r>
              <a:rPr sz="1500" b="1">
                <a:solidFill>
                  <a:srgbClr val="8900FF"/>
                </a:solidFill>
                <a:latin typeface="Segoe UI"/>
              </a:rPr>
              <a:t>→  </a:t>
            </a:r>
            <a:r>
              <a:rPr sz="1500" b="1">
                <a:solidFill>
                  <a:srgbClr val="0F172A"/>
                </a:solidFill>
                <a:latin typeface="Segoe UI"/>
              </a:rPr>
              <a:t>Déploiement </a:t>
            </a:r>
            <a:r>
              <a:rPr sz="1500" b="0">
                <a:solidFill>
                  <a:srgbClr val="64748B"/>
                </a:solidFill>
                <a:latin typeface="Segoe UI"/>
              </a:rPr>
              <a:t>en production.</a:t>
            </a:r>
          </a:p>
          <a:p>
            <a:pPr algn="l">
              <a:lnSpc>
                <a:spcPct val="110000"/>
              </a:lnSpc>
              <a:spcAft>
                <a:spcPts val="1000"/>
              </a:spcAft>
            </a:pPr>
            <a:r>
              <a:rPr sz="1500" b="1">
                <a:solidFill>
                  <a:srgbClr val="8900FF"/>
                </a:solidFill>
                <a:latin typeface="Segoe UI"/>
              </a:rPr>
              <a:t>→  </a:t>
            </a:r>
            <a:r>
              <a:rPr sz="1500" b="1">
                <a:solidFill>
                  <a:srgbClr val="0F172A"/>
                </a:solidFill>
                <a:latin typeface="Segoe UI"/>
              </a:rPr>
              <a:t>Amélioration continue </a:t>
            </a:r>
            <a:r>
              <a:rPr sz="1500" b="0">
                <a:solidFill>
                  <a:srgbClr val="64748B"/>
                </a:solidFill>
                <a:latin typeface="Segoe UI"/>
              </a:rPr>
              <a:t>du modèle.</a:t>
            </a:r>
          </a:p>
          <a:p>
            <a:pPr algn="l">
              <a:lnSpc>
                <a:spcPct val="110000"/>
              </a:lnSpc>
              <a:spcAft>
                <a:spcPts val="1000"/>
              </a:spcAft>
            </a:pPr>
            <a:r>
              <a:rPr sz="1500" b="1">
                <a:solidFill>
                  <a:srgbClr val="8900FF"/>
                </a:solidFill>
                <a:latin typeface="Segoe UI"/>
              </a:rPr>
              <a:t>→  </a:t>
            </a:r>
            <a:r>
              <a:rPr sz="1500" b="1">
                <a:solidFill>
                  <a:srgbClr val="0F172A"/>
                </a:solidFill>
                <a:latin typeface="Segoe UI"/>
              </a:rPr>
              <a:t>Application mobile </a:t>
            </a:r>
            <a:r>
              <a:rPr sz="1500" b="0">
                <a:solidFill>
                  <a:srgbClr val="64748B"/>
                </a:solidFill>
                <a:latin typeface="Segoe UI"/>
              </a:rPr>
              <a:t>pour les patients.</a:t>
            </a:r>
          </a:p>
          <a:p>
            <a:pPr algn="l">
              <a:lnSpc>
                <a:spcPct val="110000"/>
              </a:lnSpc>
              <a:spcAft>
                <a:spcPts val="1000"/>
              </a:spcAft>
            </a:pPr>
            <a:r>
              <a:rPr sz="1500" b="1">
                <a:solidFill>
                  <a:srgbClr val="8900FF"/>
                </a:solidFill>
                <a:latin typeface="Segoe UI"/>
              </a:rPr>
              <a:t>→  </a:t>
            </a:r>
            <a:r>
              <a:rPr sz="1500" b="1">
                <a:solidFill>
                  <a:srgbClr val="0F172A"/>
                </a:solidFill>
                <a:latin typeface="Segoe UI"/>
              </a:rPr>
              <a:t>Interopérabilité </a:t>
            </a:r>
            <a:r>
              <a:rPr sz="1500" b="0">
                <a:solidFill>
                  <a:srgbClr val="64748B"/>
                </a:solidFill>
                <a:latin typeface="Segoe UI"/>
              </a:rPr>
              <a:t>avec d'autres systèmes de santé.</a:t>
            </a:r>
          </a:p>
        </p:txBody>
      </p:sp>
      <p:sp>
        <p:nvSpPr>
          <p:cNvPr id="9" name="Rectangle 8"/>
          <p:cNvSpPr/>
          <p:nvPr/>
        </p:nvSpPr>
        <p:spPr>
          <a:xfrm>
            <a:off x="548640" y="6419088"/>
            <a:ext cx="11091672" cy="127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0" name="Picture 9" descr="00-icone-curamedical.png"/>
          <p:cNvPicPr>
            <a:picLocks noChangeAspect="1"/>
          </p:cNvPicPr>
          <p:nvPr/>
        </p:nvPicPr>
        <p:blipFill>
          <a:blip r:embed="rId2"/>
          <a:stretch>
            <a:fillRect/>
          </a:stretch>
        </p:blipFill>
        <p:spPr>
          <a:xfrm>
            <a:off x="548640" y="6510528"/>
            <a:ext cx="329184" cy="219456"/>
          </a:xfrm>
          <a:prstGeom prst="rect">
            <a:avLst/>
          </a:prstGeom>
        </p:spPr>
      </p:pic>
      <p:sp>
        <p:nvSpPr>
          <p:cNvPr id="11" name="TextBox 10"/>
          <p:cNvSpPr txBox="1"/>
          <p:nvPr/>
        </p:nvSpPr>
        <p:spPr>
          <a:xfrm>
            <a:off x="868680" y="6519672"/>
            <a:ext cx="4572000" cy="274320"/>
          </a:xfrm>
          <a:prstGeom prst="rect">
            <a:avLst/>
          </a:prstGeom>
          <a:noFill/>
        </p:spPr>
        <p:txBody>
          <a:bodyPr wrap="square" lIns="0" tIns="0" rIns="0" bIns="0" anchor="t">
            <a:noAutofit/>
          </a:bodyPr>
          <a:lstStyle/>
          <a:p>
            <a:pPr algn="l"/>
            <a:r>
              <a:rPr sz="1050" b="1">
                <a:solidFill>
                  <a:srgbClr val="2A9B69"/>
                </a:solidFill>
                <a:latin typeface="Segoe UI"/>
              </a:rPr>
              <a:t>CuraMedical</a:t>
            </a:r>
          </a:p>
        </p:txBody>
      </p:sp>
      <p:sp>
        <p:nvSpPr>
          <p:cNvPr id="12" name="TextBox 11"/>
          <p:cNvSpPr txBox="1"/>
          <p:nvPr/>
        </p:nvSpPr>
        <p:spPr>
          <a:xfrm>
            <a:off x="7315200" y="6519672"/>
            <a:ext cx="4325112" cy="274320"/>
          </a:xfrm>
          <a:prstGeom prst="rect">
            <a:avLst/>
          </a:prstGeom>
          <a:noFill/>
        </p:spPr>
        <p:txBody>
          <a:bodyPr wrap="square" lIns="0" tIns="0" rIns="0" bIns="0" anchor="t">
            <a:noAutofit/>
          </a:bodyPr>
          <a:lstStyle/>
          <a:p>
            <a:pPr algn="r"/>
            <a:r>
              <a:rPr sz="1050" b="0">
                <a:solidFill>
                  <a:srgbClr val="64748B"/>
                </a:solidFill>
                <a:latin typeface="Segoe UI"/>
              </a:rPr>
              <a:t>18 / 18</a:t>
            </a:r>
          </a:p>
        </p:txBody>
      </p:sp>
      <p:pic>
        <p:nvPicPr>
          <p:cNvPr id="13" name="Image 12">
            <a:extLst>
              <a:ext uri="{FF2B5EF4-FFF2-40B4-BE49-F238E27FC236}">
                <a16:creationId xmlns:a16="http://schemas.microsoft.com/office/drawing/2014/main" id="{21DD6BBA-BD74-4E9D-BB46-3CC83BCE25EE}"/>
              </a:ext>
            </a:extLst>
          </p:cNvPr>
          <p:cNvPicPr>
            <a:picLocks noChangeAspect="1"/>
          </p:cNvPicPr>
          <p:nvPr/>
        </p:nvPicPr>
        <p:blipFill>
          <a:blip r:embed="rId2"/>
          <a:stretch>
            <a:fillRect/>
          </a:stretch>
        </p:blipFill>
        <p:spPr>
          <a:xfrm>
            <a:off x="6175044" y="-673236"/>
            <a:ext cx="5627016" cy="3751344"/>
          </a:xfrm>
          <a:prstGeom prst="rect">
            <a:avLst/>
          </a:prstGeom>
        </p:spPr>
      </p:pic>
      <p:sp>
        <p:nvSpPr>
          <p:cNvPr id="14" name="TextBox 13"/>
          <p:cNvSpPr txBox="1"/>
          <p:nvPr/>
        </p:nvSpPr>
        <p:spPr>
          <a:xfrm>
            <a:off x="3657600" y="6528816"/>
            <a:ext cx="4873752" cy="274320"/>
          </a:xfrm>
          <a:prstGeom prst="rect">
            <a:avLst/>
          </a:prstGeom>
          <a:noFill/>
        </p:spPr>
        <p:txBody>
          <a:bodyPr wrap="square" lIns="0" tIns="0" rIns="0" bIns="0" anchor="t">
            <a:noAutofit/>
          </a:bodyPr>
          <a:lstStyle/>
          <a:p>
            <a:pPr algn="ctr"/>
            <a:r>
              <a:rPr sz="900" b="1">
                <a:solidFill>
                  <a:srgbClr val="64748B"/>
                </a:solidFill>
                <a:latin typeface="Segoe UI"/>
              </a:rPr>
              <a:t>PARTIE 6 · ESPACE PATIENT &amp; CONCLUSION</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merci-illustration.png"/>
          <p:cNvPicPr>
            <a:picLocks noChangeAspect="1"/>
          </p:cNvPicPr>
          <p:nvPr/>
        </p:nvPicPr>
        <p:blipFill>
          <a:blip r:embed="rId2"/>
          <a:stretch>
            <a:fillRect/>
          </a:stretch>
        </p:blipFill>
        <p:spPr>
          <a:xfrm>
            <a:off x="0" y="0"/>
            <a:ext cx="12192000" cy="6858000"/>
          </a:xfrm>
          <a:prstGeom prst="rect">
            <a:avLst/>
          </a:prstGeom>
        </p:spPr>
      </p:pic>
      <p:sp>
        <p:nvSpPr>
          <p:cNvPr id="3" name="Rectangle 2"/>
          <p:cNvSpPr/>
          <p:nvPr/>
        </p:nvSpPr>
        <p:spPr>
          <a:xfrm>
            <a:off x="0" y="4736592"/>
            <a:ext cx="12192000" cy="2121408"/>
          </a:xfrm>
          <a:prstGeom prst="rect">
            <a:avLst/>
          </a:prstGeom>
          <a:solidFill>
            <a:srgbClr val="0F172A">
              <a:alpha val="8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4736592"/>
            <a:ext cx="12192000" cy="38100"/>
          </a:xfrm>
          <a:prstGeom prst="rect">
            <a:avLst/>
          </a:prstGeom>
          <a:solidFill>
            <a:srgbClr val="2A9B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48640" y="4757613"/>
            <a:ext cx="11091672" cy="2121408"/>
          </a:xfrm>
          <a:prstGeom prst="rect">
            <a:avLst/>
          </a:prstGeom>
          <a:noFill/>
        </p:spPr>
        <p:txBody>
          <a:bodyPr wrap="square" lIns="0" tIns="0" rIns="0" bIns="0" anchor="ctr">
            <a:noAutofit/>
          </a:bodyPr>
          <a:lstStyle/>
          <a:p>
            <a:pPr algn="ctr">
              <a:spcAft>
                <a:spcPts val="1000"/>
              </a:spcAft>
            </a:pPr>
            <a:r>
              <a:rPr sz="1250" b="1" dirty="0">
                <a:solidFill>
                  <a:srgbClr val="4EB583"/>
                </a:solidFill>
                <a:latin typeface="Segoe UI"/>
              </a:rPr>
              <a:t>CURAMEDICAL  ·  SANTÉ NUMÉRIQUE PAR L'IA</a:t>
            </a:r>
          </a:p>
          <a:p>
            <a:pPr algn="ctr">
              <a:spcAft>
                <a:spcPts val="1200"/>
              </a:spcAft>
            </a:pPr>
            <a:r>
              <a:rPr sz="3600" b="1" dirty="0">
                <a:solidFill>
                  <a:srgbClr val="FFFFFF"/>
                </a:solidFill>
                <a:latin typeface="Segoe UI"/>
              </a:rPr>
              <a:t>Merci </a:t>
            </a:r>
            <a:r>
              <a:rPr sz="3600" b="1" dirty="0">
                <a:solidFill>
                  <a:srgbClr val="4EB583"/>
                </a:solidFill>
                <a:latin typeface="Segoe UI"/>
              </a:rPr>
              <a:t>pour </a:t>
            </a:r>
            <a:r>
              <a:rPr sz="3600" b="1" dirty="0" err="1">
                <a:solidFill>
                  <a:srgbClr val="4EB583"/>
                </a:solidFill>
                <a:latin typeface="Segoe UI"/>
              </a:rPr>
              <a:t>votre</a:t>
            </a:r>
            <a:r>
              <a:rPr sz="3600" b="1" dirty="0">
                <a:solidFill>
                  <a:srgbClr val="4EB583"/>
                </a:solidFill>
                <a:latin typeface="Segoe UI"/>
              </a:rPr>
              <a:t> attention</a:t>
            </a:r>
            <a:r>
              <a:rPr lang="fr-FR" sz="3600" b="1" dirty="0">
                <a:solidFill>
                  <a:srgbClr val="4EB583"/>
                </a:solidFill>
                <a:latin typeface="Segoe UI"/>
              </a:rPr>
              <a:t> !</a:t>
            </a:r>
            <a:endParaRPr sz="3600" b="1" dirty="0">
              <a:solidFill>
                <a:srgbClr val="4EB583"/>
              </a:solidFill>
              <a:latin typeface="Segoe UI"/>
            </a:endParaRPr>
          </a:p>
          <a:p>
            <a:pPr algn="ctr"/>
            <a:r>
              <a:rPr sz="1300" b="0" dirty="0">
                <a:solidFill>
                  <a:srgbClr val="CBD5E1"/>
                </a:solidFill>
                <a:latin typeface="Segoe UI"/>
              </a:rPr>
              <a:t>Abdou SALOU ABDOU  ·  Kamara MACIRE  ·  Nourdine SAWADOGO</a:t>
            </a:r>
          </a:p>
        </p:txBody>
      </p:sp>
      <p:pic>
        <p:nvPicPr>
          <p:cNvPr id="6" name="Picture 1" descr="00-logo-curamedical.png">
            <a:extLst>
              <a:ext uri="{FF2B5EF4-FFF2-40B4-BE49-F238E27FC236}">
                <a16:creationId xmlns:a16="http://schemas.microsoft.com/office/drawing/2014/main" id="{F034F50F-8925-4868-85D8-BB338F65E604}"/>
              </a:ext>
            </a:extLst>
          </p:cNvPr>
          <p:cNvPicPr>
            <a:picLocks noChangeAspect="1"/>
          </p:cNvPicPr>
          <p:nvPr/>
        </p:nvPicPr>
        <p:blipFill>
          <a:blip r:embed="rId3"/>
          <a:stretch>
            <a:fillRect/>
          </a:stretch>
        </p:blipFill>
        <p:spPr>
          <a:xfrm>
            <a:off x="548640" y="502920"/>
            <a:ext cx="2306502" cy="566928"/>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194</TotalTime>
  <Words>1311</Words>
  <Application>Microsoft Office PowerPoint</Application>
  <PresentationFormat>Grand écran</PresentationFormat>
  <Paragraphs>239</Paragraphs>
  <Slides>20</Slides>
  <Notes>0</Notes>
  <HiddenSlides>0</HiddenSlides>
  <MMClips>0</MMClips>
  <ScaleCrop>false</ScaleCrop>
  <HeadingPairs>
    <vt:vector size="6" baseType="variant">
      <vt:variant>
        <vt:lpstr>Polices utilisées</vt:lpstr>
      </vt:variant>
      <vt:variant>
        <vt:i4>3</vt:i4>
      </vt:variant>
      <vt:variant>
        <vt:lpstr>Thème</vt:lpstr>
      </vt:variant>
      <vt:variant>
        <vt:i4>1</vt:i4>
      </vt:variant>
      <vt:variant>
        <vt:lpstr>Titres des diapositives</vt:lpstr>
      </vt:variant>
      <vt:variant>
        <vt:i4>20</vt:i4>
      </vt:variant>
    </vt:vector>
  </HeadingPairs>
  <TitlesOfParts>
    <vt:vector size="24" baseType="lpstr">
      <vt:lpstr>Arial</vt:lpstr>
      <vt:lpstr>Calibri</vt:lpstr>
      <vt:lpstr>Segoe UI</vt:lpstr>
      <vt:lpstr>Office Theme</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Présentation PowerPoint</dc:title>
  <dc:subject/>
  <dc:creator>Abdou SALOU ABDOU</dc:creator>
  <cp:keywords/>
  <dc:description>generated using python-pptx</dc:description>
  <cp:lastModifiedBy>Abdou SALOU  ABDOU</cp:lastModifiedBy>
  <cp:revision>18</cp:revision>
  <dcterms:created xsi:type="dcterms:W3CDTF">2013-01-27T09:14:16Z</dcterms:created>
  <dcterms:modified xsi:type="dcterms:W3CDTF">2026-06-22T14:06:10Z</dcterms:modified>
  <cp:category/>
</cp:coreProperties>
</file>